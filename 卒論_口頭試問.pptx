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handoutMasterIdLst>
    <p:handoutMasterId r:id="rId39"/>
  </p:handoutMasterIdLst>
  <p:sldIdLst>
    <p:sldId id="257" r:id="rId2"/>
    <p:sldId id="258" r:id="rId3"/>
    <p:sldId id="275" r:id="rId4"/>
    <p:sldId id="276" r:id="rId5"/>
    <p:sldId id="278" r:id="rId6"/>
    <p:sldId id="279" r:id="rId7"/>
    <p:sldId id="280" r:id="rId8"/>
    <p:sldId id="303" r:id="rId9"/>
    <p:sldId id="301" r:id="rId10"/>
    <p:sldId id="302" r:id="rId11"/>
    <p:sldId id="304" r:id="rId12"/>
    <p:sldId id="281" r:id="rId13"/>
    <p:sldId id="305" r:id="rId14"/>
    <p:sldId id="282" r:id="rId15"/>
    <p:sldId id="300" r:id="rId16"/>
    <p:sldId id="283" r:id="rId17"/>
    <p:sldId id="306" r:id="rId18"/>
    <p:sldId id="284" r:id="rId19"/>
    <p:sldId id="293" r:id="rId20"/>
    <p:sldId id="307" r:id="rId21"/>
    <p:sldId id="285" r:id="rId22"/>
    <p:sldId id="308" r:id="rId23"/>
    <p:sldId id="294" r:id="rId24"/>
    <p:sldId id="286" r:id="rId25"/>
    <p:sldId id="309" r:id="rId26"/>
    <p:sldId id="290" r:id="rId27"/>
    <p:sldId id="292" r:id="rId28"/>
    <p:sldId id="287" r:id="rId29"/>
    <p:sldId id="291" r:id="rId30"/>
    <p:sldId id="288" r:id="rId31"/>
    <p:sldId id="310" r:id="rId32"/>
    <p:sldId id="289" r:id="rId33"/>
    <p:sldId id="295" r:id="rId34"/>
    <p:sldId id="296" r:id="rId35"/>
    <p:sldId id="298" r:id="rId36"/>
    <p:sldId id="299" r:id="rId3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5"/>
    <p:restoredTop sz="79092"/>
  </p:normalViewPr>
  <p:slideViewPr>
    <p:cSldViewPr snapToGrid="0">
      <p:cViewPr>
        <p:scale>
          <a:sx n="118" d="100"/>
          <a:sy n="118" d="100"/>
        </p:scale>
        <p:origin x="584" y="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688"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99F69391-9CCB-0E91-F31D-D77724CAD02F}"/>
              </a:ext>
            </a:extLst>
          </p:cNvPr>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D13A06B9-945E-FEB0-1C47-C015EF61551B}"/>
              </a:ext>
            </a:extLst>
          </p:cNvPr>
          <p:cNvSpPr>
            <a:spLocks noGrp="1"/>
          </p:cNvSpPr>
          <p:nvPr>
            <p:ph type="dt" sz="quarter" idx="1"/>
          </p:nvPr>
        </p:nvSpPr>
        <p:spPr>
          <a:xfrm>
            <a:off x="3885010" y="0"/>
            <a:ext cx="2971800" cy="459317"/>
          </a:xfrm>
          <a:prstGeom prst="rect">
            <a:avLst/>
          </a:prstGeom>
        </p:spPr>
        <p:txBody>
          <a:bodyPr vert="horz" lIns="91440" tIns="45720" rIns="91440" bIns="45720" rtlCol="0"/>
          <a:lstStyle>
            <a:lvl1pPr algn="r">
              <a:defRPr sz="1200"/>
            </a:lvl1pPr>
          </a:lstStyle>
          <a:p>
            <a:fld id="{73EDC1E0-2F67-064D-AC13-896AC222A4D2}" type="datetimeFigureOut">
              <a:rPr kumimoji="1" lang="ja-JP" altLang="en-US" smtClean="0"/>
              <a:t>2026/1/24</a:t>
            </a:fld>
            <a:endParaRPr kumimoji="1" lang="ja-JP" altLang="en-US"/>
          </a:p>
        </p:txBody>
      </p:sp>
      <p:sp>
        <p:nvSpPr>
          <p:cNvPr id="4" name="フッター プレースホルダー 3">
            <a:extLst>
              <a:ext uri="{FF2B5EF4-FFF2-40B4-BE49-F238E27FC236}">
                <a16:creationId xmlns:a16="http://schemas.microsoft.com/office/drawing/2014/main" id="{1417E85B-528C-5F04-DFE0-54FF0B553DC9}"/>
              </a:ext>
            </a:extLst>
          </p:cNvPr>
          <p:cNvSpPr>
            <a:spLocks noGrp="1"/>
          </p:cNvSpPr>
          <p:nvPr>
            <p:ph type="ftr" sz="quarter" idx="2"/>
          </p:nvPr>
        </p:nvSpPr>
        <p:spPr>
          <a:xfrm>
            <a:off x="0" y="8684685"/>
            <a:ext cx="2971800" cy="45931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607EE39D-72D8-BF4C-E39C-BA16F4630C02}"/>
              </a:ext>
            </a:extLst>
          </p:cNvPr>
          <p:cNvSpPr>
            <a:spLocks noGrp="1"/>
          </p:cNvSpPr>
          <p:nvPr>
            <p:ph type="sldNum" sz="quarter" idx="3"/>
          </p:nvPr>
        </p:nvSpPr>
        <p:spPr>
          <a:xfrm>
            <a:off x="3885010" y="8684685"/>
            <a:ext cx="2971800" cy="459316"/>
          </a:xfrm>
          <a:prstGeom prst="rect">
            <a:avLst/>
          </a:prstGeom>
        </p:spPr>
        <p:txBody>
          <a:bodyPr vert="horz" lIns="91440" tIns="45720" rIns="91440" bIns="45720" rtlCol="0" anchor="b"/>
          <a:lstStyle>
            <a:lvl1pPr algn="r">
              <a:defRPr sz="1200"/>
            </a:lvl1pPr>
          </a:lstStyle>
          <a:p>
            <a:fld id="{1DA68763-AA2D-BE45-AE62-11ABBF3CFE10}" type="slidenum">
              <a:rPr kumimoji="1" lang="ja-JP" altLang="en-US" smtClean="0"/>
              <a:t>‹#›</a:t>
            </a:fld>
            <a:endParaRPr kumimoji="1" lang="ja-JP" altLang="en-US"/>
          </a:p>
        </p:txBody>
      </p:sp>
    </p:spTree>
    <p:extLst>
      <p:ext uri="{BB962C8B-B14F-4D97-AF65-F5344CB8AC3E}">
        <p14:creationId xmlns:p14="http://schemas.microsoft.com/office/powerpoint/2010/main" val="22655988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5AFBC43F-52EE-4B40-9F79-834585624728}" type="datetimeFigureOut">
              <a:rPr kumimoji="1" lang="ja-JP" altLang="en-US" smtClean="0"/>
              <a:t>2026/1/24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E59573-2307-6246-94F1-7EFD63F2431F}" type="slidenum">
              <a:rPr kumimoji="1" lang="ja-JP" altLang="en-US" smtClean="0"/>
              <a:t>‹#›</a:t>
            </a:fld>
            <a:endParaRPr kumimoji="1" lang="ja-JP" altLang="en-US"/>
          </a:p>
        </p:txBody>
      </p:sp>
    </p:spTree>
    <p:extLst>
      <p:ext uri="{BB962C8B-B14F-4D97-AF65-F5344CB8AC3E}">
        <p14:creationId xmlns:p14="http://schemas.microsoft.com/office/powerpoint/2010/main" val="10826137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文化総合学科</a:t>
            </a:r>
            <a:r>
              <a:rPr kumimoji="1" lang="en-US" altLang="ja-JP" dirty="0"/>
              <a:t>4</a:t>
            </a:r>
            <a:r>
              <a:rPr kumimoji="1" lang="ja-JP" altLang="en-US"/>
              <a:t>年</a:t>
            </a:r>
            <a:r>
              <a:rPr kumimoji="1" lang="en-US" altLang="ja-JP" dirty="0"/>
              <a:t>2215051</a:t>
            </a:r>
            <a:r>
              <a:rPr kumimoji="1" lang="ja-JP" altLang="en-US"/>
              <a:t>高山咲良と申しますです。私は心理学ゼミに所属していたのですが、図書館情報学の先生や学生の方にかなり協力していただいたので、そのフィードバックも兼ねて発表をさせていただきます。</a:t>
            </a:r>
            <a:endParaRPr kumimoji="1" lang="en-US" altLang="ja-JP" dirty="0"/>
          </a:p>
          <a:p>
            <a:r>
              <a:rPr kumimoji="1" lang="ja-JP" altLang="en-US"/>
              <a:t>発表に不慣れなので、聞き苦し所もあるとは思いますが、ご容赦ください。</a:t>
            </a:r>
            <a:endParaRPr kumimoji="1" lang="en-US" altLang="ja-JP" dirty="0"/>
          </a:p>
          <a:p>
            <a:r>
              <a:rPr kumimoji="1" lang="ja-JP" altLang="en-US"/>
              <a:t>私の題目は、フィクション作品の読書経験と共感・マインドリーディングの関係です。</a:t>
            </a:r>
            <a:endParaRPr kumimoji="1" lang="en-US" altLang="ja-JP" dirty="0"/>
          </a:p>
          <a:p>
            <a:r>
              <a:rPr kumimoji="1" lang="ja-JP" altLang="en-US"/>
              <a:t>それでは、問題部分から入りたいと思います。</a:t>
            </a:r>
            <a:endParaRPr kumimoji="1" lang="en-US" altLang="ja-JP" dirty="0"/>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a:t>
            </a:fld>
            <a:endParaRPr kumimoji="1" lang="ja-JP" altLang="en-US"/>
          </a:p>
        </p:txBody>
      </p:sp>
    </p:spTree>
    <p:extLst>
      <p:ext uri="{BB962C8B-B14F-4D97-AF65-F5344CB8AC3E}">
        <p14:creationId xmlns:p14="http://schemas.microsoft.com/office/powerpoint/2010/main" val="2565367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ja-JP" altLang="en-US">
                <a:latin typeface="UDDigiKyokasho ProN R" panose="02020400000000000000" pitchFamily="18" charset="-128"/>
                <a:ea typeface="UDDigiKyokasho ProN R" panose="02020400000000000000" pitchFamily="18" charset="-128"/>
              </a:rPr>
              <a:t>まず、問題からです。現在、こどもの読書が推進されており</a:t>
            </a:r>
            <a:r>
              <a:rPr lang="ja-JP" altLang="en-US">
                <a:latin typeface="UDDigiKyokasho ProN R" panose="02020400000000000000" pitchFamily="18" charset="-128"/>
                <a:ea typeface="UDDigiKyokasho ProN R" panose="02020400000000000000" pitchFamily="18" charset="-128"/>
              </a:rPr>
              <a:t>、</a:t>
            </a:r>
            <a:r>
              <a:rPr lang="en-US" altLang="ja-JP" dirty="0">
                <a:latin typeface="UDDigiKyokasho ProN R" panose="02020400000000000000" pitchFamily="18" charset="-128"/>
                <a:ea typeface="UDDigiKyokasho ProN R" panose="02020400000000000000" pitchFamily="18" charset="-128"/>
                <a:cs typeface="Times New Roman" panose="02020603050405020304" pitchFamily="18" charset="0"/>
              </a:rPr>
              <a:t>2002</a:t>
            </a:r>
            <a:r>
              <a:rPr lang="ja-JP" altLang="en-US">
                <a:latin typeface="UDDigiKyokasho ProN R" panose="02020400000000000000" pitchFamily="18" charset="-128"/>
                <a:ea typeface="UDDigiKyokasho ProN R" panose="02020400000000000000" pitchFamily="18" charset="-128"/>
              </a:rPr>
              <a:t>年から始まった「子どもの読書活動の推進に関する基本的な計画」が第五次となり進められています。</a:t>
            </a:r>
            <a:r>
              <a:rPr kumimoji="1" lang="ja-JP" altLang="en-US">
                <a:latin typeface="UDDigiKyokasho ProN R" panose="02020400000000000000" pitchFamily="18" charset="-128"/>
                <a:ea typeface="UDDigiKyokasho ProN R" panose="02020400000000000000" pitchFamily="18" charset="-128"/>
              </a:rPr>
              <a:t>このことから、こどもの教育に関して、読書活動が推進されていることがわかっています。しかし、下記の調査によって、子供を含めた全年齢層で読書離れは進んでいることが分かっています。</a:t>
            </a:r>
            <a:endParaRPr lang="en-US" altLang="ja-JP" dirty="0">
              <a:latin typeface="UDDigiKyokasho ProN R" panose="02020400000000000000" pitchFamily="18" charset="-128"/>
              <a:ea typeface="UDDigiKyokasho ProN R" panose="02020400000000000000" pitchFamily="18" charset="-128"/>
              <a:cs typeface="Times New Roman" panose="02020603050405020304" pitchFamily="18" charset="0"/>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a:t>
            </a:fld>
            <a:endParaRPr kumimoji="1" lang="ja-JP" altLang="en-US"/>
          </a:p>
        </p:txBody>
      </p:sp>
    </p:spTree>
    <p:extLst>
      <p:ext uri="{BB962C8B-B14F-4D97-AF65-F5344CB8AC3E}">
        <p14:creationId xmlns:p14="http://schemas.microsoft.com/office/powerpoint/2010/main" val="1798033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a:latin typeface="UDDigiKyokasho ProN R" panose="02020400000000000000" pitchFamily="18" charset="-128"/>
                <a:ea typeface="UDDigiKyokasho ProN R" panose="02020400000000000000" pitchFamily="18" charset="-128"/>
                <a:cs typeface="Times New Roman" panose="02020603050405020304" pitchFamily="18" charset="0"/>
              </a:rPr>
              <a:t>このような状況でも取り組みが行われている、調査が行われているのは、読書自体に対して、いいものだと考えられているからだと考えています。</a:t>
            </a:r>
            <a:endParaRPr lang="en-US" altLang="ja-JP" dirty="0">
              <a:latin typeface="UDDigiKyokasho ProN R" panose="02020400000000000000" pitchFamily="18" charset="-128"/>
              <a:ea typeface="UDDigiKyokasho ProN R" panose="02020400000000000000" pitchFamily="18" charset="-128"/>
              <a:cs typeface="Times New Roman" panose="02020603050405020304" pitchFamily="18" charset="0"/>
            </a:endParaRPr>
          </a:p>
          <a:p>
            <a:pPr marL="0" indent="0">
              <a:buNone/>
            </a:pPr>
            <a:r>
              <a:rPr lang="ja-JP" altLang="en-US">
                <a:latin typeface="UDDigiKyokasho ProN R" panose="02020400000000000000" pitchFamily="18" charset="-128"/>
                <a:ea typeface="UDDigiKyokasho ProN R" panose="02020400000000000000" pitchFamily="18" charset="-128"/>
                <a:cs typeface="Times New Roman" panose="02020603050405020304" pitchFamily="18" charset="0"/>
              </a:rPr>
              <a:t>そして、読書のいい影響自体についての研究は、能力面においてが主流でなされています。</a:t>
            </a:r>
            <a:endParaRPr lang="en-US" altLang="ja-JP" dirty="0">
              <a:latin typeface="UDDigiKyokasho ProN R" panose="02020400000000000000" pitchFamily="18" charset="-128"/>
              <a:ea typeface="UDDigiKyokasho ProN R" panose="02020400000000000000" pitchFamily="18" charset="-128"/>
              <a:cs typeface="Times New Roman" panose="02020603050405020304" pitchFamily="18" charset="0"/>
            </a:endParaRPr>
          </a:p>
          <a:p>
            <a:pPr marL="0" indent="0">
              <a:buNone/>
            </a:pPr>
            <a:r>
              <a:rPr lang="ja-JP" altLang="en-US">
                <a:latin typeface="UDDigiKyokasho ProN R" panose="02020400000000000000" pitchFamily="18" charset="-128"/>
                <a:ea typeface="UDDigiKyokasho ProN R" panose="02020400000000000000" pitchFamily="18" charset="-128"/>
                <a:cs typeface="Times New Roman" panose="02020603050405020304" pitchFamily="18" charset="0"/>
              </a:rPr>
              <a:t>言語能力については、</a:t>
            </a:r>
            <a:r>
              <a:rPr lang="ja-JP" altLang="en-US">
                <a:latin typeface="UDDigiKyokasho ProN R" panose="02020400000000000000" pitchFamily="18" charset="-128"/>
                <a:ea typeface="UDDigiKyokasho ProN R" panose="02020400000000000000" pitchFamily="18" charset="-128"/>
              </a:rPr>
              <a:t>日常的な読書習慣と読解力の相関関係が認められています。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具体的な調査は、例に挙げている通りです。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読書量が多いことで、言語能力が発達するということがわかっていると考えられます。</a:t>
            </a:r>
            <a:endParaRPr lang="en-US" altLang="ja-JP" dirty="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3</a:t>
            </a:fld>
            <a:endParaRPr kumimoji="1" lang="ja-JP" altLang="en-US"/>
          </a:p>
        </p:txBody>
      </p:sp>
    </p:spTree>
    <p:extLst>
      <p:ext uri="{BB962C8B-B14F-4D97-AF65-F5344CB8AC3E}">
        <p14:creationId xmlns:p14="http://schemas.microsoft.com/office/powerpoint/2010/main" val="4001185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endParaRPr lang="en-US" altLang="ja-JP" sz="100" dirty="0">
              <a:latin typeface="UDDigiKyokasho ProN R" panose="02020400000000000000" pitchFamily="18" charset="-128"/>
              <a:ea typeface="UDDigiKyokasho ProN R" panose="02020400000000000000" pitchFamily="18" charset="-128"/>
            </a:endParaRPr>
          </a:p>
          <a:p>
            <a:pPr marL="0" indent="0">
              <a:buNone/>
            </a:pPr>
            <a:r>
              <a:rPr kumimoji="1" lang="ja-JP" altLang="en-US">
                <a:latin typeface="UDDigiKyokasho ProN R" panose="02020400000000000000" pitchFamily="18" charset="-128"/>
                <a:ea typeface="UDDigiKyokasho ProN R" panose="02020400000000000000" pitchFamily="18" charset="-128"/>
              </a:rPr>
              <a:t>言語能力以外にも、心理的な影響も調査されています。</a:t>
            </a:r>
            <a:endParaRPr kumimoji="1" lang="en-US" altLang="ja-JP" dirty="0">
              <a:latin typeface="UDDigiKyokasho ProN R" panose="02020400000000000000" pitchFamily="18" charset="-128"/>
              <a:ea typeface="UDDigiKyokasho ProN R" panose="02020400000000000000" pitchFamily="18" charset="-128"/>
            </a:endParaRPr>
          </a:p>
          <a:p>
            <a:pPr marL="0" indent="0">
              <a:buNone/>
            </a:pPr>
            <a:r>
              <a:rPr kumimoji="1" lang="ja-JP" altLang="en-US">
                <a:latin typeface="UDDigiKyokasho ProN R" panose="02020400000000000000" pitchFamily="18" charset="-128"/>
                <a:ea typeface="UDDigiKyokasho ProN R" panose="02020400000000000000" pitchFamily="18" charset="-128"/>
              </a:rPr>
              <a:t>・青柳・上長</a:t>
            </a:r>
            <a:r>
              <a:rPr kumimoji="1" lang="en-US" altLang="ja-JP" dirty="0">
                <a:latin typeface="UDDigiKyokasho ProN R" panose="02020400000000000000" pitchFamily="18" charset="-128"/>
                <a:ea typeface="UDDigiKyokasho ProN R" panose="02020400000000000000" pitchFamily="18" charset="-128"/>
              </a:rPr>
              <a:t>(2015)</a:t>
            </a:r>
            <a:r>
              <a:rPr kumimoji="1" lang="ja-JP" altLang="en-US">
                <a:latin typeface="UDDigiKyokasho ProN R" panose="02020400000000000000" pitchFamily="18" charset="-128"/>
                <a:ea typeface="UDDigiKyokasho ProN R" panose="02020400000000000000" pitchFamily="18" charset="-128"/>
              </a:rPr>
              <a:t>によれば、心理的に不利であるとされる状況であっても、感情移入して読書することによって、心理的適応が促進され、心のサポートになっているのではないかということが考察されています。</a:t>
            </a:r>
            <a:endParaRPr kumimoji="1" lang="en-US" altLang="ja-JP" dirty="0">
              <a:latin typeface="UDDigiKyokasho ProN R" panose="02020400000000000000" pitchFamily="18" charset="-128"/>
              <a:ea typeface="UDDigiKyokasho ProN R" panose="02020400000000000000" pitchFamily="18" charset="-128"/>
            </a:endParaRPr>
          </a:p>
          <a:p>
            <a:pPr marL="0" indent="0">
              <a:buNone/>
            </a:pPr>
            <a:endParaRPr kumimoji="1" lang="ja-JP" altLang="en-US">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4</a:t>
            </a:fld>
            <a:endParaRPr kumimoji="1" lang="ja-JP" altLang="en-US"/>
          </a:p>
        </p:txBody>
      </p:sp>
    </p:spTree>
    <p:extLst>
      <p:ext uri="{BB962C8B-B14F-4D97-AF65-F5344CB8AC3E}">
        <p14:creationId xmlns:p14="http://schemas.microsoft.com/office/powerpoint/2010/main" val="305046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a:latin typeface="UDDigiKyokasho ProN R" panose="02020400000000000000" pitchFamily="18" charset="-128"/>
                <a:ea typeface="UDDigiKyokasho ProN R" panose="02020400000000000000" pitchFamily="18" charset="-128"/>
              </a:rPr>
              <a:t>次に、読書と共感・マインドリーディングの関連についてです、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まず、共感の定義についてです。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kumimoji="1" lang="ja-JP" altLang="en-US">
                <a:latin typeface="UDDigiKyokasho ProN R" panose="02020400000000000000" pitchFamily="18" charset="-128"/>
                <a:ea typeface="UDDigiKyokasho ProN R" panose="02020400000000000000" pitchFamily="18" charset="-128"/>
              </a:rPr>
              <a:t>・</a:t>
            </a:r>
            <a:r>
              <a:rPr lang="en-US" altLang="ja-JP" dirty="0">
                <a:latin typeface="UDDigiKyokasho ProN R" panose="02020400000000000000" pitchFamily="18" charset="-128"/>
                <a:ea typeface="UDDigiKyokasho ProN R" panose="02020400000000000000" pitchFamily="18" charset="-128"/>
              </a:rPr>
              <a:t>Davis(1980)</a:t>
            </a:r>
            <a:r>
              <a:rPr lang="ja-JP" altLang="en-US">
                <a:latin typeface="UDDigiKyokasho ProN R" panose="02020400000000000000" pitchFamily="18" charset="-128"/>
                <a:ea typeface="UDDigiKyokasho ProN R" panose="02020400000000000000" pitchFamily="18" charset="-128"/>
              </a:rPr>
              <a:t>の多次元的な共感生の尺度によれば、共感は、主にファンタジーと視点取得、共感的関心、個人的苦痛の４つに分類されています。</a:t>
            </a:r>
            <a:endParaRPr lang="en-US" altLang="ja-JP" dirty="0">
              <a:latin typeface="UDDigiKyokasho ProN R" panose="02020400000000000000" pitchFamily="18" charset="-128"/>
              <a:ea typeface="UDDigiKyokasho ProN R" panose="02020400000000000000" pitchFamily="18" charset="-128"/>
            </a:endParaRPr>
          </a:p>
          <a:p>
            <a:pPr marL="457200" lvl="1" indent="0">
              <a:buNone/>
            </a:pPr>
            <a:r>
              <a:rPr kumimoji="1" lang="ja-JP" altLang="en-US">
                <a:latin typeface="UDDigiKyokasho ProN R" panose="02020400000000000000" pitchFamily="18" charset="-128"/>
                <a:ea typeface="UDDigiKyokasho ProN R" panose="02020400000000000000" pitchFamily="18" charset="-128"/>
              </a:rPr>
              <a:t>・ファンタジー</a:t>
            </a:r>
            <a:r>
              <a:rPr kumimoji="1" lang="en-US" altLang="ja-JP" dirty="0">
                <a:latin typeface="UDDigiKyokasho ProN R" panose="02020400000000000000" pitchFamily="18" charset="-128"/>
                <a:ea typeface="UDDigiKyokasho ProN R" panose="02020400000000000000" pitchFamily="18" charset="-128"/>
              </a:rPr>
              <a:t>(fantasy)</a:t>
            </a:r>
            <a:r>
              <a:rPr kumimoji="1" lang="ja-JP" altLang="en-US">
                <a:latin typeface="UDDigiKyokasho ProN R" panose="02020400000000000000" pitchFamily="18" charset="-128"/>
                <a:ea typeface="UDDigiKyokasho ProN R" panose="02020400000000000000" pitchFamily="18" charset="-128"/>
              </a:rPr>
              <a:t>は</a:t>
            </a:r>
            <a:r>
              <a:rPr lang="ja-JP" altLang="en-US">
                <a:latin typeface="UDDigiKyokasho ProN R" panose="02020400000000000000" pitchFamily="18" charset="-128"/>
                <a:ea typeface="UDDigiKyokasho ProN R" panose="02020400000000000000" pitchFamily="18" charset="-128"/>
              </a:rPr>
              <a:t>、架空の状況に想像力を働かせて、自分に置き換える傾向のことをさします。</a:t>
            </a:r>
            <a:endParaRPr lang="en-US" altLang="ja-JP" dirty="0">
              <a:latin typeface="UDDigiKyokasho ProN R" panose="02020400000000000000" pitchFamily="18" charset="-128"/>
              <a:ea typeface="UDDigiKyokasho ProN R" panose="02020400000000000000" pitchFamily="18" charset="-128"/>
            </a:endParaRPr>
          </a:p>
          <a:p>
            <a:pPr marL="457200" lvl="1" indent="0">
              <a:buNone/>
            </a:pPr>
            <a:r>
              <a:rPr lang="ja-JP" altLang="en-US">
                <a:latin typeface="UDDigiKyokasho ProN R" panose="02020400000000000000" pitchFamily="18" charset="-128"/>
                <a:ea typeface="UDDigiKyokasho ProN R" panose="02020400000000000000" pitchFamily="18" charset="-128"/>
              </a:rPr>
              <a:t>・視点取得</a:t>
            </a:r>
            <a:r>
              <a:rPr lang="en-US" altLang="ja-JP" dirty="0">
                <a:latin typeface="UDDigiKyokasho ProN R" panose="02020400000000000000" pitchFamily="18" charset="-128"/>
                <a:ea typeface="UDDigiKyokasho ProN R" panose="02020400000000000000" pitchFamily="18" charset="-128"/>
              </a:rPr>
              <a:t>(perspective taking)</a:t>
            </a:r>
            <a:r>
              <a:rPr lang="ja-JP" altLang="en-US">
                <a:latin typeface="UDDigiKyokasho ProN R" panose="02020400000000000000" pitchFamily="18" charset="-128"/>
                <a:ea typeface="UDDigiKyokasho ProN R" panose="02020400000000000000" pitchFamily="18" charset="-128"/>
              </a:rPr>
              <a:t>は、他者の視点から物事を考えることについて。</a:t>
            </a:r>
            <a:endParaRPr lang="en-US" altLang="ja-JP" dirty="0">
              <a:latin typeface="UDDigiKyokasho ProN R" panose="02020400000000000000" pitchFamily="18" charset="-128"/>
              <a:ea typeface="UDDigiKyokasho ProN R" panose="02020400000000000000" pitchFamily="18" charset="-128"/>
            </a:endParaRPr>
          </a:p>
          <a:p>
            <a:pPr marL="457200" lvl="1" indent="0">
              <a:buNone/>
            </a:pPr>
            <a:r>
              <a:rPr kumimoji="1" lang="ja-JP" altLang="en-US">
                <a:latin typeface="UDDigiKyokasho ProN R" panose="02020400000000000000" pitchFamily="18" charset="-128"/>
                <a:ea typeface="UDDigiKyokasho ProN R" panose="02020400000000000000" pitchFamily="18" charset="-128"/>
              </a:rPr>
              <a:t>・共感点関心</a:t>
            </a:r>
            <a:r>
              <a:rPr kumimoji="1" lang="en-US" altLang="ja-JP" dirty="0">
                <a:latin typeface="UDDigiKyokasho ProN R" panose="02020400000000000000" pitchFamily="18" charset="-128"/>
                <a:ea typeface="UDDigiKyokasho ProN R" panose="02020400000000000000" pitchFamily="18" charset="-128"/>
              </a:rPr>
              <a:t>(empathic concern)</a:t>
            </a:r>
            <a:r>
              <a:rPr kumimoji="1" lang="ja-JP" altLang="en-US">
                <a:latin typeface="UDDigiKyokasho ProN R" panose="02020400000000000000" pitchFamily="18" charset="-128"/>
                <a:ea typeface="UDDigiKyokasho ProN R" panose="02020400000000000000" pitchFamily="18" charset="-128"/>
              </a:rPr>
              <a:t>は、他者に対する情動的な関心</a:t>
            </a:r>
            <a:r>
              <a:rPr lang="ja-JP" altLang="en-US">
                <a:latin typeface="UDDigiKyokasho ProN R" panose="02020400000000000000" pitchFamily="18" charset="-128"/>
                <a:ea typeface="UDDigiKyokasho ProN R" panose="02020400000000000000" pitchFamily="18" charset="-128"/>
              </a:rPr>
              <a:t>を示します。</a:t>
            </a:r>
            <a:endParaRPr lang="en-US" altLang="ja-JP" dirty="0">
              <a:latin typeface="UDDigiKyokasho ProN R" panose="02020400000000000000" pitchFamily="18" charset="-128"/>
              <a:ea typeface="UDDigiKyokasho ProN R" panose="02020400000000000000" pitchFamily="18" charset="-128"/>
            </a:endParaRPr>
          </a:p>
          <a:p>
            <a:pPr marL="457200" lvl="1" indent="0">
              <a:buNone/>
            </a:pPr>
            <a:r>
              <a:rPr kumimoji="1" lang="ja-JP" altLang="en-US">
                <a:latin typeface="UDDigiKyokasho ProN R" panose="02020400000000000000" pitchFamily="18" charset="-128"/>
                <a:ea typeface="UDDigiKyokasho ProN R" panose="02020400000000000000" pitchFamily="18" charset="-128"/>
              </a:rPr>
              <a:t>・個人的苦痛</a:t>
            </a:r>
            <a:r>
              <a:rPr kumimoji="1" lang="en-US" altLang="ja-JP" dirty="0">
                <a:latin typeface="UDDigiKyokasho ProN R" panose="02020400000000000000" pitchFamily="18" charset="-128"/>
                <a:ea typeface="UDDigiKyokasho ProN R" panose="02020400000000000000" pitchFamily="18" charset="-128"/>
              </a:rPr>
              <a:t>(personal distress)</a:t>
            </a:r>
            <a:r>
              <a:rPr kumimoji="1" lang="ja-JP" altLang="en-US">
                <a:latin typeface="UDDigiKyokasho ProN R" panose="02020400000000000000" pitchFamily="18" charset="-128"/>
                <a:ea typeface="UDDigiKyokasho ProN R" panose="02020400000000000000" pitchFamily="18" charset="-128"/>
              </a:rPr>
              <a:t>は、他者が否定的な体験をしているのを見た時のネガティブな感情を感じることについてです。</a:t>
            </a:r>
            <a:endParaRPr kumimoji="1" lang="en-US" altLang="ja-JP" dirty="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5</a:t>
            </a:fld>
            <a:endParaRPr kumimoji="1" lang="ja-JP" altLang="en-US"/>
          </a:p>
        </p:txBody>
      </p:sp>
    </p:spTree>
    <p:extLst>
      <p:ext uri="{BB962C8B-B14F-4D97-AF65-F5344CB8AC3E}">
        <p14:creationId xmlns:p14="http://schemas.microsoft.com/office/powerpoint/2010/main" val="3376939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・日本においても、多次元的共感生尺度は作成されており、使用していた登張</a:t>
            </a:r>
            <a:r>
              <a:rPr kumimoji="1" lang="en-US" altLang="ja-JP" dirty="0"/>
              <a:t>(2003)</a:t>
            </a:r>
            <a:r>
              <a:rPr kumimoji="1" lang="ja-JP" altLang="en-US"/>
              <a:t>は、青年期全期を通して使用できる「青年期用多次元共感生尺度」を作成しています。尺度の内容は、</a:t>
            </a:r>
            <a:r>
              <a:rPr kumimoji="1" lang="en" altLang="ja-JP" dirty="0"/>
              <a:t>Davis(1980)</a:t>
            </a:r>
            <a:r>
              <a:rPr kumimoji="1" lang="ja-JP" altLang="en-US"/>
              <a:t>と概ね共通しており、「ファンタジー」「気持ちの想像（これが</a:t>
            </a:r>
            <a:r>
              <a:rPr kumimoji="1" lang="en-US" altLang="ja-JP" dirty="0"/>
              <a:t>Davis(1980)</a:t>
            </a:r>
            <a:r>
              <a:rPr kumimoji="1" lang="ja-JP" altLang="en-US"/>
              <a:t>の視点取得にあたります）」「共感的関心」「個人的苦痛」の４つに分けられています。</a:t>
            </a: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6</a:t>
            </a:fld>
            <a:endParaRPr kumimoji="1" lang="ja-JP" altLang="en-US"/>
          </a:p>
        </p:txBody>
      </p:sp>
    </p:spTree>
    <p:extLst>
      <p:ext uri="{BB962C8B-B14F-4D97-AF65-F5344CB8AC3E}">
        <p14:creationId xmlns:p14="http://schemas.microsoft.com/office/powerpoint/2010/main" val="1343659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a:latin typeface="UDDigiKyokasho ProN R" panose="02020400000000000000" pitchFamily="18" charset="-128"/>
                <a:ea typeface="UDDigiKyokasho ProN R" panose="02020400000000000000" pitchFamily="18" charset="-128"/>
              </a:rPr>
              <a:t>○マインドリーディングについてです。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・マインドリーディングとは、他者の知識状態や意図、思考などを理解する能力のことを指すとされ、</a:t>
            </a:r>
            <a:r>
              <a:rPr kumimoji="1" lang="ja-JP" altLang="en-US">
                <a:latin typeface="UDDigiKyokasho ProN R" panose="02020400000000000000" pitchFamily="18" charset="-128"/>
                <a:ea typeface="UDDigiKyokasho ProN R" panose="02020400000000000000" pitchFamily="18" charset="-128"/>
              </a:rPr>
              <a:t>一般的に、こころの理論と近い概念であるとされています。</a:t>
            </a: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7</a:t>
            </a:fld>
            <a:endParaRPr kumimoji="1" lang="ja-JP" altLang="en-US"/>
          </a:p>
        </p:txBody>
      </p:sp>
    </p:spTree>
    <p:extLst>
      <p:ext uri="{BB962C8B-B14F-4D97-AF65-F5344CB8AC3E}">
        <p14:creationId xmlns:p14="http://schemas.microsoft.com/office/powerpoint/2010/main" val="4168958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latin typeface="UDDigiKyokasho ProN R" panose="02020400000000000000" pitchFamily="18" charset="-128"/>
                <a:ea typeface="UDDigiKyokasho ProN R" panose="02020400000000000000" pitchFamily="18" charset="-128"/>
              </a:rPr>
              <a:t>このあと出てくる先行研究で使用されていた指標について先に説明します。</a:t>
            </a:r>
            <a:r>
              <a:rPr lang="en-US" altLang="ja-JP" dirty="0">
                <a:latin typeface="UDDigiKyokasho ProN R" panose="02020400000000000000" pitchFamily="18" charset="-128"/>
                <a:ea typeface="UDDigiKyokasho ProN R" panose="02020400000000000000" pitchFamily="18" charset="-128"/>
              </a:rPr>
              <a:t>ART</a:t>
            </a:r>
            <a:r>
              <a:rPr lang="ja-JP" altLang="en-US">
                <a:latin typeface="UDDigiKyokasho ProN R" panose="02020400000000000000" pitchFamily="18" charset="-128"/>
                <a:ea typeface="UDDigiKyokasho ProN R" panose="02020400000000000000" pitchFamily="18" charset="-128"/>
              </a:rPr>
              <a:t>というのは、作家名再認テストというものです。簡単に整理すると、作家名を知っているかどうかで、読書の幅を測ろうとするものです。作家名のうち、実在するものと実在しないフィラー項目というものを入れることで、知っていれば実在する作家名がわかるので正解だけに反応できるのですが、それに対して、知らなければフィラー項目である実在しないそれっぽい作家名に知っていると反応したりするので、どれくらい知っているのかが調べやすいとされています。</a:t>
            </a:r>
            <a:endParaRPr lang="en-US" altLang="ja-JP" dirty="0">
              <a:latin typeface="UDDigiKyokasho ProN R" panose="02020400000000000000" pitchFamily="18" charset="-128"/>
              <a:ea typeface="UDDigiKyokasho ProN R" panose="02020400000000000000" pitchFamily="18" charset="-128"/>
            </a:endParaRPr>
          </a:p>
          <a:p>
            <a:r>
              <a:rPr lang="en-US" altLang="ja-JP" sz="1200" dirty="0">
                <a:latin typeface="UDDigiKyokasho ProN R" panose="02020400000000000000" pitchFamily="18" charset="-128"/>
                <a:ea typeface="UDDigiKyokasho ProN R" panose="02020400000000000000" pitchFamily="18" charset="-128"/>
              </a:rPr>
              <a:t>MIE</a:t>
            </a:r>
            <a:r>
              <a:rPr lang="ja-JP" altLang="en-US" sz="1200">
                <a:latin typeface="UDDigiKyokasho ProN R" panose="02020400000000000000" pitchFamily="18" charset="-128"/>
                <a:ea typeface="UDDigiKyokasho ProN R" panose="02020400000000000000" pitchFamily="18" charset="-128"/>
              </a:rPr>
              <a:t>テスト（</a:t>
            </a:r>
            <a:r>
              <a:rPr lang="en-US" altLang="ja-JP" sz="1200" dirty="0">
                <a:latin typeface="UDDigiKyokasho ProN R" panose="02020400000000000000" pitchFamily="18" charset="-128"/>
                <a:ea typeface="UDDigiKyokasho ProN R" panose="02020400000000000000" pitchFamily="18" charset="-128"/>
              </a:rPr>
              <a:t>Mind in the Eye)</a:t>
            </a:r>
          </a:p>
          <a:p>
            <a:r>
              <a:rPr lang="ja-JP" altLang="en-US" sz="1200">
                <a:latin typeface="UDDigiKyokasho ProN R" panose="02020400000000000000" pitchFamily="18" charset="-128"/>
                <a:ea typeface="UDDigiKyokasho ProN R" panose="02020400000000000000" pitchFamily="18" charset="-128"/>
              </a:rPr>
              <a:t>・目元の写真から感情の理解を読み取るテストです。</a:t>
            </a:r>
            <a:endParaRPr lang="en-US" altLang="ja-JP" sz="1200" dirty="0">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8</a:t>
            </a:fld>
            <a:endParaRPr kumimoji="1" lang="ja-JP" altLang="en-US"/>
          </a:p>
        </p:txBody>
      </p:sp>
    </p:spTree>
    <p:extLst>
      <p:ext uri="{BB962C8B-B14F-4D97-AF65-F5344CB8AC3E}">
        <p14:creationId xmlns:p14="http://schemas.microsoft.com/office/powerpoint/2010/main" val="704703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ja-JP" altLang="en-US">
                <a:latin typeface="UDDigiKyokasho ProN R" panose="02020400000000000000" pitchFamily="18" charset="-128"/>
                <a:ea typeface="UDDigiKyokasho ProN R" panose="02020400000000000000" pitchFamily="18" charset="-128"/>
              </a:rPr>
              <a:t>物語の読書量と共感・心の理論との間の関連について、長期的な影響の報告があります。</a:t>
            </a:r>
            <a:r>
              <a:rPr lang="en-US" altLang="ja-JP" dirty="0">
                <a:latin typeface="UDDigiKyokasho ProN R" panose="02020400000000000000" pitchFamily="18" charset="-128"/>
                <a:ea typeface="UDDigiKyokasho ProN R" panose="02020400000000000000" pitchFamily="18" charset="-128"/>
              </a:rPr>
              <a:t>Mar et al.(2006)</a:t>
            </a:r>
            <a:r>
              <a:rPr lang="ja-JP" altLang="en-US">
                <a:latin typeface="UDDigiKyokasho ProN R" panose="02020400000000000000" pitchFamily="18" charset="-128"/>
                <a:ea typeface="UDDigiKyokasho ProN R" panose="02020400000000000000" pitchFamily="18" charset="-128"/>
              </a:rPr>
              <a:t>にて、フィクションとマインドリーディングの読み取りの間に、弱い正の相関、多次元共感尺度のファンタジーと</a:t>
            </a:r>
            <a:r>
              <a:rPr lang="en-US" altLang="ja-JP" dirty="0">
                <a:latin typeface="UDDigiKyokasho ProN R" panose="02020400000000000000" pitchFamily="18" charset="-128"/>
                <a:ea typeface="UDDigiKyokasho ProN R" panose="02020400000000000000" pitchFamily="18" charset="-128"/>
              </a:rPr>
              <a:t>ART</a:t>
            </a:r>
            <a:r>
              <a:rPr lang="ja-JP" altLang="en-US">
                <a:latin typeface="UDDigiKyokasho ProN R" panose="02020400000000000000" pitchFamily="18" charset="-128"/>
                <a:ea typeface="UDDigiKyokasho ProN R" panose="02020400000000000000" pitchFamily="18" charset="-128"/>
              </a:rPr>
              <a:t>の間にも弱い正の相関が認められました。</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この作家名再認テストは、作家名を知っているかどうかで、読書の幅を測ろうとするものです。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しかし、</a:t>
            </a:r>
            <a:r>
              <a:rPr kumimoji="1" lang="ja-JP" altLang="en-US">
                <a:latin typeface="UDDigiKyokasho ProN R" panose="02020400000000000000" pitchFamily="18" charset="-128"/>
                <a:ea typeface="UDDigiKyokasho ProN R" panose="02020400000000000000" pitchFamily="18" charset="-128"/>
              </a:rPr>
              <a:t>小山内ら</a:t>
            </a:r>
            <a:r>
              <a:rPr kumimoji="1" lang="en-US" altLang="ja-JP" dirty="0">
                <a:latin typeface="UDDigiKyokasho ProN R" panose="02020400000000000000" pitchFamily="18" charset="-128"/>
                <a:ea typeface="UDDigiKyokasho ProN R" panose="02020400000000000000" pitchFamily="18" charset="-128"/>
              </a:rPr>
              <a:t>(2019)</a:t>
            </a:r>
            <a:r>
              <a:rPr lang="ja-JP" altLang="en-US">
                <a:latin typeface="UDDigiKyokasho ProN R" panose="02020400000000000000" pitchFamily="18" charset="-128"/>
                <a:ea typeface="UDDigiKyokasho ProN R" panose="02020400000000000000" pitchFamily="18" charset="-128"/>
              </a:rPr>
              <a:t>では、</a:t>
            </a:r>
            <a:r>
              <a:rPr lang="en-US" altLang="ja-JP" dirty="0">
                <a:latin typeface="UDDigiKyokasho ProN R" panose="02020400000000000000" pitchFamily="18" charset="-128"/>
                <a:ea typeface="UDDigiKyokasho ProN R" panose="02020400000000000000" pitchFamily="18" charset="-128"/>
              </a:rPr>
              <a:t>ART</a:t>
            </a:r>
            <a:r>
              <a:rPr lang="ja-JP" altLang="en-US">
                <a:latin typeface="UDDigiKyokasho ProN R" panose="02020400000000000000" pitchFamily="18" charset="-128"/>
                <a:ea typeface="UDDigiKyokasho ProN R" panose="02020400000000000000" pitchFamily="18" charset="-128"/>
              </a:rPr>
              <a:t>フィクションとマインドリーディングの間に、直接的な関連は認められていませんでした。</a:t>
            </a:r>
            <a:endParaRPr lang="en-US" altLang="ja-JP" dirty="0">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9</a:t>
            </a:fld>
            <a:endParaRPr kumimoji="1" lang="ja-JP" altLang="en-US"/>
          </a:p>
        </p:txBody>
      </p:sp>
    </p:spTree>
    <p:extLst>
      <p:ext uri="{BB962C8B-B14F-4D97-AF65-F5344CB8AC3E}">
        <p14:creationId xmlns:p14="http://schemas.microsoft.com/office/powerpoint/2010/main" val="780954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a:latin typeface="UDDigiKyokasho ProN R" panose="02020400000000000000" pitchFamily="18" charset="-128"/>
                <a:ea typeface="UDDigiKyokasho ProN R" panose="02020400000000000000" pitchFamily="18" charset="-128"/>
              </a:rPr>
              <a:t>本研究の目的に入ります。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本研究は、女子大学生の読書への興味と読書量が共感能力及び感情の読み取りにおいて、どのように関連しているのかの実態を把握することを目的としていました。</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これまでの日本における研究で、直接的な関連はみられなかった理由として、マインドリーディングの測定が、思考判断の読み取りになっていたためではないかと推測しています。</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このことから、マインドリーディングの測定として感情の読み取りを行うことにしました。</a:t>
            </a:r>
            <a:endParaRPr lang="en-US" altLang="ja-JP" dirty="0">
              <a:latin typeface="UDDigiKyokasho ProN R" panose="02020400000000000000" pitchFamily="18" charset="-128"/>
              <a:ea typeface="UDDigiKyokasho ProN R" panose="02020400000000000000" pitchFamily="18" charset="-128"/>
            </a:endParaRPr>
          </a:p>
          <a:p>
            <a:pPr marL="0" indent="0">
              <a:buNone/>
            </a:pPr>
            <a:endParaRPr lang="en-US" altLang="ja-JP" dirty="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10</a:t>
            </a:fld>
            <a:endParaRPr kumimoji="1" lang="ja-JP" altLang="en-US"/>
          </a:p>
        </p:txBody>
      </p:sp>
    </p:spTree>
    <p:extLst>
      <p:ext uri="{BB962C8B-B14F-4D97-AF65-F5344CB8AC3E}">
        <p14:creationId xmlns:p14="http://schemas.microsoft.com/office/powerpoint/2010/main" val="4209564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latin typeface="UDDigiKyokasho ProN R" panose="02020400000000000000" pitchFamily="18" charset="-128"/>
                <a:ea typeface="UDDigiKyokasho ProN R" panose="02020400000000000000" pitchFamily="18" charset="-128"/>
              </a:rPr>
              <a:t>同時に、読書の測定として</a:t>
            </a:r>
            <a:r>
              <a:rPr lang="en-US" altLang="ja-JP" dirty="0">
                <a:latin typeface="UDDigiKyokasho ProN R" panose="02020400000000000000" pitchFamily="18" charset="-128"/>
                <a:ea typeface="UDDigiKyokasho ProN R" panose="02020400000000000000" pitchFamily="18" charset="-128"/>
              </a:rPr>
              <a:t>ART</a:t>
            </a:r>
            <a:r>
              <a:rPr lang="ja-JP" altLang="en-US">
                <a:latin typeface="UDDigiKyokasho ProN R" panose="02020400000000000000" pitchFamily="18" charset="-128"/>
                <a:ea typeface="UDDigiKyokasho ProN R" panose="02020400000000000000" pitchFamily="18" charset="-128"/>
              </a:rPr>
              <a:t>以外の読書指標を複数用い、各指標の特徴についても明らかにすることとしました。今回は、作品の中でも、特にフィクション作品の読書に焦点を当て、調査することとする。</a:t>
            </a: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11</a:t>
            </a:fld>
            <a:endParaRPr kumimoji="1" lang="ja-JP" altLang="en-US"/>
          </a:p>
        </p:txBody>
      </p:sp>
    </p:spTree>
    <p:extLst>
      <p:ext uri="{BB962C8B-B14F-4D97-AF65-F5344CB8AC3E}">
        <p14:creationId xmlns:p14="http://schemas.microsoft.com/office/powerpoint/2010/main" val="3303846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ja-JP" altLang="en-US" sz="1200">
                <a:latin typeface="UDDigiKyokasho ProN R" panose="02020400000000000000" pitchFamily="18" charset="-128"/>
                <a:ea typeface="UDDigiKyokasho ProN R" panose="02020400000000000000" pitchFamily="18" charset="-128"/>
              </a:rPr>
              <a:t>方法に入ります。</a:t>
            </a:r>
            <a:endParaRPr kumimoji="1" lang="en-US" altLang="ja-JP" sz="1200" dirty="0">
              <a:latin typeface="UDDigiKyokasho ProN R" panose="02020400000000000000" pitchFamily="18" charset="-128"/>
              <a:ea typeface="UDDigiKyokasho ProN R" panose="02020400000000000000" pitchFamily="18" charset="-128"/>
            </a:endParaRPr>
          </a:p>
          <a:p>
            <a:pPr marL="0" indent="0">
              <a:buNone/>
            </a:pPr>
            <a:r>
              <a:rPr kumimoji="1" lang="ja-JP" altLang="en-US" sz="1200">
                <a:latin typeface="UDDigiKyokasho ProN R" panose="02020400000000000000" pitchFamily="18" charset="-128"/>
                <a:ea typeface="UDDigiKyokasho ProN R" panose="02020400000000000000" pitchFamily="18" charset="-128"/>
              </a:rPr>
              <a:t>調査対象者は、女子大学生</a:t>
            </a:r>
            <a:r>
              <a:rPr kumimoji="1" lang="en-US" altLang="ja-JP" sz="1200" dirty="0">
                <a:latin typeface="UDDigiKyokasho ProN R" panose="02020400000000000000" pitchFamily="18" charset="-128"/>
                <a:ea typeface="UDDigiKyokasho ProN R" panose="02020400000000000000" pitchFamily="18" charset="-128"/>
              </a:rPr>
              <a:t>140</a:t>
            </a:r>
            <a:r>
              <a:rPr kumimoji="1" lang="ja-JP" altLang="en-US" sz="1200">
                <a:latin typeface="UDDigiKyokasho ProN R" panose="02020400000000000000" pitchFamily="18" charset="-128"/>
                <a:ea typeface="UDDigiKyokasho ProN R" panose="02020400000000000000" pitchFamily="18" charset="-128"/>
              </a:rPr>
              <a:t>名</a:t>
            </a:r>
            <a:endParaRPr kumimoji="1" lang="en-US" altLang="ja-JP" sz="1200" dirty="0">
              <a:latin typeface="UDDigiKyokasho ProN R" panose="02020400000000000000" pitchFamily="18" charset="-128"/>
              <a:ea typeface="UDDigiKyokasho ProN R" panose="02020400000000000000" pitchFamily="18" charset="-128"/>
            </a:endParaRPr>
          </a:p>
          <a:p>
            <a:pPr marL="0" indent="0">
              <a:buNone/>
            </a:pPr>
            <a:r>
              <a:rPr lang="ja-JP" altLang="en-US" sz="1200">
                <a:latin typeface="UDDigiKyokasho ProN R" panose="02020400000000000000" pitchFamily="18" charset="-128"/>
                <a:ea typeface="UDDigiKyokasho ProN R" panose="02020400000000000000" pitchFamily="18" charset="-128"/>
              </a:rPr>
              <a:t>調査日は、</a:t>
            </a:r>
            <a:r>
              <a:rPr lang="en-US" altLang="ja-JP" sz="1200" dirty="0">
                <a:latin typeface="UDDigiKyokasho ProN R" panose="02020400000000000000" pitchFamily="18" charset="-128"/>
                <a:ea typeface="UDDigiKyokasho ProN R" panose="02020400000000000000" pitchFamily="18" charset="-128"/>
              </a:rPr>
              <a:t>2025</a:t>
            </a:r>
            <a:r>
              <a:rPr lang="ja-JP" altLang="en-US" sz="1200">
                <a:latin typeface="UDDigiKyokasho ProN R" panose="02020400000000000000" pitchFamily="18" charset="-128"/>
                <a:ea typeface="UDDigiKyokasho ProN R" panose="02020400000000000000" pitchFamily="18" charset="-128"/>
              </a:rPr>
              <a:t>年</a:t>
            </a:r>
            <a:r>
              <a:rPr lang="en-US" altLang="ja-JP" sz="1200" dirty="0">
                <a:latin typeface="UDDigiKyokasho ProN R" panose="02020400000000000000" pitchFamily="18" charset="-128"/>
                <a:ea typeface="UDDigiKyokasho ProN R" panose="02020400000000000000" pitchFamily="18" charset="-128"/>
              </a:rPr>
              <a:t>11</a:t>
            </a:r>
            <a:r>
              <a:rPr lang="ja-JP" altLang="en-US" sz="1200">
                <a:latin typeface="UDDigiKyokasho ProN R" panose="02020400000000000000" pitchFamily="18" charset="-128"/>
                <a:ea typeface="UDDigiKyokasho ProN R" panose="02020400000000000000" pitchFamily="18" charset="-128"/>
              </a:rPr>
              <a:t>月</a:t>
            </a:r>
            <a:r>
              <a:rPr lang="en-US" altLang="ja-JP" sz="1200" dirty="0">
                <a:latin typeface="UDDigiKyokasho ProN R" panose="02020400000000000000" pitchFamily="18" charset="-128"/>
                <a:ea typeface="UDDigiKyokasho ProN R" panose="02020400000000000000" pitchFamily="18" charset="-128"/>
              </a:rPr>
              <a:t>13</a:t>
            </a:r>
            <a:r>
              <a:rPr lang="ja-JP" altLang="en-US" sz="1200">
                <a:latin typeface="UDDigiKyokasho ProN R" panose="02020400000000000000" pitchFamily="18" charset="-128"/>
                <a:ea typeface="UDDigiKyokasho ProN R" panose="02020400000000000000" pitchFamily="18" charset="-128"/>
              </a:rPr>
              <a:t>日</a:t>
            </a:r>
            <a:r>
              <a:rPr lang="en-US" altLang="ja-JP" sz="1200" dirty="0">
                <a:latin typeface="UDDigiKyokasho ProN R" panose="02020400000000000000" pitchFamily="18" charset="-128"/>
                <a:ea typeface="UDDigiKyokasho ProN R" panose="02020400000000000000" pitchFamily="18" charset="-128"/>
              </a:rPr>
              <a:t>(</a:t>
            </a:r>
            <a:r>
              <a:rPr lang="ja-JP" altLang="en-US" sz="1200">
                <a:latin typeface="UDDigiKyokasho ProN R" panose="02020400000000000000" pitchFamily="18" charset="-128"/>
                <a:ea typeface="UDDigiKyokasho ProN R" panose="02020400000000000000" pitchFamily="18" charset="-128"/>
              </a:rPr>
              <a:t>木</a:t>
            </a:r>
            <a:r>
              <a:rPr lang="en-US" altLang="ja-JP" sz="1200" dirty="0">
                <a:latin typeface="UDDigiKyokasho ProN R" panose="02020400000000000000" pitchFamily="18" charset="-128"/>
                <a:ea typeface="UDDigiKyokasho ProN R" panose="02020400000000000000" pitchFamily="18" charset="-128"/>
              </a:rPr>
              <a:t>)〜2025</a:t>
            </a:r>
            <a:r>
              <a:rPr lang="ja-JP" altLang="en-US" sz="1200">
                <a:latin typeface="UDDigiKyokasho ProN R" panose="02020400000000000000" pitchFamily="18" charset="-128"/>
                <a:ea typeface="UDDigiKyokasho ProN R" panose="02020400000000000000" pitchFamily="18" charset="-128"/>
              </a:rPr>
              <a:t>年</a:t>
            </a:r>
            <a:r>
              <a:rPr lang="en-US" altLang="ja-JP" sz="1200" dirty="0">
                <a:latin typeface="UDDigiKyokasho ProN R" panose="02020400000000000000" pitchFamily="18" charset="-128"/>
                <a:ea typeface="UDDigiKyokasho ProN R" panose="02020400000000000000" pitchFamily="18" charset="-128"/>
              </a:rPr>
              <a:t>11</a:t>
            </a:r>
            <a:r>
              <a:rPr lang="ja-JP" altLang="en-US" sz="1200">
                <a:latin typeface="UDDigiKyokasho ProN R" panose="02020400000000000000" pitchFamily="18" charset="-128"/>
                <a:ea typeface="UDDigiKyokasho ProN R" panose="02020400000000000000" pitchFamily="18" charset="-128"/>
              </a:rPr>
              <a:t>月</a:t>
            </a:r>
            <a:r>
              <a:rPr lang="en-US" altLang="ja-JP" sz="1200" dirty="0">
                <a:latin typeface="UDDigiKyokasho ProN R" panose="02020400000000000000" pitchFamily="18" charset="-128"/>
                <a:ea typeface="UDDigiKyokasho ProN R" panose="02020400000000000000" pitchFamily="18" charset="-128"/>
              </a:rPr>
              <a:t>21</a:t>
            </a:r>
            <a:r>
              <a:rPr lang="ja-JP" altLang="en-US" sz="1200">
                <a:latin typeface="UDDigiKyokasho ProN R" panose="02020400000000000000" pitchFamily="18" charset="-128"/>
                <a:ea typeface="UDDigiKyokasho ProN R" panose="02020400000000000000" pitchFamily="18" charset="-128"/>
              </a:rPr>
              <a:t>日</a:t>
            </a:r>
            <a:r>
              <a:rPr lang="en-US" altLang="ja-JP" sz="1200" dirty="0">
                <a:latin typeface="UDDigiKyokasho ProN R" panose="02020400000000000000" pitchFamily="18" charset="-128"/>
                <a:ea typeface="UDDigiKyokasho ProN R" panose="02020400000000000000" pitchFamily="18" charset="-128"/>
              </a:rPr>
              <a:t>(</a:t>
            </a:r>
            <a:r>
              <a:rPr lang="ja-JP" altLang="en-US" sz="1200">
                <a:latin typeface="UDDigiKyokasho ProN R" panose="02020400000000000000" pitchFamily="18" charset="-128"/>
                <a:ea typeface="UDDigiKyokasho ProN R" panose="02020400000000000000" pitchFamily="18" charset="-128"/>
              </a:rPr>
              <a:t>金</a:t>
            </a:r>
            <a:r>
              <a:rPr lang="en-US" altLang="ja-JP" sz="1200" dirty="0">
                <a:latin typeface="UDDigiKyokasho ProN R" panose="02020400000000000000" pitchFamily="18" charset="-128"/>
                <a:ea typeface="UDDigiKyokasho ProN R" panose="02020400000000000000" pitchFamily="18" charset="-128"/>
              </a:rPr>
              <a:t>)</a:t>
            </a:r>
          </a:p>
          <a:p>
            <a:pPr marL="0" indent="0">
              <a:buNone/>
            </a:pPr>
            <a:r>
              <a:rPr kumimoji="1" lang="ja-JP" altLang="en-US" sz="1200">
                <a:latin typeface="UDDigiKyokasho ProN R" panose="02020400000000000000" pitchFamily="18" charset="-128"/>
                <a:ea typeface="UDDigiKyokasho ProN R" panose="02020400000000000000" pitchFamily="18" charset="-128"/>
              </a:rPr>
              <a:t>質問紙の構成は次のようになっています。</a:t>
            </a:r>
            <a:endParaRPr kumimoji="1" lang="en-US" altLang="ja-JP" sz="1200" dirty="0">
              <a:latin typeface="UDDigiKyokasho ProN R" panose="02020400000000000000" pitchFamily="18" charset="-128"/>
              <a:ea typeface="UDDigiKyokasho ProN R" panose="02020400000000000000" pitchFamily="18" charset="-128"/>
            </a:endParaRPr>
          </a:p>
          <a:p>
            <a:pPr marL="0" indent="0">
              <a:buNone/>
            </a:pPr>
            <a:r>
              <a:rPr kumimoji="1" lang="ja-JP" altLang="en-US" sz="1200">
                <a:latin typeface="UDDigiKyokasho ProN R" panose="02020400000000000000" pitchFamily="18" charset="-128"/>
                <a:ea typeface="UDDigiKyokasho ProN R" panose="02020400000000000000" pitchFamily="18" charset="-128"/>
              </a:rPr>
              <a:t>大きく分けると３つになります。</a:t>
            </a:r>
            <a:endParaRPr kumimoji="1" lang="en-US" altLang="ja-JP" sz="1200" dirty="0">
              <a:latin typeface="UDDigiKyokasho ProN R" panose="02020400000000000000" pitchFamily="18" charset="-128"/>
              <a:ea typeface="UDDigiKyokasho ProN R" panose="02020400000000000000" pitchFamily="18" charset="-128"/>
            </a:endParaRPr>
          </a:p>
          <a:p>
            <a:pPr marL="0" indent="0">
              <a:buNone/>
            </a:pPr>
            <a:r>
              <a:rPr kumimoji="1" lang="en-US" altLang="ja-JP" sz="1200" b="1" dirty="0">
                <a:latin typeface="UDDigiKyokasho ProN R" panose="02020400000000000000" pitchFamily="18" charset="-128"/>
                <a:ea typeface="UDDigiKyokasho ProN R" panose="02020400000000000000" pitchFamily="18" charset="-128"/>
              </a:rPr>
              <a:t>1.</a:t>
            </a:r>
            <a:r>
              <a:rPr kumimoji="1" lang="ja-JP" altLang="en-US" sz="1200" b="1">
                <a:latin typeface="UDDigiKyokasho ProN R" panose="02020400000000000000" pitchFamily="18" charset="-128"/>
                <a:ea typeface="UDDigiKyokasho ProN R" panose="02020400000000000000" pitchFamily="18" charset="-128"/>
              </a:rPr>
              <a:t>読書活動の現状の調査</a:t>
            </a:r>
            <a:r>
              <a:rPr lang="ja-JP" altLang="en-US" sz="1200" b="1">
                <a:latin typeface="UDDigiKyokasho ProN R" panose="02020400000000000000" pitchFamily="18" charset="-128"/>
                <a:ea typeface="UDDigiKyokasho ProN R" panose="02020400000000000000" pitchFamily="18" charset="-128"/>
              </a:rPr>
              <a:t>　</a:t>
            </a:r>
            <a:r>
              <a:rPr kumimoji="1" lang="ja-JP" altLang="en-US" sz="1200">
                <a:latin typeface="UDDigiKyokasho ProN R" panose="02020400000000000000" pitchFamily="18" charset="-128"/>
                <a:ea typeface="UDDigiKyokasho ProN R" panose="02020400000000000000" pitchFamily="18" charset="-128"/>
              </a:rPr>
              <a:t>吉田・川島</a:t>
            </a:r>
            <a:r>
              <a:rPr kumimoji="1" lang="en-US" altLang="ja-JP" sz="1200" dirty="0">
                <a:latin typeface="UDDigiKyokasho ProN R" panose="02020400000000000000" pitchFamily="18" charset="-128"/>
                <a:ea typeface="UDDigiKyokasho ProN R" panose="02020400000000000000" pitchFamily="18" charset="-128"/>
              </a:rPr>
              <a:t>(2004)</a:t>
            </a:r>
            <a:r>
              <a:rPr kumimoji="1" lang="ja-JP" altLang="en-US" sz="1200">
                <a:latin typeface="UDDigiKyokasho ProN R" panose="02020400000000000000" pitchFamily="18" charset="-128"/>
                <a:ea typeface="UDDigiKyokasho ProN R" panose="02020400000000000000" pitchFamily="18" charset="-128"/>
              </a:rPr>
              <a:t>により作成された「読書ポジティブ尺度」</a:t>
            </a:r>
            <a:r>
              <a:rPr kumimoji="1" lang="en-US" altLang="ja-JP" sz="1200" dirty="0">
                <a:latin typeface="UDDigiKyokasho ProN R" panose="02020400000000000000" pitchFamily="18" charset="-128"/>
                <a:ea typeface="UDDigiKyokasho ProN R" panose="02020400000000000000" pitchFamily="18" charset="-128"/>
              </a:rPr>
              <a:t>8</a:t>
            </a:r>
            <a:r>
              <a:rPr kumimoji="1" lang="ja-JP" altLang="en-US" sz="1200">
                <a:latin typeface="UDDigiKyokasho ProN R" panose="02020400000000000000" pitchFamily="18" charset="-128"/>
                <a:ea typeface="UDDigiKyokasho ProN R" panose="02020400000000000000" pitchFamily="18" charset="-128"/>
              </a:rPr>
              <a:t>項目、過去１年間に読んだ本の冊数の月の平均冊数、</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の実在する作家名と実在しない作家名で知っているものがあるかを尋ねた。</a:t>
            </a: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12</a:t>
            </a:fld>
            <a:endParaRPr kumimoji="1" lang="ja-JP" altLang="en-US"/>
          </a:p>
        </p:txBody>
      </p:sp>
    </p:spTree>
    <p:extLst>
      <p:ext uri="{BB962C8B-B14F-4D97-AF65-F5344CB8AC3E}">
        <p14:creationId xmlns:p14="http://schemas.microsoft.com/office/powerpoint/2010/main" val="2991342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ja-JP" altLang="en-US" sz="1200">
                <a:latin typeface="UDDigiKyokasho ProN R" panose="02020400000000000000" pitchFamily="18" charset="-128"/>
                <a:ea typeface="UDDigiKyokasho ProN R" panose="02020400000000000000" pitchFamily="18" charset="-128"/>
              </a:rPr>
              <a:t>質問紙の構成は次のようになっています。</a:t>
            </a:r>
            <a:endParaRPr kumimoji="1" lang="en-US" altLang="ja-JP" sz="1200" dirty="0">
              <a:latin typeface="UDDigiKyokasho ProN R" panose="02020400000000000000" pitchFamily="18" charset="-128"/>
              <a:ea typeface="UDDigiKyokasho ProN R" panose="02020400000000000000" pitchFamily="18" charset="-128"/>
            </a:endParaRPr>
          </a:p>
          <a:p>
            <a:pPr marL="0" indent="0">
              <a:buNone/>
            </a:pPr>
            <a:r>
              <a:rPr kumimoji="1" lang="ja-JP" altLang="en-US" sz="1200">
                <a:latin typeface="UDDigiKyokasho ProN R" panose="02020400000000000000" pitchFamily="18" charset="-128"/>
                <a:ea typeface="UDDigiKyokasho ProN R" panose="02020400000000000000" pitchFamily="18" charset="-128"/>
              </a:rPr>
              <a:t>大きく分けると３つになります。</a:t>
            </a:r>
            <a:endParaRPr kumimoji="1" lang="en-US" altLang="ja-JP" sz="1200" dirty="0">
              <a:latin typeface="UDDigiKyokasho ProN R" panose="02020400000000000000" pitchFamily="18" charset="-128"/>
              <a:ea typeface="UDDigiKyokasho ProN R" panose="02020400000000000000" pitchFamily="18" charset="-128"/>
            </a:endParaRPr>
          </a:p>
          <a:p>
            <a:pPr marL="0" indent="0">
              <a:buNone/>
            </a:pPr>
            <a:r>
              <a:rPr kumimoji="1" lang="en-US" altLang="ja-JP" sz="1200" b="1" dirty="0">
                <a:latin typeface="UDDigiKyokasho ProN R" panose="02020400000000000000" pitchFamily="18" charset="-128"/>
                <a:ea typeface="UDDigiKyokasho ProN R" panose="02020400000000000000" pitchFamily="18" charset="-128"/>
              </a:rPr>
              <a:t>1.</a:t>
            </a:r>
            <a:r>
              <a:rPr kumimoji="1" lang="ja-JP" altLang="en-US" sz="1200" b="1">
                <a:latin typeface="UDDigiKyokasho ProN R" panose="02020400000000000000" pitchFamily="18" charset="-128"/>
                <a:ea typeface="UDDigiKyokasho ProN R" panose="02020400000000000000" pitchFamily="18" charset="-128"/>
              </a:rPr>
              <a:t>読書活動の現状の調査</a:t>
            </a:r>
            <a:r>
              <a:rPr lang="ja-JP" altLang="en-US" sz="1200" b="1">
                <a:latin typeface="UDDigiKyokasho ProN R" panose="02020400000000000000" pitchFamily="18" charset="-128"/>
                <a:ea typeface="UDDigiKyokasho ProN R" panose="02020400000000000000" pitchFamily="18" charset="-128"/>
              </a:rPr>
              <a:t>　</a:t>
            </a:r>
            <a:r>
              <a:rPr kumimoji="1" lang="ja-JP" altLang="en-US" sz="1200">
                <a:latin typeface="UDDigiKyokasho ProN R" panose="02020400000000000000" pitchFamily="18" charset="-128"/>
                <a:ea typeface="UDDigiKyokasho ProN R" panose="02020400000000000000" pitchFamily="18" charset="-128"/>
              </a:rPr>
              <a:t>吉田・川島</a:t>
            </a:r>
            <a:r>
              <a:rPr kumimoji="1" lang="en-US" altLang="ja-JP" sz="1200" dirty="0">
                <a:latin typeface="UDDigiKyokasho ProN R" panose="02020400000000000000" pitchFamily="18" charset="-128"/>
                <a:ea typeface="UDDigiKyokasho ProN R" panose="02020400000000000000" pitchFamily="18" charset="-128"/>
              </a:rPr>
              <a:t>(2004)</a:t>
            </a:r>
            <a:r>
              <a:rPr kumimoji="1" lang="ja-JP" altLang="en-US" sz="1200">
                <a:latin typeface="UDDigiKyokasho ProN R" panose="02020400000000000000" pitchFamily="18" charset="-128"/>
                <a:ea typeface="UDDigiKyokasho ProN R" panose="02020400000000000000" pitchFamily="18" charset="-128"/>
              </a:rPr>
              <a:t>により作成された「読書ポジティブ尺度」</a:t>
            </a:r>
            <a:r>
              <a:rPr kumimoji="1" lang="en-US" altLang="ja-JP" sz="1200" dirty="0">
                <a:latin typeface="UDDigiKyokasho ProN R" panose="02020400000000000000" pitchFamily="18" charset="-128"/>
                <a:ea typeface="UDDigiKyokasho ProN R" panose="02020400000000000000" pitchFamily="18" charset="-128"/>
              </a:rPr>
              <a:t>8</a:t>
            </a:r>
            <a:r>
              <a:rPr kumimoji="1" lang="ja-JP" altLang="en-US" sz="1200">
                <a:latin typeface="UDDigiKyokasho ProN R" panose="02020400000000000000" pitchFamily="18" charset="-128"/>
                <a:ea typeface="UDDigiKyokasho ProN R" panose="02020400000000000000" pitchFamily="18" charset="-128"/>
              </a:rPr>
              <a:t>項目、過去１年間に読んだ本の冊数の月の平均冊数、</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の実在する作家名と実在しない作家名で知っているものがあるかを尋ねた。</a:t>
            </a:r>
          </a:p>
          <a:p>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13</a:t>
            </a:fld>
            <a:endParaRPr kumimoji="1" lang="ja-JP" altLang="en-US"/>
          </a:p>
        </p:txBody>
      </p:sp>
    </p:spTree>
    <p:extLst>
      <p:ext uri="{BB962C8B-B14F-4D97-AF65-F5344CB8AC3E}">
        <p14:creationId xmlns:p14="http://schemas.microsoft.com/office/powerpoint/2010/main" val="1017042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en-US" altLang="ja-JP" sz="1200" b="1" dirty="0">
                <a:latin typeface="UDDigiKyokasho ProN R" panose="02020400000000000000" pitchFamily="18" charset="-128"/>
                <a:ea typeface="UDDigiKyokasho ProN R" panose="02020400000000000000" pitchFamily="18" charset="-128"/>
              </a:rPr>
              <a:t>2.</a:t>
            </a:r>
            <a:r>
              <a:rPr kumimoji="1" lang="ja-JP" altLang="en-US" sz="1200" b="1">
                <a:latin typeface="UDDigiKyokasho ProN R" panose="02020400000000000000" pitchFamily="18" charset="-128"/>
                <a:ea typeface="UDDigiKyokasho ProN R" panose="02020400000000000000" pitchFamily="18" charset="-128"/>
              </a:rPr>
              <a:t>共感の測定　</a:t>
            </a:r>
            <a:r>
              <a:rPr kumimoji="1" lang="ja-JP" altLang="en-US" sz="1200">
                <a:latin typeface="UDDigiKyokasho ProN R" panose="02020400000000000000" pitchFamily="18" charset="-128"/>
                <a:ea typeface="UDDigiKyokasho ProN R" panose="02020400000000000000" pitchFamily="18" charset="-128"/>
              </a:rPr>
              <a:t>登張</a:t>
            </a:r>
            <a:r>
              <a:rPr kumimoji="1" lang="en-US" altLang="ja-JP" sz="1200" dirty="0">
                <a:latin typeface="UDDigiKyokasho ProN R" panose="02020400000000000000" pitchFamily="18" charset="-128"/>
                <a:ea typeface="UDDigiKyokasho ProN R" panose="02020400000000000000" pitchFamily="18" charset="-128"/>
              </a:rPr>
              <a:t>(2003)</a:t>
            </a:r>
            <a:r>
              <a:rPr kumimoji="1" lang="ja-JP" altLang="en-US" sz="1200">
                <a:latin typeface="UDDigiKyokasho ProN R" panose="02020400000000000000" pitchFamily="18" charset="-128"/>
                <a:ea typeface="UDDigiKyokasho ProN R" panose="02020400000000000000" pitchFamily="18" charset="-128"/>
              </a:rPr>
              <a:t>の「青年期用多次元的共感性尺度」の「共感的関心」</a:t>
            </a:r>
            <a:r>
              <a:rPr kumimoji="1" lang="en-US" altLang="ja-JP" sz="1200" dirty="0">
                <a:latin typeface="UDDigiKyokasho ProN R" panose="02020400000000000000" pitchFamily="18" charset="-128"/>
                <a:ea typeface="UDDigiKyokasho ProN R" panose="02020400000000000000" pitchFamily="18" charset="-128"/>
              </a:rPr>
              <a:t>13 </a:t>
            </a:r>
            <a:r>
              <a:rPr kumimoji="1" lang="ja-JP" altLang="en-US" sz="1200">
                <a:latin typeface="UDDigiKyokasho ProN R" panose="02020400000000000000" pitchFamily="18" charset="-128"/>
                <a:ea typeface="UDDigiKyokasho ProN R" panose="02020400000000000000" pitchFamily="18" charset="-128"/>
              </a:rPr>
              <a:t>項目、「個人的苦痛」</a:t>
            </a:r>
            <a:r>
              <a:rPr kumimoji="1" lang="en-US" altLang="ja-JP" sz="1200" dirty="0">
                <a:latin typeface="UDDigiKyokasho ProN R" panose="02020400000000000000" pitchFamily="18" charset="-128"/>
                <a:ea typeface="UDDigiKyokasho ProN R" panose="02020400000000000000" pitchFamily="18" charset="-128"/>
              </a:rPr>
              <a:t>6 </a:t>
            </a:r>
            <a:r>
              <a:rPr kumimoji="1" lang="ja-JP" altLang="en-US" sz="1200">
                <a:latin typeface="UDDigiKyokasho ProN R" panose="02020400000000000000" pitchFamily="18" charset="-128"/>
                <a:ea typeface="UDDigiKyokasho ProN R" panose="02020400000000000000" pitchFamily="18" charset="-128"/>
              </a:rPr>
              <a:t>項目、「ファンタジー」</a:t>
            </a:r>
            <a:r>
              <a:rPr kumimoji="1" lang="en-US" altLang="ja-JP" sz="1200" dirty="0">
                <a:latin typeface="UDDigiKyokasho ProN R" panose="02020400000000000000" pitchFamily="18" charset="-128"/>
                <a:ea typeface="UDDigiKyokasho ProN R" panose="02020400000000000000" pitchFamily="18" charset="-128"/>
              </a:rPr>
              <a:t>4 </a:t>
            </a:r>
            <a:r>
              <a:rPr kumimoji="1" lang="ja-JP" altLang="en-US" sz="1200">
                <a:latin typeface="UDDigiKyokasho ProN R" panose="02020400000000000000" pitchFamily="18" charset="-128"/>
                <a:ea typeface="UDDigiKyokasho ProN R" panose="02020400000000000000" pitchFamily="18" charset="-128"/>
              </a:rPr>
              <a:t>項目、「気持ちの想像」</a:t>
            </a:r>
            <a:r>
              <a:rPr kumimoji="1" lang="en-US" altLang="ja-JP" sz="1200" dirty="0">
                <a:latin typeface="UDDigiKyokasho ProN R" panose="02020400000000000000" pitchFamily="18" charset="-128"/>
                <a:ea typeface="UDDigiKyokasho ProN R" panose="02020400000000000000" pitchFamily="18" charset="-128"/>
              </a:rPr>
              <a:t>5 </a:t>
            </a:r>
            <a:r>
              <a:rPr kumimoji="1" lang="ja-JP" altLang="en-US" sz="1200">
                <a:latin typeface="UDDigiKyokasho ProN R" panose="02020400000000000000" pitchFamily="18" charset="-128"/>
                <a:ea typeface="UDDigiKyokasho ProN R" panose="02020400000000000000" pitchFamily="18" charset="-128"/>
              </a:rPr>
              <a:t>項目の計</a:t>
            </a:r>
            <a:r>
              <a:rPr kumimoji="1" lang="en-US" altLang="ja-JP" sz="1200" dirty="0">
                <a:latin typeface="UDDigiKyokasho ProN R" panose="02020400000000000000" pitchFamily="18" charset="-128"/>
                <a:ea typeface="UDDigiKyokasho ProN R" panose="02020400000000000000" pitchFamily="18" charset="-128"/>
              </a:rPr>
              <a:t>28 </a:t>
            </a:r>
            <a:r>
              <a:rPr kumimoji="1" lang="ja-JP" altLang="en-US" sz="1200">
                <a:latin typeface="UDDigiKyokasho ProN R" panose="02020400000000000000" pitchFamily="18" charset="-128"/>
                <a:ea typeface="UDDigiKyokasho ProN R" panose="02020400000000000000" pitchFamily="18" charset="-128"/>
              </a:rPr>
              <a:t>項目を使用しました。</a:t>
            </a:r>
          </a:p>
          <a:p>
            <a:pPr marL="0" indent="0">
              <a:buNone/>
            </a:pPr>
            <a:r>
              <a:rPr kumimoji="1" lang="en-US" altLang="ja-JP" sz="1200" b="1" dirty="0">
                <a:latin typeface="UDDigiKyokasho ProN R" panose="02020400000000000000" pitchFamily="18" charset="-128"/>
                <a:ea typeface="UDDigiKyokasho ProN R" panose="02020400000000000000" pitchFamily="18" charset="-128"/>
              </a:rPr>
              <a:t>3.</a:t>
            </a:r>
            <a:r>
              <a:rPr kumimoji="1" lang="ja-JP" altLang="en-US" sz="1200" b="1">
                <a:latin typeface="UDDigiKyokasho ProN R" panose="02020400000000000000" pitchFamily="18" charset="-128"/>
                <a:ea typeface="UDDigiKyokasho ProN R" panose="02020400000000000000" pitchFamily="18" charset="-128"/>
              </a:rPr>
              <a:t>他者の感情理解の</a:t>
            </a:r>
            <a:r>
              <a:rPr lang="ja-JP" altLang="en-US" sz="1200" b="1">
                <a:latin typeface="UDDigiKyokasho ProN R" panose="02020400000000000000" pitchFamily="18" charset="-128"/>
                <a:ea typeface="UDDigiKyokasho ProN R" panose="02020400000000000000" pitchFamily="18" charset="-128"/>
              </a:rPr>
              <a:t>測定</a:t>
            </a:r>
            <a:r>
              <a:rPr lang="ja-JP" altLang="en-US" sz="1200">
                <a:latin typeface="UDDigiKyokasho ProN R" panose="02020400000000000000" pitchFamily="18" charset="-128"/>
                <a:ea typeface="UDDigiKyokasho ProN R" panose="02020400000000000000" pitchFamily="18" charset="-128"/>
              </a:rPr>
              <a:t>　</a:t>
            </a:r>
            <a:r>
              <a:rPr lang="en-US" altLang="ja-JP" sz="1200" dirty="0" err="1">
                <a:latin typeface="UDDigiKyokasho ProN R" panose="02020400000000000000" pitchFamily="18" charset="-128"/>
                <a:ea typeface="UDDigiKyokasho ProN R" panose="02020400000000000000" pitchFamily="18" charset="-128"/>
              </a:rPr>
              <a:t>Fujimura&amp;Umemura</a:t>
            </a:r>
            <a:r>
              <a:rPr lang="en-US" altLang="ja-JP" sz="1200" dirty="0">
                <a:latin typeface="UDDigiKyokasho ProN R" panose="02020400000000000000" pitchFamily="18" charset="-128"/>
                <a:ea typeface="UDDigiKyokasho ProN R" panose="02020400000000000000" pitchFamily="18" charset="-128"/>
              </a:rPr>
              <a:t>(2018)</a:t>
            </a:r>
            <a:r>
              <a:rPr lang="ja-JP" altLang="en-US" sz="1200">
                <a:latin typeface="UDDigiKyokasho ProN R" panose="02020400000000000000" pitchFamily="18" charset="-128"/>
                <a:ea typeface="UDDigiKyokasho ProN R" panose="02020400000000000000" pitchFamily="18" charset="-128"/>
              </a:rPr>
              <a:t>で使用されていた顔写真</a:t>
            </a:r>
            <a:r>
              <a:rPr lang="en-US" altLang="ja-JP" sz="1200" dirty="0">
                <a:latin typeface="UDDigiKyokasho ProN R" panose="02020400000000000000" pitchFamily="18" charset="-128"/>
                <a:ea typeface="UDDigiKyokasho ProN R" panose="02020400000000000000" pitchFamily="18" charset="-128"/>
              </a:rPr>
              <a:t>6</a:t>
            </a:r>
            <a:r>
              <a:rPr lang="ja-JP" altLang="en-US" sz="1200">
                <a:latin typeface="UDDigiKyokasho ProN R" panose="02020400000000000000" pitchFamily="18" charset="-128"/>
                <a:ea typeface="UDDigiKyokasho ProN R" panose="02020400000000000000" pitchFamily="18" charset="-128"/>
              </a:rPr>
              <a:t>枚を使用し、表情からの感情の読み取りにおいて、顔写真が表している感情を正確に読み取れるかを調査しました。</a:t>
            </a:r>
            <a:endParaRPr lang="en-US" altLang="ja-JP" sz="1200" dirty="0">
              <a:latin typeface="UDDigiKyokasho ProN R" panose="02020400000000000000" pitchFamily="18" charset="-128"/>
              <a:ea typeface="UDDigiKyokasho ProN R" panose="02020400000000000000" pitchFamily="18" charset="-128"/>
            </a:endParaRPr>
          </a:p>
          <a:p>
            <a:pPr marL="0" indent="0">
              <a:buNone/>
            </a:pPr>
            <a:endParaRPr kumimoji="1" lang="ja-JP" altLang="en-US" sz="120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14</a:t>
            </a:fld>
            <a:endParaRPr kumimoji="1" lang="ja-JP" altLang="en-US"/>
          </a:p>
        </p:txBody>
      </p:sp>
    </p:spTree>
    <p:extLst>
      <p:ext uri="{BB962C8B-B14F-4D97-AF65-F5344CB8AC3E}">
        <p14:creationId xmlns:p14="http://schemas.microsoft.com/office/powerpoint/2010/main" val="1390277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b="1">
                <a:latin typeface="UDDigiKyokasho ProN R" panose="02020400000000000000" pitchFamily="18" charset="-128"/>
                <a:ea typeface="UDDigiKyokasho ProN R" panose="02020400000000000000" pitchFamily="18" charset="-128"/>
              </a:rPr>
              <a:t>使用した分析手法については、表記している通りです。</a:t>
            </a:r>
            <a:endParaRPr lang="en-US" altLang="ja-JP" sz="1200" b="1"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・まず、因子分析を行い、次に、その得点をもとに、</a:t>
            </a:r>
            <a:r>
              <a:rPr lang="ja-JP" altLang="en-US" sz="1200">
                <a:latin typeface="UDDigiKyokasho ProN R" panose="02020400000000000000" pitchFamily="18" charset="-128"/>
                <a:ea typeface="UDDigiKyokasho ProN R" panose="02020400000000000000" pitchFamily="18" charset="-128"/>
              </a:rPr>
              <a:t>相関分析</a:t>
            </a:r>
            <a:r>
              <a:rPr kumimoji="1" lang="ja-JP" altLang="en-US" sz="1200">
                <a:latin typeface="UDDigiKyokasho ProN R" panose="02020400000000000000" pitchFamily="18" charset="-128"/>
                <a:ea typeface="UDDigiKyokasho ProN R" panose="02020400000000000000" pitchFamily="18" charset="-128"/>
              </a:rPr>
              <a:t>、階層的重回帰分析を行いました。</a:t>
            </a: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15</a:t>
            </a:fld>
            <a:endParaRPr kumimoji="1" lang="ja-JP" altLang="en-US"/>
          </a:p>
        </p:txBody>
      </p:sp>
    </p:spTree>
    <p:extLst>
      <p:ext uri="{BB962C8B-B14F-4D97-AF65-F5344CB8AC3E}">
        <p14:creationId xmlns:p14="http://schemas.microsoft.com/office/powerpoint/2010/main" val="1615134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読書指標と各因子の得点の相関は以下の通りになっています。</a:t>
            </a:r>
            <a:endParaRPr kumimoji="1" lang="en-US" altLang="ja-JP" sz="1200" dirty="0">
              <a:latin typeface="+mn-lt"/>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800">
                <a:latin typeface="UDDigiKyokasho ProN R" panose="02020400000000000000" pitchFamily="18" charset="-128"/>
                <a:ea typeface="UDDigiKyokasho ProN R" panose="02020400000000000000" pitchFamily="18" charset="-128"/>
              </a:rPr>
              <a:t>まず、読書指標間に相関が認められましたものの、強い相関ではなかったので、役割分担されていたのではないかと考えていますそして、</a:t>
            </a:r>
            <a:endParaRPr kumimoji="1" lang="en-US" altLang="ja-JP" sz="2800" dirty="0">
              <a:latin typeface="UDDigiKyokasho ProN R" panose="02020400000000000000" pitchFamily="18" charset="-128"/>
              <a:ea typeface="UDDigiKyokasho ProN R" panose="02020400000000000000" pitchFamily="18" charset="-128"/>
            </a:endParaRPr>
          </a:p>
          <a:p>
            <a:r>
              <a:rPr kumimoji="1" lang="ja-JP" altLang="en-US" sz="2800">
                <a:latin typeface="UDDigiKyokasho ProN R" panose="02020400000000000000" pitchFamily="18" charset="-128"/>
                <a:ea typeface="UDDigiKyokasho ProN R" panose="02020400000000000000" pitchFamily="18" charset="-128"/>
              </a:rPr>
              <a:t>このことから、読書の効果を複数の側面から測定することが必要なのではないかと考えられます。</a:t>
            </a:r>
          </a:p>
          <a:p>
            <a:r>
              <a:rPr kumimoji="1" lang="ja-JP" altLang="en-US" sz="2800">
                <a:latin typeface="UDDigiKyokasho ProN R" panose="02020400000000000000" pitchFamily="18" charset="-128"/>
                <a:ea typeface="UDDigiKyokasho ProN R" panose="02020400000000000000" pitchFamily="18" charset="-128"/>
              </a:rPr>
              <a:t>次に、過去</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年間の読書量の月平均と気持ちの想像、</a:t>
            </a:r>
            <a:r>
              <a:rPr kumimoji="1" lang="en-US" altLang="ja-JP" sz="2800" dirty="0">
                <a:latin typeface="UDDigiKyokasho ProN R" panose="02020400000000000000" pitchFamily="18" charset="-128"/>
                <a:ea typeface="UDDigiKyokasho ProN R" panose="02020400000000000000" pitchFamily="18" charset="-128"/>
              </a:rPr>
              <a:t>ART</a:t>
            </a:r>
            <a:r>
              <a:rPr kumimoji="1" lang="ja-JP" altLang="en-US" sz="2800">
                <a:latin typeface="UDDigiKyokasho ProN R" panose="02020400000000000000" pitchFamily="18" charset="-128"/>
                <a:ea typeface="UDDigiKyokasho ProN R" panose="02020400000000000000" pitchFamily="18" charset="-128"/>
              </a:rPr>
              <a:t>と個人的苦痛の間に非常に弱かったのですが、弱い正の相関が見られました。直近</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ヶ月間の読書量は、表情の平均・嫌悪・悲しみの間に非常に弱い正の相関が見られました。</a:t>
            </a:r>
          </a:p>
          <a:p>
            <a:r>
              <a:rPr kumimoji="1" lang="ja-JP" altLang="en-US" sz="2800">
                <a:latin typeface="UDDigiKyokasho ProN R" panose="02020400000000000000" pitchFamily="18" charset="-128"/>
                <a:ea typeface="UDDigiKyokasho ProN R" panose="02020400000000000000" pitchFamily="18" charset="-128"/>
              </a:rPr>
              <a:t>これらについての重回帰分析の結果と合わせて考察で紹介します。</a:t>
            </a: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16</a:t>
            </a:fld>
            <a:endParaRPr kumimoji="1" lang="ja-JP" altLang="en-US"/>
          </a:p>
        </p:txBody>
      </p:sp>
    </p:spTree>
    <p:extLst>
      <p:ext uri="{BB962C8B-B14F-4D97-AF65-F5344CB8AC3E}">
        <p14:creationId xmlns:p14="http://schemas.microsoft.com/office/powerpoint/2010/main" val="2473130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重回帰分析の結果に入ります。重回帰分析の結果、共感の因子である、共感的関心・同情的苦痛、表情の怒り・驚きには、読書指標との間に有意な関連が認められず、相関分析の結果も同様でした。これは、まとめの考察で</a:t>
            </a: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18</a:t>
            </a:fld>
            <a:endParaRPr kumimoji="1" lang="ja-JP" altLang="en-US"/>
          </a:p>
        </p:txBody>
      </p:sp>
    </p:spTree>
    <p:extLst>
      <p:ext uri="{BB962C8B-B14F-4D97-AF65-F5344CB8AC3E}">
        <p14:creationId xmlns:p14="http://schemas.microsoft.com/office/powerpoint/2010/main" val="1828476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重回帰分析の結果の共感のファンタジー因子得点についてです。直近</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ヶ月間の読書量がファンタジー因子得点を下降させ、</a:t>
            </a:r>
            <a:r>
              <a:rPr lang="ja-JP" altLang="en-US" sz="1200">
                <a:latin typeface="UDDigiKyokasho ProN R" panose="02020400000000000000" pitchFamily="18" charset="-128"/>
                <a:ea typeface="UDDigiKyokasho ProN R" panose="02020400000000000000" pitchFamily="18" charset="-128"/>
              </a:rPr>
              <a:t>過去</a:t>
            </a:r>
            <a:r>
              <a:rPr lang="en-US" altLang="ja-JP" sz="1200" dirty="0">
                <a:latin typeface="UDDigiKyokasho ProN R" panose="02020400000000000000" pitchFamily="18" charset="-128"/>
                <a:ea typeface="UDDigiKyokasho ProN R" panose="02020400000000000000" pitchFamily="18" charset="-128"/>
              </a:rPr>
              <a:t>1</a:t>
            </a:r>
            <a:r>
              <a:rPr lang="ja-JP" altLang="en-US" sz="1200">
                <a:latin typeface="UDDigiKyokasho ProN R" panose="02020400000000000000" pitchFamily="18" charset="-128"/>
                <a:ea typeface="UDDigiKyokasho ProN R" panose="02020400000000000000" pitchFamily="18" charset="-128"/>
              </a:rPr>
              <a:t>年間の読書量の平均がファンタジー因子の得点を上昇させていることが示唆されました。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これらのことから、</a:t>
            </a:r>
            <a:r>
              <a:rPr lang="ja-JP" altLang="en-US" sz="1200">
                <a:latin typeface="UDDigiKyokasho ProN R" panose="02020400000000000000" pitchFamily="18" charset="-128"/>
                <a:ea typeface="UDDigiKyokasho ProN R" panose="02020400000000000000" pitchFamily="18" charset="-128"/>
              </a:rPr>
              <a:t>最近の読書量が増えることで、登場人物の気持ちになってしまったり、自分だったらどうなるだろうと想像したりすることが増える可能性が示唆されました。</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しかし、読書習慣があることで、物語に触れたときに、想像することが減少する可能性ということが示唆されました。これらの理由については、今後の課題となると考えています。</a:t>
            </a:r>
            <a:endParaRPr lang="en-US" altLang="ja-JP" sz="1200" dirty="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19</a:t>
            </a:fld>
            <a:endParaRPr kumimoji="1" lang="ja-JP" altLang="en-US"/>
          </a:p>
        </p:txBody>
      </p:sp>
    </p:spTree>
    <p:extLst>
      <p:ext uri="{BB962C8B-B14F-4D97-AF65-F5344CB8AC3E}">
        <p14:creationId xmlns:p14="http://schemas.microsoft.com/office/powerpoint/2010/main" val="960759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20</a:t>
            </a:fld>
            <a:endParaRPr kumimoji="1" lang="ja-JP" altLang="en-US"/>
          </a:p>
        </p:txBody>
      </p:sp>
    </p:spTree>
    <p:extLst>
      <p:ext uri="{BB962C8B-B14F-4D97-AF65-F5344CB8AC3E}">
        <p14:creationId xmlns:p14="http://schemas.microsoft.com/office/powerpoint/2010/main" val="4528897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気持ちの想像因子得点についてです。過去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年間の月平均の読書量</a:t>
            </a:r>
            <a:r>
              <a:rPr lang="ja-JP" altLang="en-US" sz="1200">
                <a:latin typeface="UDDigiKyokasho ProN R" panose="02020400000000000000" pitchFamily="18" charset="-128"/>
                <a:ea typeface="UDDigiKyokasho ProN R" panose="02020400000000000000" pitchFamily="18" charset="-128"/>
              </a:rPr>
              <a:t>は、「気持ちの想像」因子得点を上昇させたことが示唆されました。このことから、読書習慣があることで、他者の立場に立って気持ちを想像することが上昇した可能性が推察されました。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年間の読書量のほかに、</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と読書ポジティブ尺度得点の交互作用項目が有意だったため、単純傾斜の検定を行いました。</a:t>
            </a:r>
            <a:endParaRPr kumimoji="1" lang="en-US" altLang="ja-JP" sz="1200" dirty="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21</a:t>
            </a:fld>
            <a:endParaRPr kumimoji="1" lang="ja-JP" altLang="en-US"/>
          </a:p>
        </p:txBody>
      </p:sp>
    </p:spTree>
    <p:extLst>
      <p:ext uri="{BB962C8B-B14F-4D97-AF65-F5344CB8AC3E}">
        <p14:creationId xmlns:p14="http://schemas.microsoft.com/office/powerpoint/2010/main" val="10798457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気持ちの想像因子得点についてです。過去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年間の月平均の読書量</a:t>
            </a:r>
            <a:r>
              <a:rPr lang="ja-JP" altLang="en-US" sz="1200">
                <a:latin typeface="UDDigiKyokasho ProN R" panose="02020400000000000000" pitchFamily="18" charset="-128"/>
                <a:ea typeface="UDDigiKyokasho ProN R" panose="02020400000000000000" pitchFamily="18" charset="-128"/>
              </a:rPr>
              <a:t>は、「気持ちの想像」因子得点を上昇させたことが示唆されました。このことから、読書習慣があることで、他者の立場に立って気持ちを想像することが上昇した可能性が推察されました。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年間の読書量のほかに、</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と読書ポジティブ尺度得点の交互作用項目が有意だったため、単純傾斜の検定を行いました。</a:t>
            </a:r>
            <a:endParaRPr kumimoji="1" lang="en-US" altLang="ja-JP" sz="1200" dirty="0">
              <a:latin typeface="UDDigiKyokasho ProN R" panose="02020400000000000000" pitchFamily="18" charset="-128"/>
              <a:ea typeface="UDDigiKyokasho ProN R" panose="02020400000000000000" pitchFamily="18" charset="-128"/>
            </a:endParaRPr>
          </a:p>
          <a:p>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22</a:t>
            </a:fld>
            <a:endParaRPr kumimoji="1" lang="ja-JP" altLang="en-US"/>
          </a:p>
        </p:txBody>
      </p:sp>
    </p:spTree>
    <p:extLst>
      <p:ext uri="{BB962C8B-B14F-4D97-AF65-F5344CB8AC3E}">
        <p14:creationId xmlns:p14="http://schemas.microsoft.com/office/powerpoint/2010/main" val="4024750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a:latin typeface="UDDigiKyokasho ProN R" panose="02020400000000000000" pitchFamily="18" charset="-128"/>
                <a:ea typeface="UDDigiKyokasho ProN R" panose="02020400000000000000" pitchFamily="18" charset="-128"/>
              </a:rPr>
              <a:t>単純傾斜の検定の結果、読書ポジティブ高群における、</a:t>
            </a:r>
            <a:r>
              <a:rPr lang="en-US" altLang="ja-JP" sz="1200" dirty="0">
                <a:latin typeface="UDDigiKyokasho ProN R" panose="02020400000000000000" pitchFamily="18" charset="-128"/>
                <a:ea typeface="UDDigiKyokasho ProN R" panose="02020400000000000000" pitchFamily="18" charset="-128"/>
              </a:rPr>
              <a:t>ART</a:t>
            </a:r>
            <a:r>
              <a:rPr lang="ja-JP" altLang="en-US" sz="1200">
                <a:latin typeface="UDDigiKyokasho ProN R" panose="02020400000000000000" pitchFamily="18" charset="-128"/>
                <a:ea typeface="UDDigiKyokasho ProN R" panose="02020400000000000000" pitchFamily="18" charset="-128"/>
              </a:rPr>
              <a:t>の負の交互作用効果が有意に認められました。</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このことから、読書を娯楽として楽しみ、最近の作家を幅広く知っている人は、相手の立場に立って他者の気持ちを想像することが減っている可能性が示唆されました。</a:t>
            </a:r>
            <a:endParaRPr lang="en-US" altLang="ja-JP" sz="1200" dirty="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7C4CF7C7-0FD8-A045-BCBA-0E33E3F34576}" type="slidenum">
              <a:rPr kumimoji="1" lang="ja-JP" altLang="en-US" smtClean="0"/>
              <a:t>23</a:t>
            </a:fld>
            <a:endParaRPr kumimoji="1" lang="ja-JP" altLang="en-US"/>
          </a:p>
        </p:txBody>
      </p:sp>
    </p:spTree>
    <p:extLst>
      <p:ext uri="{BB962C8B-B14F-4D97-AF65-F5344CB8AC3E}">
        <p14:creationId xmlns:p14="http://schemas.microsoft.com/office/powerpoint/2010/main" val="507689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共感の個人的苦痛に入ります。</a:t>
            </a:r>
            <a:r>
              <a:rPr lang="en-US" altLang="ja-JP" sz="1200" dirty="0">
                <a:latin typeface="UDDigiKyokasho ProN R" panose="02020400000000000000" pitchFamily="18" charset="-128"/>
                <a:ea typeface="UDDigiKyokasho ProN R" panose="02020400000000000000" pitchFamily="18" charset="-128"/>
              </a:rPr>
              <a:t>ART</a:t>
            </a:r>
            <a:r>
              <a:rPr lang="ja-JP" altLang="en-US" sz="1200">
                <a:latin typeface="UDDigiKyokasho ProN R" panose="02020400000000000000" pitchFamily="18" charset="-128"/>
                <a:ea typeface="UDDigiKyokasho ProN R" panose="02020400000000000000" pitchFamily="18" charset="-128"/>
              </a:rPr>
              <a:t>の得点が高い人は、個人的苦痛の得点が情報したことが示唆されました。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このことから、最近のフィクション作家</a:t>
            </a:r>
            <a:r>
              <a:rPr lang="ja-JP" altLang="en-US" sz="1200">
                <a:latin typeface="UDDigiKyokasho ProN R" panose="02020400000000000000" pitchFamily="18" charset="-128"/>
                <a:ea typeface="UDDigiKyokasho ProN R" panose="02020400000000000000" pitchFamily="18" charset="-128"/>
              </a:rPr>
              <a:t>を多く知っている人は、辛い状況に置かれた他者を見ると、苦痛を感じやすくなる可能性が考えられます。</a:t>
            </a:r>
            <a:endParaRPr kumimoji="1" lang="ja-JP" altLang="en-US" sz="1200">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24</a:t>
            </a:fld>
            <a:endParaRPr kumimoji="1" lang="ja-JP" altLang="en-US"/>
          </a:p>
        </p:txBody>
      </p:sp>
    </p:spTree>
    <p:extLst>
      <p:ext uri="{BB962C8B-B14F-4D97-AF65-F5344CB8AC3E}">
        <p14:creationId xmlns:p14="http://schemas.microsoft.com/office/powerpoint/2010/main" val="3216034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共感の個人的苦痛に入ります。</a:t>
            </a:r>
            <a:r>
              <a:rPr lang="en-US" altLang="ja-JP" sz="1200" dirty="0">
                <a:latin typeface="UDDigiKyokasho ProN R" panose="02020400000000000000" pitchFamily="18" charset="-128"/>
                <a:ea typeface="UDDigiKyokasho ProN R" panose="02020400000000000000" pitchFamily="18" charset="-128"/>
              </a:rPr>
              <a:t>ART</a:t>
            </a:r>
            <a:r>
              <a:rPr lang="ja-JP" altLang="en-US" sz="1200">
                <a:latin typeface="UDDigiKyokasho ProN R" panose="02020400000000000000" pitchFamily="18" charset="-128"/>
                <a:ea typeface="UDDigiKyokasho ProN R" panose="02020400000000000000" pitchFamily="18" charset="-128"/>
              </a:rPr>
              <a:t>の得点が高い人は、個人的苦痛の得点が情報したことが示唆されました。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このことから、最近のフィクション作家</a:t>
            </a:r>
            <a:r>
              <a:rPr lang="ja-JP" altLang="en-US" sz="1200">
                <a:latin typeface="UDDigiKyokasho ProN R" panose="02020400000000000000" pitchFamily="18" charset="-128"/>
                <a:ea typeface="UDDigiKyokasho ProN R" panose="02020400000000000000" pitchFamily="18" charset="-128"/>
              </a:rPr>
              <a:t>を多く知っている人は、辛い状況に置かれた他者を見ると、苦痛を感じやすくなる可能性が考えられます。</a:t>
            </a:r>
            <a:endParaRPr kumimoji="1" lang="ja-JP" altLang="en-US" sz="1200">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25</a:t>
            </a:fld>
            <a:endParaRPr kumimoji="1" lang="ja-JP" altLang="en-US"/>
          </a:p>
        </p:txBody>
      </p:sp>
    </p:spTree>
    <p:extLst>
      <p:ext uri="{BB962C8B-B14F-4D97-AF65-F5344CB8AC3E}">
        <p14:creationId xmlns:p14="http://schemas.microsoft.com/office/powerpoint/2010/main" val="34899552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表情の重回帰分析の結果と考察に入ります。</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本文とは、順番が変わってしまうのですが、まとまりからこちらを先にします。</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全ての表情の平均は、</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と</a:t>
            </a:r>
            <a:r>
              <a:rPr lang="ja-JP" altLang="en-US" sz="1200">
                <a:latin typeface="UDDigiKyokasho ProN R" panose="02020400000000000000" pitchFamily="18" charset="-128"/>
                <a:ea typeface="UDDigiKyokasho ProN R" panose="02020400000000000000" pitchFamily="18" charset="-128"/>
              </a:rPr>
              <a:t>直近</a:t>
            </a:r>
            <a:r>
              <a:rPr lang="en-US" altLang="ja-JP" sz="1200" dirty="0">
                <a:latin typeface="UDDigiKyokasho ProN R" panose="02020400000000000000" pitchFamily="18" charset="-128"/>
                <a:ea typeface="UDDigiKyokasho ProN R" panose="02020400000000000000" pitchFamily="18" charset="-128"/>
              </a:rPr>
              <a:t>1</a:t>
            </a:r>
            <a:r>
              <a:rPr lang="ja-JP" altLang="en-US" sz="1200">
                <a:latin typeface="UDDigiKyokasho ProN R" panose="02020400000000000000" pitchFamily="18" charset="-128"/>
                <a:ea typeface="UDDigiKyokasho ProN R" panose="02020400000000000000" pitchFamily="18" charset="-128"/>
              </a:rPr>
              <a:t>ヶ月間の読書量・月平均の読書量が関連しあいながら影響することが示唆されました。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相関分析の結果でも、直近</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ヶ月間の読書量と弱い正の相関があリマした。これらのことから、</a:t>
            </a:r>
            <a:r>
              <a:rPr lang="ja-JP" altLang="en-US" sz="1200">
                <a:latin typeface="UDDigiKyokasho ProN R" panose="02020400000000000000" pitchFamily="18" charset="-128"/>
                <a:ea typeface="UDDigiKyokasho ProN R" panose="02020400000000000000" pitchFamily="18" charset="-128"/>
              </a:rPr>
              <a:t>最近の読書量と読書週間の関連が表情からの感情の読み取りに影響を与えていることが示唆されました。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と</a:t>
            </a:r>
            <a:r>
              <a:rPr lang="ja-JP" altLang="en-US" sz="1200">
                <a:latin typeface="UDDigiKyokasho ProN R" panose="02020400000000000000" pitchFamily="18" charset="-128"/>
                <a:ea typeface="UDDigiKyokasho ProN R" panose="02020400000000000000" pitchFamily="18" charset="-128"/>
              </a:rPr>
              <a:t>直近</a:t>
            </a:r>
            <a:r>
              <a:rPr lang="en-US" altLang="ja-JP" sz="1200" dirty="0">
                <a:latin typeface="UDDigiKyokasho ProN R" panose="02020400000000000000" pitchFamily="18" charset="-128"/>
                <a:ea typeface="UDDigiKyokasho ProN R" panose="02020400000000000000" pitchFamily="18" charset="-128"/>
              </a:rPr>
              <a:t>1</a:t>
            </a:r>
            <a:r>
              <a:rPr lang="ja-JP" altLang="en-US" sz="1200">
                <a:latin typeface="UDDigiKyokasho ProN R" panose="02020400000000000000" pitchFamily="18" charset="-128"/>
                <a:ea typeface="UDDigiKyokasho ProN R" panose="02020400000000000000" pitchFamily="18" charset="-128"/>
              </a:rPr>
              <a:t>ヶ月間の読書量、</a:t>
            </a:r>
            <a:r>
              <a:rPr lang="en-US" altLang="ja-JP" sz="1200" dirty="0">
                <a:latin typeface="UDDigiKyokasho ProN R" panose="02020400000000000000" pitchFamily="18" charset="-128"/>
                <a:ea typeface="UDDigiKyokasho ProN R" panose="02020400000000000000" pitchFamily="18" charset="-128"/>
              </a:rPr>
              <a:t>ART</a:t>
            </a:r>
            <a:r>
              <a:rPr lang="ja-JP" altLang="en-US" sz="1200">
                <a:latin typeface="UDDigiKyokasho ProN R" panose="02020400000000000000" pitchFamily="18" charset="-128"/>
                <a:ea typeface="UDDigiKyokasho ProN R" panose="02020400000000000000" pitchFamily="18" charset="-128"/>
              </a:rPr>
              <a:t>と月平均の読書量の交互作用項目が有意だったため、単純傾斜の検定を行いました。その結果</a:t>
            </a:r>
            <a:r>
              <a:rPr kumimoji="1" lang="ja-JP" altLang="en-US" sz="1200">
                <a:latin typeface="UDDigiKyokasho ProN R" panose="02020400000000000000" pitchFamily="18" charset="-128"/>
                <a:ea typeface="UDDigiKyokasho ProN R" panose="02020400000000000000" pitchFamily="18" charset="-128"/>
              </a:rPr>
              <a:t>、は次のスライドに移ります。</a:t>
            </a:r>
            <a:endParaRPr lang="en-US" altLang="ja-JP" sz="1200" dirty="0">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7C4CF7C7-0FD8-A045-BCBA-0E33E3F34576}" type="slidenum">
              <a:rPr kumimoji="1" lang="ja-JP" altLang="en-US" smtClean="0"/>
              <a:t>26</a:t>
            </a:fld>
            <a:endParaRPr kumimoji="1" lang="ja-JP" altLang="en-US"/>
          </a:p>
        </p:txBody>
      </p:sp>
    </p:spTree>
    <p:extLst>
      <p:ext uri="{BB962C8B-B14F-4D97-AF65-F5344CB8AC3E}">
        <p14:creationId xmlns:p14="http://schemas.microsoft.com/office/powerpoint/2010/main" val="18937771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まず、過去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年間の月平均の読書量が多い群において、</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が高いと表情平均が上昇していたことがわかりました。</a:t>
            </a:r>
            <a:endParaRPr kumimoji="1"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このことから、読書習慣があり、最近のフィクション作品に興味がある人は、表情の読み取りが全体的にできた可能性が示唆されました。</a:t>
            </a:r>
            <a:endParaRPr kumimoji="1" lang="ja-JP" altLang="en-US" sz="120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27</a:t>
            </a:fld>
            <a:endParaRPr kumimoji="1" lang="ja-JP" altLang="en-US"/>
          </a:p>
        </p:txBody>
      </p:sp>
    </p:spTree>
    <p:extLst>
      <p:ext uri="{BB962C8B-B14F-4D97-AF65-F5344CB8AC3E}">
        <p14:creationId xmlns:p14="http://schemas.microsoft.com/office/powerpoint/2010/main" val="1160085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次に、嫌悪表情について入ります。</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ここでは、直近</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ヶ月間の読書量で有意傾向が認められたものの、他では認められませんでした。</a:t>
            </a:r>
            <a:endParaRPr kumimoji="1"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また、直近</a:t>
            </a:r>
            <a:r>
              <a:rPr lang="en-US" altLang="ja-JP" sz="1200" dirty="0">
                <a:latin typeface="UDDigiKyokasho ProN R" panose="02020400000000000000" pitchFamily="18" charset="-128"/>
                <a:ea typeface="UDDigiKyokasho ProN R" panose="02020400000000000000" pitchFamily="18" charset="-128"/>
              </a:rPr>
              <a:t>1</a:t>
            </a:r>
            <a:r>
              <a:rPr lang="ja-JP" altLang="en-US" sz="1200">
                <a:latin typeface="UDDigiKyokasho ProN R" panose="02020400000000000000" pitchFamily="18" charset="-128"/>
                <a:ea typeface="UDDigiKyokasho ProN R" panose="02020400000000000000" pitchFamily="18" charset="-128"/>
              </a:rPr>
              <a:t>ヶ月間の読書量と過去</a:t>
            </a:r>
            <a:r>
              <a:rPr lang="en-US" altLang="ja-JP" sz="1200" dirty="0">
                <a:latin typeface="UDDigiKyokasho ProN R" panose="02020400000000000000" pitchFamily="18" charset="-128"/>
                <a:ea typeface="UDDigiKyokasho ProN R" panose="02020400000000000000" pitchFamily="18" charset="-128"/>
              </a:rPr>
              <a:t>1</a:t>
            </a:r>
            <a:r>
              <a:rPr lang="ja-JP" altLang="en-US" sz="1200">
                <a:latin typeface="UDDigiKyokasho ProN R" panose="02020400000000000000" pitchFamily="18" charset="-128"/>
                <a:ea typeface="UDDigiKyokasho ProN R" panose="02020400000000000000" pitchFamily="18" charset="-128"/>
              </a:rPr>
              <a:t>年間の月平均の読書量の交互作用項目は有意だったことから、単純傾斜の検定を行い、次のスライドのようになりました。</a:t>
            </a:r>
            <a:endParaRPr kumimoji="1" lang="ja-JP" altLang="en-US" sz="120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28</a:t>
            </a:fld>
            <a:endParaRPr kumimoji="1" lang="ja-JP" altLang="en-US"/>
          </a:p>
        </p:txBody>
      </p:sp>
    </p:spTree>
    <p:extLst>
      <p:ext uri="{BB962C8B-B14F-4D97-AF65-F5344CB8AC3E}">
        <p14:creationId xmlns:p14="http://schemas.microsoft.com/office/powerpoint/2010/main" val="326422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年間の月平均の読書量が少なかった人で、直近</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ヶ月間の読書量が多い人は、嫌悪表情がよく読み取れていたことが示唆されました。</a:t>
            </a:r>
            <a:endParaRPr kumimoji="1"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この理由として、嫌悪は、忌避の感覚とされており、排除反応と回避反応が含むものだとされているため、普段は本をあまり読まないが、直近</a:t>
            </a:r>
            <a:r>
              <a:rPr lang="en-US" altLang="ja-JP" sz="1200" dirty="0">
                <a:latin typeface="UDDigiKyokasho ProN R" panose="02020400000000000000" pitchFamily="18" charset="-128"/>
                <a:ea typeface="UDDigiKyokasho ProN R" panose="02020400000000000000" pitchFamily="18" charset="-128"/>
              </a:rPr>
              <a:t>1</a:t>
            </a:r>
            <a:r>
              <a:rPr lang="ja-JP" altLang="en-US" sz="1200">
                <a:latin typeface="UDDigiKyokasho ProN R" panose="02020400000000000000" pitchFamily="18" charset="-128"/>
                <a:ea typeface="UDDigiKyokasho ProN R" panose="02020400000000000000" pitchFamily="18" charset="-128"/>
              </a:rPr>
              <a:t>ヶ月間の間に本を読む量が増えたことが影響を及ぼしたことが影響を及ぼした可能性が示唆されました。</a:t>
            </a:r>
            <a:endParaRPr lang="en-US" altLang="ja-JP" sz="1200" dirty="0">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29</a:t>
            </a:fld>
            <a:endParaRPr kumimoji="1" lang="ja-JP" altLang="en-US"/>
          </a:p>
        </p:txBody>
      </p:sp>
    </p:spTree>
    <p:extLst>
      <p:ext uri="{BB962C8B-B14F-4D97-AF65-F5344CB8AC3E}">
        <p14:creationId xmlns:p14="http://schemas.microsoft.com/office/powerpoint/2010/main" val="36870867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悲しみについて入ります。直近</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ヶ月間の読書量が悲しみ表情の読み取りを上昇させている可能性が示唆されました。</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このことから、</a:t>
            </a:r>
            <a:r>
              <a:rPr lang="ja-JP" altLang="en-US" sz="1200">
                <a:latin typeface="UDDigiKyokasho ProN R" panose="02020400000000000000" pitchFamily="18" charset="-128"/>
                <a:ea typeface="UDDigiKyokasho ProN R" panose="02020400000000000000" pitchFamily="18" charset="-128"/>
              </a:rPr>
              <a:t>最近本をよく読んでいたことで、悲しみの表情がよく読み取れていたのではないかと考えられます。</a:t>
            </a:r>
            <a:endParaRPr kumimoji="1" lang="ja-JP" altLang="en-US" sz="120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30</a:t>
            </a:fld>
            <a:endParaRPr kumimoji="1" lang="ja-JP" altLang="en-US"/>
          </a:p>
        </p:txBody>
      </p:sp>
    </p:spTree>
    <p:extLst>
      <p:ext uri="{BB962C8B-B14F-4D97-AF65-F5344CB8AC3E}">
        <p14:creationId xmlns:p14="http://schemas.microsoft.com/office/powerpoint/2010/main" val="3083358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・直近</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ヶ月間の読書量が悲しみ表情の読み取りを上昇させた</a:t>
            </a:r>
            <a:endParaRPr kumimoji="1"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→最近本をよく読んでいたことで、悲しみの表情がよく読み取れていた</a:t>
            </a:r>
            <a:endParaRPr kumimoji="1" lang="ja-JP" altLang="en-US" sz="120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31</a:t>
            </a:fld>
            <a:endParaRPr kumimoji="1" lang="ja-JP" altLang="en-US"/>
          </a:p>
        </p:txBody>
      </p:sp>
    </p:spTree>
    <p:extLst>
      <p:ext uri="{BB962C8B-B14F-4D97-AF65-F5344CB8AC3E}">
        <p14:creationId xmlns:p14="http://schemas.microsoft.com/office/powerpoint/2010/main" val="4252437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と読書ポジティブ、直近</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ヶ月間の読書量と過去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年間の読書量の月平均の交互作用項目が有意だったため、単純傾斜の検定を行いました。その結果は次のスライドに移ります。</a:t>
            </a: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32</a:t>
            </a:fld>
            <a:endParaRPr kumimoji="1" lang="ja-JP" altLang="en-US"/>
          </a:p>
        </p:txBody>
      </p:sp>
    </p:spTree>
    <p:extLst>
      <p:ext uri="{BB962C8B-B14F-4D97-AF65-F5344CB8AC3E}">
        <p14:creationId xmlns:p14="http://schemas.microsoft.com/office/powerpoint/2010/main" val="420734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・読書ポジティブ</a:t>
            </a:r>
            <a:r>
              <a:rPr lang="ja-JP" altLang="en-US" sz="1200">
                <a:latin typeface="UDDigiKyokasho ProN R" panose="02020400000000000000" pitchFamily="18" charset="-128"/>
                <a:ea typeface="UDDigiKyokasho ProN R" panose="02020400000000000000" pitchFamily="18" charset="-128"/>
              </a:rPr>
              <a:t>高低の両方で</a:t>
            </a:r>
            <a:r>
              <a:rPr kumimoji="1" lang="ja-JP" altLang="en-US" sz="1200">
                <a:latin typeface="UDDigiKyokasho ProN R" panose="02020400000000000000" pitchFamily="18" charset="-128"/>
                <a:ea typeface="UDDigiKyokasho ProN R" panose="02020400000000000000" pitchFamily="18" charset="-128"/>
              </a:rPr>
              <a:t>読書ポジティブの交互作用効果が認められました。</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このことから、最近のフィクション作品の筆者をよく知っている人は、読書を娯楽として楽しんでいると恐れ表情に気が付きにくくなり、反対にフィクション作品の筆者をよく知らない人で、読書を娯楽として楽しんでいると恐れ表情の読み取りが上昇した可能性が示唆されました。</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そして、読書をポジティブに捉え、娯楽として楽しんでいることと、最近のフィクション作品の作家をよく知っていることは、相補的に恐れ表情の読み取りに寄与していると考えています。</a:t>
            </a:r>
          </a:p>
          <a:p>
            <a:endParaRPr kumimoji="1" lang="ja-JP" altLang="en-US"/>
          </a:p>
        </p:txBody>
      </p:sp>
      <p:sp>
        <p:nvSpPr>
          <p:cNvPr id="4" name="スライド番号プレースホルダー 3"/>
          <p:cNvSpPr>
            <a:spLocks noGrp="1"/>
          </p:cNvSpPr>
          <p:nvPr>
            <p:ph type="sldNum" sz="quarter" idx="5"/>
          </p:nvPr>
        </p:nvSpPr>
        <p:spPr/>
        <p:txBody>
          <a:bodyPr/>
          <a:lstStyle/>
          <a:p>
            <a:fld id="{7C4CF7C7-0FD8-A045-BCBA-0E33E3F34576}" type="slidenum">
              <a:rPr kumimoji="1" lang="ja-JP" altLang="en-US" smtClean="0"/>
              <a:t>33</a:t>
            </a:fld>
            <a:endParaRPr kumimoji="1" lang="ja-JP" altLang="en-US"/>
          </a:p>
        </p:txBody>
      </p:sp>
    </p:spTree>
    <p:extLst>
      <p:ext uri="{BB962C8B-B14F-4D97-AF65-F5344CB8AC3E}">
        <p14:creationId xmlns:p14="http://schemas.microsoft.com/office/powerpoint/2010/main" val="9026604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恐れに入ります。</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過去</a:t>
            </a:r>
            <a:r>
              <a:rPr kumimoji="1" lang="en-US" altLang="ja-JP" sz="1200" dirty="0">
                <a:latin typeface="UDDigiKyokasho ProN R" panose="02020400000000000000" pitchFamily="18" charset="-128"/>
                <a:ea typeface="UDDigiKyokasho ProN R" panose="02020400000000000000" pitchFamily="18" charset="-128"/>
              </a:rPr>
              <a:t>1</a:t>
            </a:r>
            <a:r>
              <a:rPr kumimoji="1" lang="ja-JP" altLang="en-US" sz="1200">
                <a:latin typeface="UDDigiKyokasho ProN R" panose="02020400000000000000" pitchFamily="18" charset="-128"/>
                <a:ea typeface="UDDigiKyokasho ProN R" panose="02020400000000000000" pitchFamily="18" charset="-128"/>
              </a:rPr>
              <a:t>年間の月平均の</a:t>
            </a:r>
            <a:r>
              <a:rPr lang="ja-JP" altLang="en-US" sz="1200">
                <a:latin typeface="UDDigiKyokasho ProN R" panose="02020400000000000000" pitchFamily="18" charset="-128"/>
                <a:ea typeface="UDDigiKyokasho ProN R" panose="02020400000000000000" pitchFamily="18" charset="-128"/>
              </a:rPr>
              <a:t>読書量が多い人で直近</a:t>
            </a:r>
            <a:r>
              <a:rPr lang="en-US" altLang="ja-JP" sz="1200" dirty="0">
                <a:latin typeface="UDDigiKyokasho ProN R" panose="02020400000000000000" pitchFamily="18" charset="-128"/>
                <a:ea typeface="UDDigiKyokasho ProN R" panose="02020400000000000000" pitchFamily="18" charset="-128"/>
              </a:rPr>
              <a:t>1</a:t>
            </a:r>
            <a:r>
              <a:rPr lang="ja-JP" altLang="en-US" sz="1200">
                <a:latin typeface="UDDigiKyokasho ProN R" panose="02020400000000000000" pitchFamily="18" charset="-128"/>
                <a:ea typeface="UDDigiKyokasho ProN R" panose="02020400000000000000" pitchFamily="18" charset="-128"/>
              </a:rPr>
              <a:t>ヶ月間の読書量が多い人は、恐れ表情の読み取りが有意に低かったことが示唆されました。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このことから、普段から読書習慣があり、読書を最近もしていることで、恐れ表情の読み取りが低くなったと推測しています。</a:t>
            </a:r>
          </a:p>
          <a:p>
            <a:endParaRPr kumimoji="1" lang="ja-JP" altLang="en-US"/>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34</a:t>
            </a:fld>
            <a:endParaRPr kumimoji="1" lang="ja-JP" altLang="en-US"/>
          </a:p>
        </p:txBody>
      </p:sp>
    </p:spTree>
    <p:extLst>
      <p:ext uri="{BB962C8B-B14F-4D97-AF65-F5344CB8AC3E}">
        <p14:creationId xmlns:p14="http://schemas.microsoft.com/office/powerpoint/2010/main" val="38447570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a:latin typeface="UDDigiKyokasho ProN R" panose="02020400000000000000" pitchFamily="18" charset="-128"/>
                <a:ea typeface="UDDigiKyokasho ProN R" panose="02020400000000000000" pitchFamily="18" charset="-128"/>
              </a:rPr>
              <a:t>表情の結果と考察のまとめになります。</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表情の読み取りに与える影響としては、嫌悪・恐れ・悲しみに何らかの読書指標の効果があることが示唆されました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しかし、同じネガティブ感情である怒りの読み取りに関しては、読書はいかなる影響も及ぼさなかったことが示唆されました。</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また、怒りや幸せ、驚き表情は、他の表情とは異なる性質を持った感情であり、読み取りやすかったため、読書の影響が認められなかった可能性も考えられます。</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また、嫌悪に関しては、普段から読書をする習慣のない人で、直近に多くの本を読んだ場合に限られていました。</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これは、嫌悪が他の感情とも共通点を持ち、怒りとも関連するという指摘を踏まえると、援助行動や共感を誘発する感情とは必ずしもいえず、そのために限定的な影響に留まった可能性が考えられます。</a:t>
            </a:r>
            <a:endParaRPr lang="en-US" altLang="ja-JP" sz="1200" dirty="0">
              <a:latin typeface="UDDigiKyokasho ProN R" panose="02020400000000000000" pitchFamily="18" charset="-128"/>
              <a:ea typeface="UDDigiKyokasho ProN R" panose="02020400000000000000" pitchFamily="18" charset="-128"/>
            </a:endParaRPr>
          </a:p>
          <a:p>
            <a:endParaRPr lang="en-US" altLang="ja-JP" sz="1200" dirty="0">
              <a:latin typeface="UDDigiKyokasho ProN R" panose="02020400000000000000" pitchFamily="18" charset="-128"/>
              <a:ea typeface="UDDigiKyokasho ProN R" panose="02020400000000000000" pitchFamily="18"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7C4CF7C7-0FD8-A045-BCBA-0E33E3F34576}" type="slidenum">
              <a:rPr kumimoji="1" lang="ja-JP" altLang="en-US" smtClean="0"/>
              <a:t>35</a:t>
            </a:fld>
            <a:endParaRPr kumimoji="1" lang="ja-JP" altLang="en-US"/>
          </a:p>
        </p:txBody>
      </p:sp>
    </p:spTree>
    <p:extLst>
      <p:ext uri="{BB962C8B-B14F-4D97-AF65-F5344CB8AC3E}">
        <p14:creationId xmlns:p14="http://schemas.microsoft.com/office/powerpoint/2010/main" val="17999936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a:latin typeface="UDDigiKyokasho ProN R" panose="02020400000000000000" pitchFamily="18" charset="-128"/>
                <a:ea typeface="UDDigiKyokasho ProN R" panose="02020400000000000000" pitchFamily="18" charset="-128"/>
              </a:rPr>
              <a:t>課題と展望については、次のようになります。</a:t>
            </a:r>
            <a:endParaRPr kumimoji="1" lang="en-US" altLang="ja-JP" sz="1200" dirty="0">
              <a:latin typeface="UDDigiKyokasho ProN R" panose="02020400000000000000" pitchFamily="18" charset="-128"/>
              <a:ea typeface="UDDigiKyokasho ProN R" panose="02020400000000000000" pitchFamily="18" charset="-128"/>
            </a:endParaRPr>
          </a:p>
          <a:p>
            <a:r>
              <a:rPr kumimoji="1" lang="ja-JP" altLang="en-US" sz="1200">
                <a:latin typeface="UDDigiKyokasho ProN R" panose="02020400000000000000" pitchFamily="18" charset="-128"/>
                <a:ea typeface="UDDigiKyokasho ProN R" panose="02020400000000000000" pitchFamily="18" charset="-128"/>
              </a:rPr>
              <a:t>まず、</a:t>
            </a:r>
            <a:r>
              <a:rPr kumimoji="1" lang="en-US" altLang="ja-JP" sz="1200" dirty="0">
                <a:latin typeface="UDDigiKyokasho ProN R" panose="02020400000000000000" pitchFamily="18" charset="-128"/>
                <a:ea typeface="UDDigiKyokasho ProN R" panose="02020400000000000000" pitchFamily="18" charset="-128"/>
              </a:rPr>
              <a:t>Mar et al.,(2006)</a:t>
            </a:r>
            <a:r>
              <a:rPr kumimoji="1" lang="ja-JP" altLang="en-US" sz="1200">
                <a:latin typeface="UDDigiKyokasho ProN R" panose="02020400000000000000" pitchFamily="18" charset="-128"/>
                <a:ea typeface="UDDigiKyokasho ProN R" panose="02020400000000000000" pitchFamily="18" charset="-128"/>
              </a:rPr>
              <a:t>と異なったファンタジーと</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との相関が認められず、個人的苦痛が</a:t>
            </a:r>
            <a:r>
              <a:rPr kumimoji="1" lang="en-US" altLang="ja-JP" sz="1200" dirty="0">
                <a:latin typeface="UDDigiKyokasho ProN R" panose="02020400000000000000" pitchFamily="18" charset="-128"/>
                <a:ea typeface="UDDigiKyokasho ProN R" panose="02020400000000000000" pitchFamily="18" charset="-128"/>
              </a:rPr>
              <a:t>ART</a:t>
            </a:r>
            <a:r>
              <a:rPr kumimoji="1" lang="ja-JP" altLang="en-US" sz="1200">
                <a:latin typeface="UDDigiKyokasho ProN R" panose="02020400000000000000" pitchFamily="18" charset="-128"/>
                <a:ea typeface="UDDigiKyokasho ProN R" panose="02020400000000000000" pitchFamily="18" charset="-128"/>
              </a:rPr>
              <a:t>と相関していた理由については今後の課題となります。</a:t>
            </a:r>
            <a:endParaRPr kumimoji="1"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また、感情の評価をグリッド式で行なっていなかったため、怒り・幸せ・驚きの関連が認められなかった理由がわかっていないため、今後の課題となります。</a:t>
            </a:r>
            <a:endParaRPr lang="en-US" altLang="ja-JP" sz="1200" dirty="0">
              <a:latin typeface="UDDigiKyokasho ProN R" panose="02020400000000000000" pitchFamily="18" charset="-128"/>
              <a:ea typeface="UDDigiKyokasho ProN R" panose="02020400000000000000" pitchFamily="18"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UDDigiKyokasho ProN R" panose="02020400000000000000" pitchFamily="18" charset="-128"/>
                <a:ea typeface="UDDigiKyokasho ProN R" panose="02020400000000000000" pitchFamily="18" charset="-128"/>
              </a:rPr>
              <a:t>これは、感情の評価で正解率が高く、データのばらつきがなかっため分析にかけられなかった</a:t>
            </a:r>
            <a:endParaRPr lang="en-US" altLang="ja-JP" sz="1200" dirty="0">
              <a:latin typeface="UDDigiKyokasho ProN R" panose="02020400000000000000" pitchFamily="18" charset="-128"/>
              <a:ea typeface="UDDigiKyokasho ProN R" panose="02020400000000000000" pitchFamily="18" charset="-128"/>
            </a:endParaRPr>
          </a:p>
          <a:p>
            <a:r>
              <a:rPr lang="ja-JP" altLang="en-US" sz="1200">
                <a:latin typeface="UDDigiKyokasho ProN R" panose="02020400000000000000" pitchFamily="18" charset="-128"/>
                <a:ea typeface="UDDigiKyokasho ProN R" panose="02020400000000000000" pitchFamily="18" charset="-128"/>
              </a:rPr>
              <a:t>これらについては、本研究で使用していなかった、普段読んでいる作品のジャンルや読書スタイルなどの指標とともに調査することで、詳細な理由がわかるのではないかと考えます。</a:t>
            </a:r>
            <a:endParaRPr lang="en-US" altLang="ja-JP" sz="1200" dirty="0">
              <a:latin typeface="UDDigiKyokasho ProN R" panose="02020400000000000000" pitchFamily="18" charset="-128"/>
              <a:ea typeface="UDDigiKyokasho ProN R" panose="02020400000000000000" pitchFamily="18" charset="-128"/>
            </a:endParaRPr>
          </a:p>
        </p:txBody>
      </p:sp>
      <p:sp>
        <p:nvSpPr>
          <p:cNvPr id="4" name="スライド番号プレースホルダー 3"/>
          <p:cNvSpPr>
            <a:spLocks noGrp="1"/>
          </p:cNvSpPr>
          <p:nvPr>
            <p:ph type="sldNum" sz="quarter" idx="5"/>
          </p:nvPr>
        </p:nvSpPr>
        <p:spPr/>
        <p:txBody>
          <a:bodyPr/>
          <a:lstStyle/>
          <a:p>
            <a:fld id="{FCE59573-2307-6246-94F1-7EFD63F2431F}" type="slidenum">
              <a:rPr kumimoji="1" lang="ja-JP" altLang="en-US" smtClean="0"/>
              <a:t>36</a:t>
            </a:fld>
            <a:endParaRPr kumimoji="1" lang="ja-JP" altLang="en-US"/>
          </a:p>
        </p:txBody>
      </p:sp>
    </p:spTree>
    <p:extLst>
      <p:ext uri="{BB962C8B-B14F-4D97-AF65-F5344CB8AC3E}">
        <p14:creationId xmlns:p14="http://schemas.microsoft.com/office/powerpoint/2010/main" val="3975800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59C921-B51B-1FFD-3CD4-290833100CA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C0958AB-C04D-ADEF-FF53-901A772315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877EE91-E165-4E1E-0AB2-EF086C337DA3}"/>
              </a:ext>
            </a:extLst>
          </p:cNvPr>
          <p:cNvSpPr>
            <a:spLocks noGrp="1"/>
          </p:cNvSpPr>
          <p:nvPr>
            <p:ph type="dt" sz="half" idx="10"/>
          </p:nvPr>
        </p:nvSpPr>
        <p:spPr/>
        <p:txBody>
          <a:bodyPr/>
          <a:lstStyle/>
          <a:p>
            <a:fld id="{4BA14F6F-36F5-334A-909D-5321CA9D1369}" type="datetime1">
              <a:rPr kumimoji="1" lang="ja-JP" altLang="en-US" smtClean="0"/>
              <a:t>2026/1/24</a:t>
            </a:fld>
            <a:endParaRPr kumimoji="1" lang="ja-JP" altLang="en-US"/>
          </a:p>
        </p:txBody>
      </p:sp>
      <p:sp>
        <p:nvSpPr>
          <p:cNvPr id="5" name="フッター プレースホルダー 4">
            <a:extLst>
              <a:ext uri="{FF2B5EF4-FFF2-40B4-BE49-F238E27FC236}">
                <a16:creationId xmlns:a16="http://schemas.microsoft.com/office/drawing/2014/main" id="{3ACB7A63-893D-12C5-68F0-2E04C1F681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335BFD-CA44-539E-5E5F-0FA01B9ADA79}"/>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3325336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D3C732-5DE7-1224-A255-F25A766543F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A81E043-8361-94CC-13F6-F56626BDD4C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EEA457-A9E6-3204-FAD3-6DF5E5241B44}"/>
              </a:ext>
            </a:extLst>
          </p:cNvPr>
          <p:cNvSpPr>
            <a:spLocks noGrp="1"/>
          </p:cNvSpPr>
          <p:nvPr>
            <p:ph type="dt" sz="half" idx="10"/>
          </p:nvPr>
        </p:nvSpPr>
        <p:spPr/>
        <p:txBody>
          <a:bodyPr/>
          <a:lstStyle/>
          <a:p>
            <a:fld id="{A7CAD03C-E405-664F-82CA-83E4BE42D157}" type="datetime1">
              <a:rPr kumimoji="1" lang="ja-JP" altLang="en-US" smtClean="0"/>
              <a:t>2026/1/24</a:t>
            </a:fld>
            <a:endParaRPr kumimoji="1" lang="ja-JP" altLang="en-US"/>
          </a:p>
        </p:txBody>
      </p:sp>
      <p:sp>
        <p:nvSpPr>
          <p:cNvPr id="5" name="フッター プレースホルダー 4">
            <a:extLst>
              <a:ext uri="{FF2B5EF4-FFF2-40B4-BE49-F238E27FC236}">
                <a16:creationId xmlns:a16="http://schemas.microsoft.com/office/drawing/2014/main" id="{14CF8E4D-881D-D0C1-1919-EE37533789A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AA3D098-A4F7-8B42-6894-71441415B6A1}"/>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1501289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1C69F8-CDEA-B8E1-C0DB-4F69CED362D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50A51FF-D0B6-1FA0-0FAF-45DD13CAA8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0D40F69-E7EC-1BFE-6947-915CE822656C}"/>
              </a:ext>
            </a:extLst>
          </p:cNvPr>
          <p:cNvSpPr>
            <a:spLocks noGrp="1"/>
          </p:cNvSpPr>
          <p:nvPr>
            <p:ph type="dt" sz="half" idx="10"/>
          </p:nvPr>
        </p:nvSpPr>
        <p:spPr/>
        <p:txBody>
          <a:bodyPr/>
          <a:lstStyle/>
          <a:p>
            <a:fld id="{BCB78F4E-0DA9-2F4C-B40B-451D3723B3F5}" type="datetime1">
              <a:rPr kumimoji="1" lang="ja-JP" altLang="en-US" smtClean="0"/>
              <a:t>2026/1/24</a:t>
            </a:fld>
            <a:endParaRPr kumimoji="1" lang="ja-JP" altLang="en-US"/>
          </a:p>
        </p:txBody>
      </p:sp>
      <p:sp>
        <p:nvSpPr>
          <p:cNvPr id="5" name="フッター プレースホルダー 4">
            <a:extLst>
              <a:ext uri="{FF2B5EF4-FFF2-40B4-BE49-F238E27FC236}">
                <a16:creationId xmlns:a16="http://schemas.microsoft.com/office/drawing/2014/main" id="{8DCA9EDC-6052-2ED0-4CD3-1CE4B99DBEE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E042354-D253-328B-2699-9A28E5DDA5E0}"/>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3151987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78D09F-4D56-1074-7F69-5891486D79F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9F7975A-95F5-D35D-DF76-D7280143F94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03DF335-FF36-4251-FCF1-1D8E9F84770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7122758-41C3-9229-36FF-D353D943A599}"/>
              </a:ext>
            </a:extLst>
          </p:cNvPr>
          <p:cNvSpPr>
            <a:spLocks noGrp="1"/>
          </p:cNvSpPr>
          <p:nvPr>
            <p:ph type="dt" sz="half" idx="10"/>
          </p:nvPr>
        </p:nvSpPr>
        <p:spPr/>
        <p:txBody>
          <a:bodyPr/>
          <a:lstStyle/>
          <a:p>
            <a:fld id="{ED121158-AA30-B04A-A5DE-C7D277D4FFE6}" type="datetime1">
              <a:rPr kumimoji="1" lang="ja-JP" altLang="en-US" smtClean="0"/>
              <a:t>2026/1/24</a:t>
            </a:fld>
            <a:endParaRPr kumimoji="1" lang="ja-JP" altLang="en-US"/>
          </a:p>
        </p:txBody>
      </p:sp>
      <p:sp>
        <p:nvSpPr>
          <p:cNvPr id="6" name="フッター プレースホルダー 5">
            <a:extLst>
              <a:ext uri="{FF2B5EF4-FFF2-40B4-BE49-F238E27FC236}">
                <a16:creationId xmlns:a16="http://schemas.microsoft.com/office/drawing/2014/main" id="{4FD4F7A8-8069-48E3-2BB8-410597F8482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E2BDF22-7B0B-C4D3-0D55-AE34597D5C61}"/>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56297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1A0FE9-5C5D-9611-3FB5-90CFE69360E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8358DD-8377-F0A9-C033-1455F5A244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7B49665-8335-61E8-F4C4-730D431CC5F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9F901D9-56EE-4B78-630D-77B67A830D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BF957D1-1B3E-0C03-BDF5-96EFE02A101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C6363E7-26B5-A3D4-6BED-1D70CD9244AA}"/>
              </a:ext>
            </a:extLst>
          </p:cNvPr>
          <p:cNvSpPr>
            <a:spLocks noGrp="1"/>
          </p:cNvSpPr>
          <p:nvPr>
            <p:ph type="dt" sz="half" idx="10"/>
          </p:nvPr>
        </p:nvSpPr>
        <p:spPr/>
        <p:txBody>
          <a:bodyPr/>
          <a:lstStyle/>
          <a:p>
            <a:fld id="{8229E8C8-FC0B-9242-ABF1-2EBBF3858515}" type="datetime1">
              <a:rPr kumimoji="1" lang="ja-JP" altLang="en-US" smtClean="0"/>
              <a:t>2026/1/24</a:t>
            </a:fld>
            <a:endParaRPr kumimoji="1" lang="ja-JP" altLang="en-US"/>
          </a:p>
        </p:txBody>
      </p:sp>
      <p:sp>
        <p:nvSpPr>
          <p:cNvPr id="8" name="フッター プレースホルダー 7">
            <a:extLst>
              <a:ext uri="{FF2B5EF4-FFF2-40B4-BE49-F238E27FC236}">
                <a16:creationId xmlns:a16="http://schemas.microsoft.com/office/drawing/2014/main" id="{6815ECC3-5D53-6364-07A8-414361298DF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C537726-47B1-3F4D-828F-A3BE5E962E6D}"/>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3561523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CEE887-A3F8-DCA2-DAD3-FD42A3B19C2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FB5FAA5-924C-766D-E3A9-1C528FB0843B}"/>
              </a:ext>
            </a:extLst>
          </p:cNvPr>
          <p:cNvSpPr>
            <a:spLocks noGrp="1"/>
          </p:cNvSpPr>
          <p:nvPr>
            <p:ph type="dt" sz="half" idx="10"/>
          </p:nvPr>
        </p:nvSpPr>
        <p:spPr/>
        <p:txBody>
          <a:bodyPr/>
          <a:lstStyle/>
          <a:p>
            <a:fld id="{06D5F09C-AB77-704C-BCB1-95D87F335FF0}" type="datetime1">
              <a:rPr kumimoji="1" lang="ja-JP" altLang="en-US" smtClean="0"/>
              <a:t>2026/1/24</a:t>
            </a:fld>
            <a:endParaRPr kumimoji="1" lang="ja-JP" altLang="en-US"/>
          </a:p>
        </p:txBody>
      </p:sp>
      <p:sp>
        <p:nvSpPr>
          <p:cNvPr id="4" name="フッター プレースホルダー 3">
            <a:extLst>
              <a:ext uri="{FF2B5EF4-FFF2-40B4-BE49-F238E27FC236}">
                <a16:creationId xmlns:a16="http://schemas.microsoft.com/office/drawing/2014/main" id="{E8A660F0-6FAA-6929-4D20-43A118A8982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993DE0A-E666-E153-C8D0-1A1267CE90B6}"/>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2894123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CA74C34-5A69-AC90-D5B9-31F6CEE80044}"/>
              </a:ext>
            </a:extLst>
          </p:cNvPr>
          <p:cNvSpPr>
            <a:spLocks noGrp="1"/>
          </p:cNvSpPr>
          <p:nvPr>
            <p:ph type="dt" sz="half" idx="10"/>
          </p:nvPr>
        </p:nvSpPr>
        <p:spPr/>
        <p:txBody>
          <a:bodyPr/>
          <a:lstStyle/>
          <a:p>
            <a:fld id="{BAAB4EB4-1018-7140-9335-DEC4E2F65EF6}" type="datetime1">
              <a:rPr kumimoji="1" lang="ja-JP" altLang="en-US" smtClean="0"/>
              <a:t>2026/1/24</a:t>
            </a:fld>
            <a:endParaRPr kumimoji="1" lang="ja-JP" altLang="en-US"/>
          </a:p>
        </p:txBody>
      </p:sp>
      <p:sp>
        <p:nvSpPr>
          <p:cNvPr id="3" name="フッター プレースホルダー 2">
            <a:extLst>
              <a:ext uri="{FF2B5EF4-FFF2-40B4-BE49-F238E27FC236}">
                <a16:creationId xmlns:a16="http://schemas.microsoft.com/office/drawing/2014/main" id="{62C86A4C-9480-DFD6-291E-6DCAB6A20BD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846A1D-A6FB-3B8B-5390-8B833DA372F3}"/>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2034750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F07868-2D85-2E0E-2D77-FE77F321C6E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8BDC098-AE31-281C-61C8-CF784979CF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C1DDC29-9452-7285-FE88-70F92BAFDC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8CD3487-70F8-0C0F-AD0C-AF10EE4BA52E}"/>
              </a:ext>
            </a:extLst>
          </p:cNvPr>
          <p:cNvSpPr>
            <a:spLocks noGrp="1"/>
          </p:cNvSpPr>
          <p:nvPr>
            <p:ph type="dt" sz="half" idx="10"/>
          </p:nvPr>
        </p:nvSpPr>
        <p:spPr/>
        <p:txBody>
          <a:bodyPr/>
          <a:lstStyle/>
          <a:p>
            <a:fld id="{48A5CD73-F187-6B41-8961-E6BAFC6BC1CB}" type="datetime1">
              <a:rPr kumimoji="1" lang="ja-JP" altLang="en-US" smtClean="0"/>
              <a:t>2026/1/24</a:t>
            </a:fld>
            <a:endParaRPr kumimoji="1" lang="ja-JP" altLang="en-US"/>
          </a:p>
        </p:txBody>
      </p:sp>
      <p:sp>
        <p:nvSpPr>
          <p:cNvPr id="6" name="フッター プレースホルダー 5">
            <a:extLst>
              <a:ext uri="{FF2B5EF4-FFF2-40B4-BE49-F238E27FC236}">
                <a16:creationId xmlns:a16="http://schemas.microsoft.com/office/drawing/2014/main" id="{A41B5950-9564-5D34-2046-034E3ECE6AC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F1AC8D4-EDEF-0259-F891-286532CFAD91}"/>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2957671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3C81D7-0B94-C22A-69DB-F82BAD23292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6B2C2FC-754E-BC36-4585-1E5D2657B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8CC1FEB-7172-B5B7-58CD-2A3E01789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B05CA93-7E77-31FC-BD93-902645A11C17}"/>
              </a:ext>
            </a:extLst>
          </p:cNvPr>
          <p:cNvSpPr>
            <a:spLocks noGrp="1"/>
          </p:cNvSpPr>
          <p:nvPr>
            <p:ph type="dt" sz="half" idx="10"/>
          </p:nvPr>
        </p:nvSpPr>
        <p:spPr/>
        <p:txBody>
          <a:bodyPr/>
          <a:lstStyle/>
          <a:p>
            <a:fld id="{E67EEA08-F3CE-8448-ABC5-85FFE7632502}" type="datetime1">
              <a:rPr kumimoji="1" lang="ja-JP" altLang="en-US" smtClean="0"/>
              <a:t>2026/1/24</a:t>
            </a:fld>
            <a:endParaRPr kumimoji="1" lang="ja-JP" altLang="en-US"/>
          </a:p>
        </p:txBody>
      </p:sp>
      <p:sp>
        <p:nvSpPr>
          <p:cNvPr id="6" name="フッター プレースホルダー 5">
            <a:extLst>
              <a:ext uri="{FF2B5EF4-FFF2-40B4-BE49-F238E27FC236}">
                <a16:creationId xmlns:a16="http://schemas.microsoft.com/office/drawing/2014/main" id="{84E56AE6-8DDE-6072-63D6-4504040A661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AA6DD75-8873-F4BA-C01B-6C12600BCCBE}"/>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303742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CBD8A5-26A0-AD2D-D3F5-BD9934B87F5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573CF76-0E6D-2E7D-8F9C-38C374BF610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EE2AB74-A5EB-1041-5368-FECD31D22106}"/>
              </a:ext>
            </a:extLst>
          </p:cNvPr>
          <p:cNvSpPr>
            <a:spLocks noGrp="1"/>
          </p:cNvSpPr>
          <p:nvPr>
            <p:ph type="dt" sz="half" idx="10"/>
          </p:nvPr>
        </p:nvSpPr>
        <p:spPr/>
        <p:txBody>
          <a:bodyPr/>
          <a:lstStyle/>
          <a:p>
            <a:fld id="{5FA6AF6F-4076-1741-83C5-A627D3C72663}" type="datetime1">
              <a:rPr kumimoji="1" lang="ja-JP" altLang="en-US" smtClean="0"/>
              <a:t>2026/1/24</a:t>
            </a:fld>
            <a:endParaRPr kumimoji="1" lang="ja-JP" altLang="en-US"/>
          </a:p>
        </p:txBody>
      </p:sp>
      <p:sp>
        <p:nvSpPr>
          <p:cNvPr id="5" name="フッター プレースホルダー 4">
            <a:extLst>
              <a:ext uri="{FF2B5EF4-FFF2-40B4-BE49-F238E27FC236}">
                <a16:creationId xmlns:a16="http://schemas.microsoft.com/office/drawing/2014/main" id="{B2E11509-A6BC-F490-FB52-615137B3403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10276D9-6892-319A-D38B-B015D53A86D3}"/>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1845510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5C78F4B-F32A-BD0F-323A-A6A27F415B0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6E99F3B-7704-8309-9FBD-3712A189B5F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E1CC449-EB92-F453-5711-EC34FD381D45}"/>
              </a:ext>
            </a:extLst>
          </p:cNvPr>
          <p:cNvSpPr>
            <a:spLocks noGrp="1"/>
          </p:cNvSpPr>
          <p:nvPr>
            <p:ph type="dt" sz="half" idx="10"/>
          </p:nvPr>
        </p:nvSpPr>
        <p:spPr/>
        <p:txBody>
          <a:bodyPr/>
          <a:lstStyle/>
          <a:p>
            <a:fld id="{8491F608-A832-7943-BAEA-37AED4CD1770}" type="datetime1">
              <a:rPr kumimoji="1" lang="ja-JP" altLang="en-US" smtClean="0"/>
              <a:t>2026/1/24</a:t>
            </a:fld>
            <a:endParaRPr kumimoji="1" lang="ja-JP" altLang="en-US"/>
          </a:p>
        </p:txBody>
      </p:sp>
      <p:sp>
        <p:nvSpPr>
          <p:cNvPr id="5" name="フッター プレースホルダー 4">
            <a:extLst>
              <a:ext uri="{FF2B5EF4-FFF2-40B4-BE49-F238E27FC236}">
                <a16:creationId xmlns:a16="http://schemas.microsoft.com/office/drawing/2014/main" id="{55080C17-F506-0C5E-AAF0-FA5F75F5B9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885B79-5593-F7D9-0CFB-1C1C9CEBCBF7}"/>
              </a:ext>
            </a:extLst>
          </p:cNvPr>
          <p:cNvSpPr>
            <a:spLocks noGrp="1"/>
          </p:cNvSpPr>
          <p:nvPr>
            <p:ph type="sldNum" sz="quarter" idx="12"/>
          </p:nvPr>
        </p:nvSpPr>
        <p:spPr/>
        <p:txBody>
          <a:body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3948022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C41B32C-C579-8971-ADBC-F10B0ADFC5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338DA41-6E10-66D3-4B22-229CE4B24C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24A7D1-A403-7379-0FB9-C79099FEA7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8B53A7-C646-EF42-9517-8056033E3086}" type="datetime1">
              <a:rPr kumimoji="1" lang="ja-JP" altLang="en-US" smtClean="0"/>
              <a:t>2026/1/24</a:t>
            </a:fld>
            <a:endParaRPr kumimoji="1" lang="ja-JP" altLang="en-US"/>
          </a:p>
        </p:txBody>
      </p:sp>
      <p:sp>
        <p:nvSpPr>
          <p:cNvPr id="5" name="フッター プレースホルダー 4">
            <a:extLst>
              <a:ext uri="{FF2B5EF4-FFF2-40B4-BE49-F238E27FC236}">
                <a16:creationId xmlns:a16="http://schemas.microsoft.com/office/drawing/2014/main" id="{0F7B9F56-2E60-7DC6-047C-587667D8A7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9FD2760-FD75-C771-7EA3-C613ADE94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C8AD93-AF02-5041-8E58-A9BB2AEEDA08}" type="slidenum">
              <a:rPr kumimoji="1" lang="ja-JP" altLang="en-US" smtClean="0"/>
              <a:t>‹#›</a:t>
            </a:fld>
            <a:endParaRPr kumimoji="1" lang="ja-JP" altLang="en-US"/>
          </a:p>
        </p:txBody>
      </p:sp>
    </p:spTree>
    <p:extLst>
      <p:ext uri="{BB962C8B-B14F-4D97-AF65-F5344CB8AC3E}">
        <p14:creationId xmlns:p14="http://schemas.microsoft.com/office/powerpoint/2010/main" val="780636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0C552096-69DD-CA3C-C5BF-705A90069BCC}"/>
              </a:ext>
            </a:extLst>
          </p:cNvPr>
          <p:cNvSpPr txBox="1">
            <a:spLocks/>
          </p:cNvSpPr>
          <p:nvPr/>
        </p:nvSpPr>
        <p:spPr>
          <a:xfrm>
            <a:off x="571500" y="1928542"/>
            <a:ext cx="11334749" cy="159690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ja-JP" altLang="en-US" sz="5400">
                <a:latin typeface="UDDigiKyokasho ProN R" panose="02020400000000000000" pitchFamily="18" charset="-128"/>
                <a:ea typeface="UDDigiKyokasho ProN R" panose="02020400000000000000" pitchFamily="18" charset="-128"/>
              </a:rPr>
              <a:t>フィクション作品の読書経験と</a:t>
            </a:r>
            <a:endParaRPr lang="en-US" altLang="ja-JP" sz="5400" dirty="0">
              <a:latin typeface="UDDigiKyokasho ProN R" panose="02020400000000000000" pitchFamily="18" charset="-128"/>
              <a:ea typeface="UDDigiKyokasho ProN R" panose="02020400000000000000" pitchFamily="18" charset="-128"/>
            </a:endParaRPr>
          </a:p>
          <a:p>
            <a:r>
              <a:rPr lang="ja-JP" altLang="en-US" sz="5400">
                <a:latin typeface="UDDigiKyokasho ProN R" panose="02020400000000000000" pitchFamily="18" charset="-128"/>
                <a:ea typeface="UDDigiKyokasho ProN R" panose="02020400000000000000" pitchFamily="18" charset="-128"/>
              </a:rPr>
              <a:t>共感・マインドリーディングの関係</a:t>
            </a:r>
          </a:p>
        </p:txBody>
      </p:sp>
      <p:sp>
        <p:nvSpPr>
          <p:cNvPr id="7" name="タイトル 1">
            <a:extLst>
              <a:ext uri="{FF2B5EF4-FFF2-40B4-BE49-F238E27FC236}">
                <a16:creationId xmlns:a16="http://schemas.microsoft.com/office/drawing/2014/main" id="{4A410781-5653-87C9-6FB3-BEE89D60D816}"/>
              </a:ext>
            </a:extLst>
          </p:cNvPr>
          <p:cNvSpPr txBox="1">
            <a:spLocks/>
          </p:cNvSpPr>
          <p:nvPr/>
        </p:nvSpPr>
        <p:spPr>
          <a:xfrm>
            <a:off x="5921829" y="4189228"/>
            <a:ext cx="5471596" cy="159690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r>
              <a:rPr lang="en-US" altLang="ja-JP" dirty="0">
                <a:latin typeface="UDDigiKyokasho ProN R" panose="02020400000000000000" pitchFamily="18" charset="-128"/>
                <a:ea typeface="UDDigiKyokasho ProN R" panose="02020400000000000000" pitchFamily="18" charset="-128"/>
              </a:rPr>
              <a:t>2215051 </a:t>
            </a:r>
            <a:r>
              <a:rPr lang="ja-JP" altLang="en-US">
                <a:latin typeface="UDDigiKyokasho ProN R" panose="02020400000000000000" pitchFamily="18" charset="-128"/>
                <a:ea typeface="UDDigiKyokasho ProN R" panose="02020400000000000000" pitchFamily="18" charset="-128"/>
              </a:rPr>
              <a:t>高山 咲良</a:t>
            </a:r>
          </a:p>
        </p:txBody>
      </p:sp>
      <p:sp>
        <p:nvSpPr>
          <p:cNvPr id="3" name="スライド番号プレースホルダー 2">
            <a:extLst>
              <a:ext uri="{FF2B5EF4-FFF2-40B4-BE49-F238E27FC236}">
                <a16:creationId xmlns:a16="http://schemas.microsoft.com/office/drawing/2014/main" id="{A5B18960-3940-62FE-1D8D-DD927808A31D}"/>
              </a:ext>
            </a:extLst>
          </p:cNvPr>
          <p:cNvSpPr>
            <a:spLocks noGrp="1"/>
          </p:cNvSpPr>
          <p:nvPr>
            <p:ph type="sldNum" sz="quarter" idx="12"/>
          </p:nvPr>
        </p:nvSpPr>
        <p:spPr/>
        <p:txBody>
          <a:bodyPr/>
          <a:lstStyle/>
          <a:p>
            <a:fld id="{2EC8AD93-AF02-5041-8E58-A9BB2AEEDA08}" type="slidenum">
              <a:rPr kumimoji="1" lang="ja-JP" altLang="en-US" smtClean="0"/>
              <a:t>1</a:t>
            </a:fld>
            <a:endParaRPr kumimoji="1" lang="ja-JP" altLang="en-US"/>
          </a:p>
        </p:txBody>
      </p:sp>
    </p:spTree>
    <p:extLst>
      <p:ext uri="{BB962C8B-B14F-4D97-AF65-F5344CB8AC3E}">
        <p14:creationId xmlns:p14="http://schemas.microsoft.com/office/powerpoint/2010/main" val="2637678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932DA4-7E53-C49C-F1A6-4C8B63806CFC}"/>
              </a:ext>
            </a:extLst>
          </p:cNvPr>
          <p:cNvSpPr>
            <a:spLocks noGrp="1"/>
          </p:cNvSpPr>
          <p:nvPr>
            <p:ph type="title"/>
          </p:nvPr>
        </p:nvSpPr>
        <p:spPr>
          <a:xfrm>
            <a:off x="838200" y="365125"/>
            <a:ext cx="10515600" cy="1043051"/>
          </a:xfrm>
        </p:spPr>
        <p:txBody>
          <a:bodyPr/>
          <a:lstStyle/>
          <a:p>
            <a:r>
              <a:rPr kumimoji="1" lang="ja-JP" altLang="en-US" b="1">
                <a:latin typeface="UDDigiKyokasho ProN R" panose="02020400000000000000" pitchFamily="18" charset="-128"/>
                <a:ea typeface="UDDigiKyokasho ProN R" panose="02020400000000000000" pitchFamily="18" charset="-128"/>
              </a:rPr>
              <a:t>問題</a:t>
            </a:r>
          </a:p>
        </p:txBody>
      </p:sp>
      <p:sp>
        <p:nvSpPr>
          <p:cNvPr id="3" name="コンテンツ プレースホルダー 2">
            <a:extLst>
              <a:ext uri="{FF2B5EF4-FFF2-40B4-BE49-F238E27FC236}">
                <a16:creationId xmlns:a16="http://schemas.microsoft.com/office/drawing/2014/main" id="{D1C754A7-5DDB-84D1-F169-2B645E0F8675}"/>
              </a:ext>
            </a:extLst>
          </p:cNvPr>
          <p:cNvSpPr>
            <a:spLocks noGrp="1"/>
          </p:cNvSpPr>
          <p:nvPr>
            <p:ph idx="1"/>
          </p:nvPr>
        </p:nvSpPr>
        <p:spPr>
          <a:xfrm>
            <a:off x="838199" y="1408175"/>
            <a:ext cx="10776857" cy="4437453"/>
          </a:xfrm>
        </p:spPr>
        <p:txBody>
          <a:bodyPr>
            <a:normAutofit fontScale="92500" lnSpcReduction="10000"/>
          </a:bodyPr>
          <a:lstStyle/>
          <a:p>
            <a:pPr marL="0" indent="0">
              <a:buNone/>
            </a:pPr>
            <a:r>
              <a:rPr lang="ja-JP" altLang="en-US" sz="3200">
                <a:latin typeface="UDDigiKyokasho ProN R" panose="02020400000000000000" pitchFamily="18" charset="-128"/>
                <a:ea typeface="UDDigiKyokasho ProN R" panose="02020400000000000000" pitchFamily="18" charset="-128"/>
              </a:rPr>
              <a:t>・</a:t>
            </a:r>
            <a:r>
              <a:rPr kumimoji="1" lang="ja-JP" altLang="en-US" sz="3200">
                <a:latin typeface="UDDigiKyokasho ProN R" panose="02020400000000000000" pitchFamily="18" charset="-128"/>
                <a:ea typeface="UDDigiKyokasho ProN R" panose="02020400000000000000" pitchFamily="18" charset="-128"/>
              </a:rPr>
              <a:t>こどもの読書が推進されており</a:t>
            </a:r>
            <a:r>
              <a:rPr lang="ja-JP" altLang="en-US" sz="3200">
                <a:latin typeface="UDDigiKyokasho ProN R" panose="02020400000000000000" pitchFamily="18" charset="-128"/>
                <a:ea typeface="UDDigiKyokasho ProN R" panose="02020400000000000000" pitchFamily="18" charset="-128"/>
              </a:rPr>
              <a:t>、</a:t>
            </a:r>
            <a:r>
              <a:rPr lang="en-US" altLang="ja-JP" sz="3200" dirty="0">
                <a:latin typeface="UDDigiKyokasho ProN R" panose="02020400000000000000" pitchFamily="18" charset="-128"/>
                <a:ea typeface="UDDigiKyokasho ProN R" panose="02020400000000000000" pitchFamily="18" charset="-128"/>
                <a:cs typeface="Times New Roman" panose="02020603050405020304" pitchFamily="18" charset="0"/>
              </a:rPr>
              <a:t>2002</a:t>
            </a:r>
            <a:r>
              <a:rPr lang="ja-JP" altLang="en-US" sz="3200">
                <a:latin typeface="UDDigiKyokasho ProN R" panose="02020400000000000000" pitchFamily="18" charset="-128"/>
                <a:ea typeface="UDDigiKyokasho ProN R" panose="02020400000000000000" pitchFamily="18" charset="-128"/>
              </a:rPr>
              <a:t>年から始まった「子どもの読書活動の推進に関する基本的な計画」が第五次となり進められている</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kumimoji="1" lang="ja-JP" altLang="en-US" sz="3200">
                <a:latin typeface="UDDigiKyokasho ProN R" panose="02020400000000000000" pitchFamily="18" charset="-128"/>
                <a:ea typeface="UDDigiKyokasho ProN R" panose="02020400000000000000" pitchFamily="18" charset="-128"/>
              </a:rPr>
              <a:t>・しかし、子供を含めた全年齢層で読書離れは進んでいる</a:t>
            </a:r>
            <a:endParaRPr kumimoji="1"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例）学校教育：文部科学</a:t>
            </a:r>
            <a:r>
              <a:rPr lang="en-US" altLang="ja-JP" sz="3200" dirty="0">
                <a:latin typeface="UDDigiKyokasho ProN R" panose="02020400000000000000" pitchFamily="18" charset="-128"/>
                <a:ea typeface="UDDigiKyokasho ProN R" panose="02020400000000000000" pitchFamily="18" charset="-128"/>
                <a:cs typeface="Times New Roman" panose="02020603050405020304" pitchFamily="18" charset="0"/>
              </a:rPr>
              <a:t>(2025)</a:t>
            </a:r>
            <a:r>
              <a:rPr lang="ja-JP" altLang="en-US" sz="3200">
                <a:latin typeface="UDDigiKyokasho ProN R" panose="02020400000000000000" pitchFamily="18" charset="-128"/>
                <a:ea typeface="UDDigiKyokasho ProN R" panose="02020400000000000000" pitchFamily="18" charset="-128"/>
                <a:cs typeface="Times New Roman" panose="02020603050405020304" pitchFamily="18" charset="0"/>
              </a:rPr>
              <a:t>、</a:t>
            </a:r>
            <a:r>
              <a:rPr lang="en-US" altLang="ja-JP" sz="3200" dirty="0">
                <a:latin typeface="UDDigiKyokasho ProN R" panose="02020400000000000000" pitchFamily="18" charset="-128"/>
                <a:ea typeface="UDDigiKyokasho ProN R" panose="02020400000000000000" pitchFamily="18" charset="-128"/>
                <a:cs typeface="Times New Roman" panose="02020603050405020304" pitchFamily="18" charset="0"/>
              </a:rPr>
              <a:t>16</a:t>
            </a:r>
            <a:r>
              <a:rPr lang="ja-JP" altLang="en-US" sz="3200">
                <a:latin typeface="UDDigiKyokasho ProN R" panose="02020400000000000000" pitchFamily="18" charset="-128"/>
                <a:ea typeface="UDDigiKyokasho ProN R" panose="02020400000000000000" pitchFamily="18" charset="-128"/>
                <a:cs typeface="Times New Roman" panose="02020603050405020304" pitchFamily="18" charset="0"/>
              </a:rPr>
              <a:t>歳以上：文部庁国語科</a:t>
            </a:r>
            <a:r>
              <a:rPr lang="en-US" altLang="ja-JP" sz="3200" dirty="0">
                <a:latin typeface="UDDigiKyokasho ProN R" panose="02020400000000000000" pitchFamily="18" charset="-128"/>
                <a:ea typeface="UDDigiKyokasho ProN R" panose="02020400000000000000" pitchFamily="18" charset="-128"/>
                <a:cs typeface="Times New Roman" panose="02020603050405020304" pitchFamily="18" charset="0"/>
              </a:rPr>
              <a:t>(2024)</a:t>
            </a:r>
            <a:r>
              <a:rPr lang="ja-JP" altLang="en-US" sz="3200">
                <a:latin typeface="UDDigiKyokasho ProN R" panose="02020400000000000000" pitchFamily="18" charset="-128"/>
                <a:ea typeface="UDDigiKyokasho ProN R" panose="02020400000000000000" pitchFamily="18" charset="-128"/>
                <a:cs typeface="Times New Roman" panose="02020603050405020304" pitchFamily="18" charset="0"/>
              </a:rPr>
              <a:t>、大学生：一般社団法人応用脳科学コンソーシアムら</a:t>
            </a:r>
            <a:r>
              <a:rPr lang="en-US" altLang="ja-JP" sz="3200" dirty="0">
                <a:latin typeface="UDDigiKyokasho ProN R" panose="02020400000000000000" pitchFamily="18" charset="-128"/>
                <a:ea typeface="UDDigiKyokasho ProN R" panose="02020400000000000000" pitchFamily="18" charset="-128"/>
                <a:cs typeface="Times New Roman" panose="02020603050405020304" pitchFamily="18" charset="0"/>
              </a:rPr>
              <a:t>(2025)</a:t>
            </a:r>
          </a:p>
          <a:p>
            <a:pPr marL="0" indent="0">
              <a:buNone/>
            </a:pPr>
            <a:r>
              <a:rPr lang="ja-JP" altLang="en-US" sz="3200">
                <a:latin typeface="UDDigiKyokasho ProN R" panose="02020400000000000000" pitchFamily="18" charset="-128"/>
                <a:ea typeface="UDDigiKyokasho ProN R" panose="02020400000000000000" pitchFamily="18" charset="-128"/>
                <a:cs typeface="Times New Roman" panose="02020603050405020304" pitchFamily="18" charset="0"/>
              </a:rPr>
              <a:t>→この状況でも取り組みが行われている、調査が行われているのは、読書自体に対して、いいものだと考えられているからでは</a:t>
            </a:r>
            <a:endParaRPr lang="en-US" altLang="ja-JP" sz="3200" dirty="0">
              <a:latin typeface="UDDigiKyokasho ProN R" panose="02020400000000000000" pitchFamily="18" charset="-128"/>
              <a:ea typeface="UDDigiKyokasho ProN R" panose="02020400000000000000" pitchFamily="18" charset="-128"/>
              <a:cs typeface="Times New Roman" panose="02020603050405020304" pitchFamily="18" charset="0"/>
            </a:endParaRPr>
          </a:p>
          <a:p>
            <a:pPr marL="0" indent="0">
              <a:buNone/>
            </a:pPr>
            <a:endParaRPr lang="en-US" altLang="ja-JP" sz="3200" dirty="0">
              <a:latin typeface="UDDigiKyokasho ProN R" panose="02020400000000000000" pitchFamily="18" charset="-128"/>
              <a:ea typeface="UDDigiKyokasho ProN R" panose="02020400000000000000" pitchFamily="18" charset="-128"/>
              <a:cs typeface="Times New Roman" panose="02020603050405020304" pitchFamily="18" charset="0"/>
            </a:endParaRPr>
          </a:p>
        </p:txBody>
      </p:sp>
      <p:sp>
        <p:nvSpPr>
          <p:cNvPr id="5" name="スライド番号プレースホルダー 4">
            <a:extLst>
              <a:ext uri="{FF2B5EF4-FFF2-40B4-BE49-F238E27FC236}">
                <a16:creationId xmlns:a16="http://schemas.microsoft.com/office/drawing/2014/main" id="{D7C8A3AA-2460-58CC-BE2C-F391DC88DBFC}"/>
              </a:ext>
            </a:extLst>
          </p:cNvPr>
          <p:cNvSpPr>
            <a:spLocks noGrp="1"/>
          </p:cNvSpPr>
          <p:nvPr>
            <p:ph type="sldNum" sz="quarter" idx="12"/>
          </p:nvPr>
        </p:nvSpPr>
        <p:spPr/>
        <p:txBody>
          <a:bodyPr/>
          <a:lstStyle/>
          <a:p>
            <a:fld id="{2EC8AD93-AF02-5041-8E58-A9BB2AEEDA08}" type="slidenum">
              <a:rPr kumimoji="1" lang="ja-JP" altLang="en-US" smtClean="0"/>
              <a:t>2</a:t>
            </a:fld>
            <a:endParaRPr kumimoji="1" lang="ja-JP" altLang="en-US"/>
          </a:p>
        </p:txBody>
      </p:sp>
    </p:spTree>
    <p:extLst>
      <p:ext uri="{BB962C8B-B14F-4D97-AF65-F5344CB8AC3E}">
        <p14:creationId xmlns:p14="http://schemas.microsoft.com/office/powerpoint/2010/main" val="2813773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7A9C-744F-C4A7-3805-653839801A1A}"/>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48A661-30FF-D2F2-34D7-6D2B050D6D58}"/>
              </a:ext>
            </a:extLst>
          </p:cNvPr>
          <p:cNvSpPr>
            <a:spLocks noGrp="1"/>
          </p:cNvSpPr>
          <p:nvPr>
            <p:ph idx="1"/>
          </p:nvPr>
        </p:nvSpPr>
        <p:spPr>
          <a:xfrm>
            <a:off x="838200" y="1887966"/>
            <a:ext cx="10515600" cy="4405258"/>
          </a:xfrm>
        </p:spPr>
        <p:txBody>
          <a:bodyPr>
            <a:normAutofit/>
          </a:bodyPr>
          <a:lstStyle/>
          <a:p>
            <a:pPr marL="0" indent="0">
              <a:buNone/>
            </a:pPr>
            <a:r>
              <a:rPr lang="ja-JP" altLang="en-US">
                <a:latin typeface="UDDigiKyokasho ProN R" panose="02020400000000000000" pitchFamily="18" charset="-128"/>
                <a:ea typeface="UDDigiKyokasho ProN R" panose="02020400000000000000" pitchFamily="18" charset="-128"/>
                <a:cs typeface="Times New Roman" panose="02020603050405020304" pitchFamily="18" charset="0"/>
              </a:rPr>
              <a:t>・読書のいい影響についての研究は、能力面においてが主流でなされている</a:t>
            </a:r>
            <a:endParaRPr lang="en-US" altLang="ja-JP" dirty="0">
              <a:latin typeface="UDDigiKyokasho ProN R" panose="02020400000000000000" pitchFamily="18" charset="-128"/>
              <a:ea typeface="UDDigiKyokasho ProN R" panose="02020400000000000000" pitchFamily="18" charset="-128"/>
              <a:cs typeface="Times New Roman" panose="02020603050405020304" pitchFamily="18" charset="0"/>
            </a:endParaRPr>
          </a:p>
          <a:p>
            <a:pPr marL="0" indent="0">
              <a:buNone/>
            </a:pPr>
            <a:r>
              <a:rPr lang="ja-JP" altLang="en-US">
                <a:latin typeface="UDDigiKyokasho ProN R" panose="02020400000000000000" pitchFamily="18" charset="-128"/>
                <a:ea typeface="UDDigiKyokasho ProN R" panose="02020400000000000000" pitchFamily="18" charset="-128"/>
                <a:cs typeface="Times New Roman" panose="02020603050405020304" pitchFamily="18" charset="0"/>
              </a:rPr>
              <a:t>○言語能力</a:t>
            </a:r>
            <a:endParaRPr lang="en-US" altLang="ja-JP" dirty="0">
              <a:latin typeface="UDDigiKyokasho ProN R" panose="02020400000000000000" pitchFamily="18" charset="-128"/>
              <a:ea typeface="UDDigiKyokasho ProN R" panose="02020400000000000000" pitchFamily="18" charset="-128"/>
              <a:cs typeface="Times New Roman" panose="02020603050405020304" pitchFamily="18" charset="0"/>
            </a:endParaRPr>
          </a:p>
          <a:p>
            <a:pPr marL="0" indent="0">
              <a:buNone/>
            </a:pPr>
            <a:r>
              <a:rPr lang="ja-JP" altLang="en-US">
                <a:latin typeface="UDDigiKyokasho ProN R" panose="02020400000000000000" pitchFamily="18" charset="-128"/>
                <a:ea typeface="UDDigiKyokasho ProN R" panose="02020400000000000000" pitchFamily="18" charset="-128"/>
              </a:rPr>
              <a:t>・日常的な読書習慣と読解力の相関関係が認められた</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例）猪原ら</a:t>
            </a:r>
            <a:r>
              <a:rPr lang="en-US" altLang="ja-JP" dirty="0">
                <a:latin typeface="UDDigiKyokasho ProN R" panose="02020400000000000000" pitchFamily="18" charset="-128"/>
                <a:ea typeface="UDDigiKyokasho ProN R" panose="02020400000000000000" pitchFamily="18" charset="-128"/>
              </a:rPr>
              <a:t>(2015)</a:t>
            </a:r>
            <a:r>
              <a:rPr lang="ja-JP" altLang="en-US">
                <a:latin typeface="UDDigiKyokasho ProN R" panose="02020400000000000000" pitchFamily="18" charset="-128"/>
                <a:ea typeface="UDDigiKyokasho ProN R" panose="02020400000000000000" pitchFamily="18" charset="-128"/>
              </a:rPr>
              <a:t>、一般社団法人応用脳科学コンソーシアムら</a:t>
            </a:r>
            <a:r>
              <a:rPr lang="en-US" altLang="ja-JP" dirty="0">
                <a:latin typeface="UDDigiKyokasho ProN R" panose="02020400000000000000" pitchFamily="18" charset="-128"/>
                <a:ea typeface="UDDigiKyokasho ProN R" panose="02020400000000000000" pitchFamily="18" charset="-128"/>
              </a:rPr>
              <a:t>(2025)</a:t>
            </a:r>
          </a:p>
          <a:p>
            <a:pPr marL="0" indent="0">
              <a:buNone/>
            </a:pPr>
            <a:r>
              <a:rPr lang="ja-JP" altLang="en-US">
                <a:latin typeface="UDDigiKyokasho ProN R" panose="02020400000000000000" pitchFamily="18" charset="-128"/>
                <a:ea typeface="UDDigiKyokasho ProN R" panose="02020400000000000000" pitchFamily="18" charset="-128"/>
              </a:rPr>
              <a:t>→読書量が多いことで、言語能力が発達するということがわかっている</a:t>
            </a:r>
            <a:endParaRPr lang="en-US" altLang="ja-JP" dirty="0">
              <a:latin typeface="UDDigiKyokasho ProN R" panose="02020400000000000000" pitchFamily="18" charset="-128"/>
              <a:ea typeface="UDDigiKyokasho ProN R" panose="02020400000000000000" pitchFamily="18" charset="-128"/>
            </a:endParaRPr>
          </a:p>
        </p:txBody>
      </p:sp>
      <p:sp>
        <p:nvSpPr>
          <p:cNvPr id="8" name="タイトル 1">
            <a:extLst>
              <a:ext uri="{FF2B5EF4-FFF2-40B4-BE49-F238E27FC236}">
                <a16:creationId xmlns:a16="http://schemas.microsoft.com/office/drawing/2014/main" id="{DA5CFDBE-65F8-4DF7-5B50-9053D8DC1604}"/>
              </a:ext>
            </a:extLst>
          </p:cNvPr>
          <p:cNvSpPr>
            <a:spLocks noGrp="1"/>
          </p:cNvSpPr>
          <p:nvPr>
            <p:ph type="title"/>
          </p:nvPr>
        </p:nvSpPr>
        <p:spPr>
          <a:xfrm>
            <a:off x="838200" y="365125"/>
            <a:ext cx="10515600" cy="1372235"/>
          </a:xfrm>
        </p:spPr>
        <p:txBody>
          <a:bodyPr>
            <a:normAutofit/>
          </a:bodyPr>
          <a:lstStyle/>
          <a:p>
            <a:r>
              <a:rPr kumimoji="1" lang="ja-JP" altLang="en-US" b="1">
                <a:latin typeface="UDDigiKyokasho ProN R" panose="02020400000000000000" pitchFamily="18" charset="-128"/>
                <a:ea typeface="UDDigiKyokasho ProN R" panose="02020400000000000000" pitchFamily="18" charset="-128"/>
              </a:rPr>
              <a:t>問題</a:t>
            </a:r>
            <a:r>
              <a:rPr lang="ja-JP" altLang="en-US" sz="3600" b="1">
                <a:latin typeface="UDDigiKyokasho ProN R" panose="02020400000000000000" pitchFamily="18" charset="-128"/>
                <a:ea typeface="UDDigiKyokasho ProN R" panose="02020400000000000000" pitchFamily="18" charset="-128"/>
              </a:rPr>
              <a:t>：</a:t>
            </a:r>
            <a:r>
              <a:rPr kumimoji="1" lang="ja-JP" altLang="en-US" sz="3600" b="1">
                <a:latin typeface="UDDigiKyokasho ProN R" panose="02020400000000000000" pitchFamily="18" charset="-128"/>
                <a:ea typeface="UDDigiKyokasho ProN R" panose="02020400000000000000" pitchFamily="18" charset="-128"/>
              </a:rPr>
              <a:t>読書による影響</a:t>
            </a:r>
            <a:endParaRPr kumimoji="1" lang="ja-JP" altLang="en-US" b="1">
              <a:latin typeface="UDDigiKyokasho ProN R" panose="02020400000000000000" pitchFamily="18" charset="-128"/>
              <a:ea typeface="UDDigiKyokasho ProN R" panose="02020400000000000000" pitchFamily="18" charset="-128"/>
            </a:endParaRPr>
          </a:p>
        </p:txBody>
      </p:sp>
      <p:sp>
        <p:nvSpPr>
          <p:cNvPr id="4" name="スライド番号プレースホルダー 3">
            <a:extLst>
              <a:ext uri="{FF2B5EF4-FFF2-40B4-BE49-F238E27FC236}">
                <a16:creationId xmlns:a16="http://schemas.microsoft.com/office/drawing/2014/main" id="{C50F3E2D-E8D7-B306-4820-B78B535203C1}"/>
              </a:ext>
            </a:extLst>
          </p:cNvPr>
          <p:cNvSpPr>
            <a:spLocks noGrp="1"/>
          </p:cNvSpPr>
          <p:nvPr>
            <p:ph type="sldNum" sz="quarter" idx="12"/>
          </p:nvPr>
        </p:nvSpPr>
        <p:spPr/>
        <p:txBody>
          <a:bodyPr/>
          <a:lstStyle/>
          <a:p>
            <a:fld id="{2EC8AD93-AF02-5041-8E58-A9BB2AEEDA08}" type="slidenum">
              <a:rPr kumimoji="1" lang="ja-JP" altLang="en-US" smtClean="0"/>
              <a:t>3</a:t>
            </a:fld>
            <a:endParaRPr kumimoji="1" lang="ja-JP" altLang="en-US"/>
          </a:p>
        </p:txBody>
      </p:sp>
    </p:spTree>
    <p:extLst>
      <p:ext uri="{BB962C8B-B14F-4D97-AF65-F5344CB8AC3E}">
        <p14:creationId xmlns:p14="http://schemas.microsoft.com/office/powerpoint/2010/main" val="1796087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A29AF-8E08-377A-B051-F649B68CA4DF}"/>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A3A5F66-3DE8-561B-FEBD-23C8D4253588}"/>
              </a:ext>
            </a:extLst>
          </p:cNvPr>
          <p:cNvSpPr>
            <a:spLocks noGrp="1"/>
          </p:cNvSpPr>
          <p:nvPr>
            <p:ph idx="1"/>
          </p:nvPr>
        </p:nvSpPr>
        <p:spPr>
          <a:xfrm>
            <a:off x="859972" y="1646673"/>
            <a:ext cx="10515600" cy="2762041"/>
          </a:xfrm>
        </p:spPr>
        <p:txBody>
          <a:bodyPr>
            <a:normAutofit/>
          </a:bodyPr>
          <a:lstStyle/>
          <a:p>
            <a:pPr marL="0" indent="0">
              <a:buNone/>
            </a:pPr>
            <a:endParaRPr lang="en-US" altLang="ja-JP" sz="700" dirty="0">
              <a:latin typeface="UDDigiKyokasho ProN R" panose="02020400000000000000" pitchFamily="18" charset="-128"/>
              <a:ea typeface="UDDigiKyokasho ProN R" panose="02020400000000000000" pitchFamily="18" charset="-128"/>
            </a:endParaRPr>
          </a:p>
          <a:p>
            <a:pPr marL="0" indent="0">
              <a:buNone/>
            </a:pPr>
            <a:r>
              <a:rPr kumimoji="1" lang="ja-JP" altLang="en-US">
                <a:latin typeface="UDDigiKyokasho ProN R" panose="02020400000000000000" pitchFamily="18" charset="-128"/>
                <a:ea typeface="UDDigiKyokasho ProN R" panose="02020400000000000000" pitchFamily="18" charset="-128"/>
              </a:rPr>
              <a:t>○心理的な影響</a:t>
            </a:r>
            <a:endParaRPr kumimoji="1" lang="en-US" altLang="ja-JP" dirty="0">
              <a:latin typeface="UDDigiKyokasho ProN R" panose="02020400000000000000" pitchFamily="18" charset="-128"/>
              <a:ea typeface="UDDigiKyokasho ProN R" panose="02020400000000000000" pitchFamily="18" charset="-128"/>
            </a:endParaRPr>
          </a:p>
          <a:p>
            <a:pPr marL="0" indent="0">
              <a:buNone/>
            </a:pPr>
            <a:r>
              <a:rPr kumimoji="1" lang="ja-JP" altLang="en-US">
                <a:latin typeface="UDDigiKyokasho ProN R" panose="02020400000000000000" pitchFamily="18" charset="-128"/>
                <a:ea typeface="UDDigiKyokasho ProN R" panose="02020400000000000000" pitchFamily="18" charset="-128"/>
              </a:rPr>
              <a:t>・青柳・上長</a:t>
            </a:r>
            <a:r>
              <a:rPr kumimoji="1" lang="en-US" altLang="ja-JP" dirty="0">
                <a:latin typeface="UDDigiKyokasho ProN R" panose="02020400000000000000" pitchFamily="18" charset="-128"/>
                <a:ea typeface="UDDigiKyokasho ProN R" panose="02020400000000000000" pitchFamily="18" charset="-128"/>
              </a:rPr>
              <a:t>(2015)</a:t>
            </a:r>
            <a:r>
              <a:rPr kumimoji="1" lang="ja-JP" altLang="en-US">
                <a:latin typeface="UDDigiKyokasho ProN R" panose="02020400000000000000" pitchFamily="18" charset="-128"/>
                <a:ea typeface="UDDigiKyokasho ProN R" panose="02020400000000000000" pitchFamily="18" charset="-128"/>
              </a:rPr>
              <a:t>によれば、心理的に不利であるとされる状況であっても、感情移入して読書することによって、心理的適応が促進され、心のサポートになっているのではないかということが考察されて</a:t>
            </a:r>
            <a:r>
              <a:rPr lang="ja-JP" altLang="en-US">
                <a:latin typeface="UDDigiKyokasho ProN R" panose="02020400000000000000" pitchFamily="18" charset="-128"/>
                <a:ea typeface="UDDigiKyokasho ProN R" panose="02020400000000000000" pitchFamily="18" charset="-128"/>
              </a:rPr>
              <a:t>いる</a:t>
            </a:r>
            <a:endParaRPr kumimoji="1" lang="ja-JP" altLang="en-US">
              <a:latin typeface="UDDigiKyokasho ProN R" panose="02020400000000000000" pitchFamily="18" charset="-128"/>
              <a:ea typeface="UDDigiKyokasho ProN R" panose="02020400000000000000" pitchFamily="18" charset="-128"/>
            </a:endParaRPr>
          </a:p>
        </p:txBody>
      </p:sp>
      <p:sp>
        <p:nvSpPr>
          <p:cNvPr id="4" name="タイトル 1">
            <a:extLst>
              <a:ext uri="{FF2B5EF4-FFF2-40B4-BE49-F238E27FC236}">
                <a16:creationId xmlns:a16="http://schemas.microsoft.com/office/drawing/2014/main" id="{E3BE96E7-D4F2-E60D-1820-FD46AFC767B2}"/>
              </a:ext>
            </a:extLst>
          </p:cNvPr>
          <p:cNvSpPr>
            <a:spLocks noGrp="1"/>
          </p:cNvSpPr>
          <p:nvPr>
            <p:ph type="title"/>
          </p:nvPr>
        </p:nvSpPr>
        <p:spPr>
          <a:xfrm>
            <a:off x="805542" y="421972"/>
            <a:ext cx="10515600" cy="1325563"/>
          </a:xfrm>
        </p:spPr>
        <p:txBody>
          <a:bodyPr>
            <a:normAutofit/>
          </a:bodyPr>
          <a:lstStyle/>
          <a:p>
            <a:r>
              <a:rPr kumimoji="1" lang="ja-JP" altLang="en-US" b="1">
                <a:latin typeface="UDDigiKyokasho ProN R" panose="02020400000000000000" pitchFamily="18" charset="-128"/>
                <a:ea typeface="UDDigiKyokasho ProN R" panose="02020400000000000000" pitchFamily="18" charset="-128"/>
              </a:rPr>
              <a:t>問題</a:t>
            </a:r>
            <a:r>
              <a:rPr lang="ja-JP" altLang="en-US" sz="3600" b="1">
                <a:latin typeface="UDDigiKyokasho ProN R" panose="02020400000000000000" pitchFamily="18" charset="-128"/>
                <a:ea typeface="UDDigiKyokasho ProN R" panose="02020400000000000000" pitchFamily="18" charset="-128"/>
              </a:rPr>
              <a:t>：</a:t>
            </a:r>
            <a:r>
              <a:rPr kumimoji="1" lang="ja-JP" altLang="en-US" sz="3600" b="1">
                <a:latin typeface="UDDigiKyokasho ProN R" panose="02020400000000000000" pitchFamily="18" charset="-128"/>
                <a:ea typeface="UDDigiKyokasho ProN R" panose="02020400000000000000" pitchFamily="18" charset="-128"/>
              </a:rPr>
              <a:t>読書による影響</a:t>
            </a:r>
            <a:endParaRPr kumimoji="1" lang="ja-JP" altLang="en-US" b="1">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0DA44D97-2C86-4C14-0C77-92CAC402A028}"/>
              </a:ext>
            </a:extLst>
          </p:cNvPr>
          <p:cNvSpPr>
            <a:spLocks noGrp="1"/>
          </p:cNvSpPr>
          <p:nvPr>
            <p:ph type="sldNum" sz="quarter" idx="12"/>
          </p:nvPr>
        </p:nvSpPr>
        <p:spPr/>
        <p:txBody>
          <a:bodyPr/>
          <a:lstStyle/>
          <a:p>
            <a:fld id="{2EC8AD93-AF02-5041-8E58-A9BB2AEEDA08}" type="slidenum">
              <a:rPr kumimoji="1" lang="ja-JP" altLang="en-US" smtClean="0"/>
              <a:t>4</a:t>
            </a:fld>
            <a:endParaRPr kumimoji="1" lang="ja-JP" altLang="en-US"/>
          </a:p>
        </p:txBody>
      </p:sp>
    </p:spTree>
    <p:extLst>
      <p:ext uri="{BB962C8B-B14F-4D97-AF65-F5344CB8AC3E}">
        <p14:creationId xmlns:p14="http://schemas.microsoft.com/office/powerpoint/2010/main" val="3671324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98D29-A8D0-9EA3-F6B9-D0BAD1A8CE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997584-CE34-6585-EA4B-0506F2FCFE83}"/>
              </a:ext>
            </a:extLst>
          </p:cNvPr>
          <p:cNvSpPr>
            <a:spLocks noGrp="1"/>
          </p:cNvSpPr>
          <p:nvPr>
            <p:ph type="title"/>
          </p:nvPr>
        </p:nvSpPr>
        <p:spPr>
          <a:xfrm>
            <a:off x="838200" y="190949"/>
            <a:ext cx="10515600" cy="1325563"/>
          </a:xfrm>
        </p:spPr>
        <p:txBody>
          <a:bodyPr/>
          <a:lstStyle/>
          <a:p>
            <a:r>
              <a:rPr lang="ja-JP" altLang="en-US" b="1">
                <a:latin typeface="UDDigiKyokasho ProN R" panose="02020400000000000000" pitchFamily="18" charset="-128"/>
                <a:ea typeface="UDDigiKyokasho ProN R" panose="02020400000000000000" pitchFamily="18" charset="-128"/>
              </a:rPr>
              <a:t>問題</a:t>
            </a:r>
            <a:r>
              <a:rPr lang="ja-JP" altLang="en-US" sz="3200">
                <a:latin typeface="UDDigiKyokasho ProN R" panose="02020400000000000000" pitchFamily="18" charset="-128"/>
                <a:ea typeface="UDDigiKyokasho ProN R" panose="02020400000000000000" pitchFamily="18" charset="-128"/>
              </a:rPr>
              <a:t>：</a:t>
            </a:r>
            <a:r>
              <a:rPr lang="ja-JP" altLang="en-US" sz="3200" b="1">
                <a:latin typeface="UDDigiKyokasho ProN R" panose="02020400000000000000" pitchFamily="18" charset="-128"/>
                <a:ea typeface="UDDigiKyokasho ProN R" panose="02020400000000000000" pitchFamily="18" charset="-128"/>
              </a:rPr>
              <a:t>共感・マインドリーディング</a:t>
            </a:r>
            <a:endParaRPr kumimoji="1" lang="ja-JP" altLang="en-US" b="1">
              <a:latin typeface="UDDigiKyokasho ProN R" panose="02020400000000000000" pitchFamily="18" charset="-128"/>
              <a:ea typeface="UDDigiKyokasho ProN R" panose="02020400000000000000" pitchFamily="18" charset="-128"/>
            </a:endParaRPr>
          </a:p>
        </p:txBody>
      </p:sp>
      <p:sp>
        <p:nvSpPr>
          <p:cNvPr id="3" name="コンテンツ プレースホルダー 2">
            <a:extLst>
              <a:ext uri="{FF2B5EF4-FFF2-40B4-BE49-F238E27FC236}">
                <a16:creationId xmlns:a16="http://schemas.microsoft.com/office/drawing/2014/main" id="{4F6BBB31-B7F1-3B53-4CBE-23DB2994D7FB}"/>
              </a:ext>
            </a:extLst>
          </p:cNvPr>
          <p:cNvSpPr>
            <a:spLocks noGrp="1"/>
          </p:cNvSpPr>
          <p:nvPr>
            <p:ph idx="1"/>
          </p:nvPr>
        </p:nvSpPr>
        <p:spPr>
          <a:xfrm>
            <a:off x="838200" y="1142994"/>
            <a:ext cx="10515600" cy="5055960"/>
          </a:xfrm>
        </p:spPr>
        <p:txBody>
          <a:bodyPr>
            <a:normAutofit fontScale="92500" lnSpcReduction="10000"/>
          </a:bodyPr>
          <a:lstStyle/>
          <a:p>
            <a:pPr marL="0" indent="0">
              <a:buNone/>
            </a:pPr>
            <a:r>
              <a:rPr lang="ja-JP" altLang="en-US" sz="3200">
                <a:latin typeface="UDDigiKyokasho ProN R" panose="02020400000000000000" pitchFamily="18" charset="-128"/>
                <a:ea typeface="UDDigiKyokasho ProN R" panose="02020400000000000000" pitchFamily="18" charset="-128"/>
              </a:rPr>
              <a:t>○共感の定義</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kumimoji="1" lang="ja-JP" altLang="en-US" sz="3200">
                <a:latin typeface="UDDigiKyokasho ProN R" panose="02020400000000000000" pitchFamily="18" charset="-128"/>
                <a:ea typeface="UDDigiKyokasho ProN R" panose="02020400000000000000" pitchFamily="18" charset="-128"/>
              </a:rPr>
              <a:t>・</a:t>
            </a:r>
            <a:r>
              <a:rPr lang="en-US" altLang="ja-JP" sz="3200" dirty="0">
                <a:latin typeface="UDDigiKyokasho ProN R" panose="02020400000000000000" pitchFamily="18" charset="-128"/>
                <a:ea typeface="UDDigiKyokasho ProN R" panose="02020400000000000000" pitchFamily="18" charset="-128"/>
              </a:rPr>
              <a:t>Davis(1980)</a:t>
            </a:r>
            <a:r>
              <a:rPr lang="ja-JP" altLang="en-US" sz="3200">
                <a:latin typeface="UDDigiKyokasho ProN R" panose="02020400000000000000" pitchFamily="18" charset="-128"/>
                <a:ea typeface="UDDigiKyokasho ProN R" panose="02020400000000000000" pitchFamily="18" charset="-128"/>
              </a:rPr>
              <a:t>の多次元的な共感生の尺度</a:t>
            </a:r>
            <a:r>
              <a:rPr lang="en-US" altLang="ja-JP" sz="3200" dirty="0">
                <a:latin typeface="UDDigiKyokasho ProN R" panose="02020400000000000000" pitchFamily="18" charset="-128"/>
                <a:ea typeface="UDDigiKyokasho ProN R" panose="02020400000000000000" pitchFamily="18" charset="-128"/>
              </a:rPr>
              <a:t>(Interpersonal Reactivity </a:t>
            </a:r>
            <a:r>
              <a:rPr lang="en-US" altLang="ja-JP" sz="3200" dirty="0" err="1">
                <a:latin typeface="UDDigiKyokasho ProN R" panose="02020400000000000000" pitchFamily="18" charset="-128"/>
                <a:ea typeface="UDDigiKyokasho ProN R" panose="02020400000000000000" pitchFamily="18" charset="-128"/>
              </a:rPr>
              <a:t>Index:IRI</a:t>
            </a:r>
            <a:r>
              <a:rPr lang="en-US" altLang="ja-JP" sz="3200" dirty="0">
                <a:latin typeface="UDDigiKyokasho ProN R" panose="02020400000000000000" pitchFamily="18" charset="-128"/>
                <a:ea typeface="UDDigiKyokasho ProN R" panose="02020400000000000000" pitchFamily="18" charset="-128"/>
              </a:rPr>
              <a:t>)</a:t>
            </a:r>
            <a:r>
              <a:rPr lang="ja-JP" altLang="en-US" sz="3200">
                <a:latin typeface="UDDigiKyokasho ProN R" panose="02020400000000000000" pitchFamily="18" charset="-128"/>
                <a:ea typeface="UDDigiKyokasho ProN R" panose="02020400000000000000" pitchFamily="18" charset="-128"/>
              </a:rPr>
              <a:t>によれば、共感は、主にファンタジーと視点取得、共感的関心、個人的苦痛の４つに分類される。</a:t>
            </a:r>
            <a:endParaRPr lang="en-US" altLang="ja-JP" sz="3200" dirty="0">
              <a:latin typeface="UDDigiKyokasho ProN R" panose="02020400000000000000" pitchFamily="18" charset="-128"/>
              <a:ea typeface="UDDigiKyokasho ProN R" panose="02020400000000000000" pitchFamily="18" charset="-128"/>
            </a:endParaRPr>
          </a:p>
          <a:p>
            <a:pPr marL="457200" lvl="1" indent="0">
              <a:buNone/>
            </a:pPr>
            <a:r>
              <a:rPr kumimoji="1" lang="ja-JP" altLang="en-US" sz="2800">
                <a:latin typeface="UDDigiKyokasho ProN R" panose="02020400000000000000" pitchFamily="18" charset="-128"/>
                <a:ea typeface="UDDigiKyokasho ProN R" panose="02020400000000000000" pitchFamily="18" charset="-128"/>
              </a:rPr>
              <a:t>・ファンタジー</a:t>
            </a:r>
            <a:r>
              <a:rPr kumimoji="1" lang="en-US" altLang="ja-JP" sz="2800" dirty="0">
                <a:latin typeface="UDDigiKyokasho ProN R" panose="02020400000000000000" pitchFamily="18" charset="-128"/>
                <a:ea typeface="UDDigiKyokasho ProN R" panose="02020400000000000000" pitchFamily="18" charset="-128"/>
              </a:rPr>
              <a:t>(fantasy)</a:t>
            </a:r>
            <a:r>
              <a:rPr kumimoji="1" lang="ja-JP" altLang="en-US" sz="2800">
                <a:latin typeface="UDDigiKyokasho ProN R" panose="02020400000000000000" pitchFamily="18" charset="-128"/>
                <a:ea typeface="UDDigiKyokasho ProN R" panose="02020400000000000000" pitchFamily="18" charset="-128"/>
              </a:rPr>
              <a:t>は</a:t>
            </a:r>
            <a:r>
              <a:rPr lang="ja-JP" altLang="en-US" sz="2800">
                <a:latin typeface="UDDigiKyokasho ProN R" panose="02020400000000000000" pitchFamily="18" charset="-128"/>
                <a:ea typeface="UDDigiKyokasho ProN R" panose="02020400000000000000" pitchFamily="18" charset="-128"/>
              </a:rPr>
              <a:t>、架空の状況に想像力を働かせて、自分に置き換える</a:t>
            </a:r>
            <a:endParaRPr lang="en-US" altLang="ja-JP" sz="2800" dirty="0">
              <a:latin typeface="UDDigiKyokasho ProN R" panose="02020400000000000000" pitchFamily="18" charset="-128"/>
              <a:ea typeface="UDDigiKyokasho ProN R" panose="02020400000000000000" pitchFamily="18" charset="-128"/>
            </a:endParaRPr>
          </a:p>
          <a:p>
            <a:pPr marL="457200" lvl="1" indent="0">
              <a:buNone/>
            </a:pPr>
            <a:r>
              <a:rPr lang="ja-JP" altLang="en-US" sz="2800">
                <a:latin typeface="UDDigiKyokasho ProN R" panose="02020400000000000000" pitchFamily="18" charset="-128"/>
                <a:ea typeface="UDDigiKyokasho ProN R" panose="02020400000000000000" pitchFamily="18" charset="-128"/>
              </a:rPr>
              <a:t>・視点取得</a:t>
            </a:r>
            <a:r>
              <a:rPr lang="en-US" altLang="ja-JP" sz="2800" dirty="0">
                <a:latin typeface="UDDigiKyokasho ProN R" panose="02020400000000000000" pitchFamily="18" charset="-128"/>
                <a:ea typeface="UDDigiKyokasho ProN R" panose="02020400000000000000" pitchFamily="18" charset="-128"/>
              </a:rPr>
              <a:t>(perspective taking)</a:t>
            </a:r>
            <a:r>
              <a:rPr lang="ja-JP" altLang="en-US" sz="2800">
                <a:latin typeface="UDDigiKyokasho ProN R" panose="02020400000000000000" pitchFamily="18" charset="-128"/>
                <a:ea typeface="UDDigiKyokasho ProN R" panose="02020400000000000000" pitchFamily="18" charset="-128"/>
              </a:rPr>
              <a:t>は、他者の視点にたって物事を考える</a:t>
            </a:r>
            <a:endParaRPr lang="en-US" altLang="ja-JP" sz="2800" dirty="0">
              <a:latin typeface="UDDigiKyokasho ProN R" panose="02020400000000000000" pitchFamily="18" charset="-128"/>
              <a:ea typeface="UDDigiKyokasho ProN R" panose="02020400000000000000" pitchFamily="18" charset="-128"/>
            </a:endParaRPr>
          </a:p>
          <a:p>
            <a:pPr marL="457200" lvl="1" indent="0">
              <a:buNone/>
            </a:pPr>
            <a:r>
              <a:rPr kumimoji="1" lang="ja-JP" altLang="en-US" sz="2800">
                <a:latin typeface="UDDigiKyokasho ProN R" panose="02020400000000000000" pitchFamily="18" charset="-128"/>
                <a:ea typeface="UDDigiKyokasho ProN R" panose="02020400000000000000" pitchFamily="18" charset="-128"/>
              </a:rPr>
              <a:t>・共感点関心</a:t>
            </a:r>
            <a:r>
              <a:rPr kumimoji="1" lang="en-US" altLang="ja-JP" sz="2800" dirty="0">
                <a:latin typeface="UDDigiKyokasho ProN R" panose="02020400000000000000" pitchFamily="18" charset="-128"/>
                <a:ea typeface="UDDigiKyokasho ProN R" panose="02020400000000000000" pitchFamily="18" charset="-128"/>
              </a:rPr>
              <a:t>(empathic concern)</a:t>
            </a:r>
            <a:r>
              <a:rPr kumimoji="1" lang="ja-JP" altLang="en-US" sz="2800">
                <a:latin typeface="UDDigiKyokasho ProN R" panose="02020400000000000000" pitchFamily="18" charset="-128"/>
                <a:ea typeface="UDDigiKyokasho ProN R" panose="02020400000000000000" pitchFamily="18" charset="-128"/>
              </a:rPr>
              <a:t>は、他者に対する情動的な関心</a:t>
            </a:r>
            <a:r>
              <a:rPr lang="ja-JP" altLang="en-US" sz="2800">
                <a:latin typeface="UDDigiKyokasho ProN R" panose="02020400000000000000" pitchFamily="18" charset="-128"/>
                <a:ea typeface="UDDigiKyokasho ProN R" panose="02020400000000000000" pitchFamily="18" charset="-128"/>
              </a:rPr>
              <a:t>を示す</a:t>
            </a:r>
            <a:endParaRPr lang="en-US" altLang="ja-JP" sz="2800" dirty="0">
              <a:latin typeface="UDDigiKyokasho ProN R" panose="02020400000000000000" pitchFamily="18" charset="-128"/>
              <a:ea typeface="UDDigiKyokasho ProN R" panose="02020400000000000000" pitchFamily="18" charset="-128"/>
            </a:endParaRPr>
          </a:p>
          <a:p>
            <a:pPr marL="457200" lvl="1" indent="0">
              <a:buNone/>
            </a:pPr>
            <a:r>
              <a:rPr kumimoji="1" lang="ja-JP" altLang="en-US" sz="2800">
                <a:latin typeface="UDDigiKyokasho ProN R" panose="02020400000000000000" pitchFamily="18" charset="-128"/>
                <a:ea typeface="UDDigiKyokasho ProN R" panose="02020400000000000000" pitchFamily="18" charset="-128"/>
              </a:rPr>
              <a:t>・個人的苦痛</a:t>
            </a:r>
            <a:r>
              <a:rPr kumimoji="1" lang="en-US" altLang="ja-JP" sz="2800" dirty="0">
                <a:latin typeface="UDDigiKyokasho ProN R" panose="02020400000000000000" pitchFamily="18" charset="-128"/>
                <a:ea typeface="UDDigiKyokasho ProN R" panose="02020400000000000000" pitchFamily="18" charset="-128"/>
              </a:rPr>
              <a:t>(personal distress)</a:t>
            </a:r>
            <a:r>
              <a:rPr kumimoji="1" lang="ja-JP" altLang="en-US" sz="2800">
                <a:latin typeface="UDDigiKyokasho ProN R" panose="02020400000000000000" pitchFamily="18" charset="-128"/>
                <a:ea typeface="UDDigiKyokasho ProN R" panose="02020400000000000000" pitchFamily="18" charset="-128"/>
              </a:rPr>
              <a:t>は、他者が否定的な体験をしているのを見た時のネガティブな感情</a:t>
            </a:r>
            <a:r>
              <a:rPr lang="ja-JP" altLang="en-US" sz="2800">
                <a:latin typeface="UDDigiKyokasho ProN R" panose="02020400000000000000" pitchFamily="18" charset="-128"/>
                <a:ea typeface="UDDigiKyokasho ProN R" panose="02020400000000000000" pitchFamily="18" charset="-128"/>
              </a:rPr>
              <a:t>を感じる</a:t>
            </a:r>
            <a:endParaRPr kumimoji="1" lang="en-US" altLang="ja-JP" sz="2800" dirty="0">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8178F5A0-E651-B3F1-8B10-CB2DB20F0616}"/>
              </a:ext>
            </a:extLst>
          </p:cNvPr>
          <p:cNvSpPr>
            <a:spLocks noGrp="1"/>
          </p:cNvSpPr>
          <p:nvPr>
            <p:ph type="sldNum" sz="quarter" idx="12"/>
          </p:nvPr>
        </p:nvSpPr>
        <p:spPr/>
        <p:txBody>
          <a:bodyPr/>
          <a:lstStyle/>
          <a:p>
            <a:fld id="{2EC8AD93-AF02-5041-8E58-A9BB2AEEDA08}" type="slidenum">
              <a:rPr kumimoji="1" lang="ja-JP" altLang="en-US" smtClean="0"/>
              <a:t>5</a:t>
            </a:fld>
            <a:endParaRPr kumimoji="1" lang="ja-JP" altLang="en-US"/>
          </a:p>
        </p:txBody>
      </p:sp>
    </p:spTree>
    <p:extLst>
      <p:ext uri="{BB962C8B-B14F-4D97-AF65-F5344CB8AC3E}">
        <p14:creationId xmlns:p14="http://schemas.microsoft.com/office/powerpoint/2010/main" val="1500519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2DC36-6171-294A-41EE-CED471F3F039}"/>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E0A9EA8-73FC-EAB3-984B-231B1F7ABB71}"/>
              </a:ext>
            </a:extLst>
          </p:cNvPr>
          <p:cNvSpPr>
            <a:spLocks noGrp="1"/>
          </p:cNvSpPr>
          <p:nvPr>
            <p:ph idx="1"/>
          </p:nvPr>
        </p:nvSpPr>
        <p:spPr>
          <a:xfrm>
            <a:off x="838200" y="1727650"/>
            <a:ext cx="9916886" cy="3639007"/>
          </a:xfrm>
        </p:spPr>
        <p:txBody>
          <a:bodyPr>
            <a:normAutofit lnSpcReduction="10000"/>
          </a:bodyPr>
          <a:lstStyle/>
          <a:p>
            <a:pPr marL="0" indent="0">
              <a:buNone/>
            </a:pPr>
            <a:r>
              <a:rPr kumimoji="1" lang="ja-JP" altLang="en-US" sz="3200">
                <a:latin typeface="UDDigiKyokasho ProN R" panose="02020400000000000000" pitchFamily="18" charset="-128"/>
                <a:ea typeface="UDDigiKyokasho ProN R" panose="02020400000000000000" pitchFamily="18" charset="-128"/>
              </a:rPr>
              <a:t>・日本においても、同様の多次元的共感生尺度は作成されて</a:t>
            </a:r>
            <a:r>
              <a:rPr lang="ja-JP" altLang="en-US" sz="3200">
                <a:latin typeface="UDDigiKyokasho ProN R" panose="02020400000000000000" pitchFamily="18" charset="-128"/>
                <a:ea typeface="UDDigiKyokasho ProN R" panose="02020400000000000000" pitchFamily="18" charset="-128"/>
              </a:rPr>
              <a:t>いる</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→登張</a:t>
            </a:r>
            <a:r>
              <a:rPr lang="en-US" altLang="ja-JP" sz="3200" dirty="0">
                <a:latin typeface="UDDigiKyokasho ProN R" panose="02020400000000000000" pitchFamily="18" charset="-128"/>
                <a:ea typeface="UDDigiKyokasho ProN R" panose="02020400000000000000" pitchFamily="18" charset="-128"/>
              </a:rPr>
              <a:t>(2003)</a:t>
            </a:r>
            <a:r>
              <a:rPr lang="ja-JP" altLang="en-US" sz="3200">
                <a:latin typeface="UDDigiKyokasho ProN R" panose="02020400000000000000" pitchFamily="18" charset="-128"/>
                <a:ea typeface="UDDigiKyokasho ProN R" panose="02020400000000000000" pitchFamily="18" charset="-128"/>
              </a:rPr>
              <a:t>は、青年期全期を通して使用できる「青年期用多次元共感生尺度」</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→下位尺度は、</a:t>
            </a:r>
            <a:r>
              <a:rPr lang="en-US" altLang="ja-JP" sz="3200" dirty="0">
                <a:latin typeface="UDDigiKyokasho ProN R" panose="02020400000000000000" pitchFamily="18" charset="-128"/>
                <a:ea typeface="UDDigiKyokasho ProN R" panose="02020400000000000000" pitchFamily="18" charset="-128"/>
              </a:rPr>
              <a:t>Davis(1980)</a:t>
            </a:r>
            <a:r>
              <a:rPr lang="ja-JP" altLang="en-US" sz="3200">
                <a:latin typeface="UDDigiKyokasho ProN R" panose="02020400000000000000" pitchFamily="18" charset="-128"/>
                <a:ea typeface="UDDigiKyokasho ProN R" panose="02020400000000000000" pitchFamily="18" charset="-128"/>
              </a:rPr>
              <a:t>と概ね共通しており、「ファンタジー」「気持ちの想像（＝視点取得）」「共感的関心」「個人的苦痛」の４つに分けられている。</a:t>
            </a:r>
            <a:endParaRPr lang="en-US" altLang="ja-JP" sz="3200" dirty="0">
              <a:latin typeface="UDDigiKyokasho ProN R" panose="02020400000000000000" pitchFamily="18" charset="-128"/>
              <a:ea typeface="UDDigiKyokasho ProN R" panose="02020400000000000000" pitchFamily="18" charset="-128"/>
            </a:endParaRPr>
          </a:p>
        </p:txBody>
      </p:sp>
      <p:sp>
        <p:nvSpPr>
          <p:cNvPr id="4" name="タイトル 1">
            <a:extLst>
              <a:ext uri="{FF2B5EF4-FFF2-40B4-BE49-F238E27FC236}">
                <a16:creationId xmlns:a16="http://schemas.microsoft.com/office/drawing/2014/main" id="{1883525D-82FC-1AD0-3081-D1EC3874D4C3}"/>
              </a:ext>
            </a:extLst>
          </p:cNvPr>
          <p:cNvSpPr>
            <a:spLocks noGrp="1"/>
          </p:cNvSpPr>
          <p:nvPr>
            <p:ph type="title"/>
          </p:nvPr>
        </p:nvSpPr>
        <p:spPr>
          <a:xfrm>
            <a:off x="838200" y="365125"/>
            <a:ext cx="10515600" cy="1325563"/>
          </a:xfrm>
        </p:spPr>
        <p:txBody>
          <a:bodyPr/>
          <a:lstStyle/>
          <a:p>
            <a:r>
              <a:rPr lang="ja-JP" altLang="en-US">
                <a:latin typeface="UDDigiKyokasho ProN R" panose="02020400000000000000" pitchFamily="18" charset="-128"/>
                <a:ea typeface="UDDigiKyokasho ProN R" panose="02020400000000000000" pitchFamily="18" charset="-128"/>
              </a:rPr>
              <a:t>問題</a:t>
            </a:r>
            <a:r>
              <a:rPr lang="ja-JP" altLang="en-US" sz="3600">
                <a:latin typeface="UDDigiKyokasho ProN R" panose="02020400000000000000" pitchFamily="18" charset="-128"/>
                <a:ea typeface="UDDigiKyokasho ProN R" panose="02020400000000000000" pitchFamily="18" charset="-128"/>
              </a:rPr>
              <a:t>：</a:t>
            </a:r>
            <a:r>
              <a:rPr lang="ja-JP" altLang="en-US" sz="3600" b="1">
                <a:latin typeface="UDDigiKyokasho ProN R" panose="02020400000000000000" pitchFamily="18" charset="-128"/>
                <a:ea typeface="UDDigiKyokasho ProN R" panose="02020400000000000000" pitchFamily="18" charset="-128"/>
              </a:rPr>
              <a:t>共感</a:t>
            </a:r>
            <a:r>
              <a:rPr lang="ja-JP" altLang="en-US" sz="3600">
                <a:latin typeface="UDDigiKyokasho ProN R" panose="02020400000000000000" pitchFamily="18" charset="-128"/>
                <a:ea typeface="UDDigiKyokasho ProN R" panose="02020400000000000000" pitchFamily="18" charset="-128"/>
              </a:rPr>
              <a:t>・</a:t>
            </a:r>
            <a:r>
              <a:rPr lang="ja-JP" altLang="en-US" sz="3600" b="1">
                <a:latin typeface="UDDigiKyokasho ProN R" panose="02020400000000000000" pitchFamily="18" charset="-128"/>
                <a:ea typeface="UDDigiKyokasho ProN R" panose="02020400000000000000" pitchFamily="18" charset="-128"/>
              </a:rPr>
              <a:t>マインドリーディング</a:t>
            </a:r>
            <a:endParaRPr kumimoji="1" lang="ja-JP" altLang="en-US" sz="3600" b="1">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FAE68E63-DEFD-5B3A-B8DE-BB1C5E5CAE00}"/>
              </a:ext>
            </a:extLst>
          </p:cNvPr>
          <p:cNvSpPr>
            <a:spLocks noGrp="1"/>
          </p:cNvSpPr>
          <p:nvPr>
            <p:ph type="sldNum" sz="quarter" idx="12"/>
          </p:nvPr>
        </p:nvSpPr>
        <p:spPr/>
        <p:txBody>
          <a:bodyPr/>
          <a:lstStyle/>
          <a:p>
            <a:fld id="{2EC8AD93-AF02-5041-8E58-A9BB2AEEDA08}" type="slidenum">
              <a:rPr kumimoji="1" lang="ja-JP" altLang="en-US" smtClean="0"/>
              <a:t>6</a:t>
            </a:fld>
            <a:endParaRPr kumimoji="1" lang="ja-JP" altLang="en-US"/>
          </a:p>
        </p:txBody>
      </p:sp>
    </p:spTree>
    <p:extLst>
      <p:ext uri="{BB962C8B-B14F-4D97-AF65-F5344CB8AC3E}">
        <p14:creationId xmlns:p14="http://schemas.microsoft.com/office/powerpoint/2010/main" val="221635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675B3-B691-5D1C-528E-BE0DBE44141E}"/>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CE5050E-0472-2045-20FD-9A04BD0C2E3F}"/>
              </a:ext>
            </a:extLst>
          </p:cNvPr>
          <p:cNvSpPr>
            <a:spLocks noGrp="1"/>
          </p:cNvSpPr>
          <p:nvPr>
            <p:ph idx="1"/>
          </p:nvPr>
        </p:nvSpPr>
        <p:spPr>
          <a:xfrm>
            <a:off x="838200" y="1825625"/>
            <a:ext cx="10515600" cy="2343604"/>
          </a:xfrm>
        </p:spPr>
        <p:txBody>
          <a:bodyPr>
            <a:normAutofit/>
          </a:bodyPr>
          <a:lstStyle/>
          <a:p>
            <a:pPr marL="0" indent="0">
              <a:buNone/>
            </a:pPr>
            <a:r>
              <a:rPr lang="ja-JP" altLang="en-US" sz="3200">
                <a:latin typeface="UDDigiKyokasho ProN R" panose="02020400000000000000" pitchFamily="18" charset="-128"/>
                <a:ea typeface="UDDigiKyokasho ProN R" panose="02020400000000000000" pitchFamily="18" charset="-128"/>
              </a:rPr>
              <a:t>○マインドリーディング</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・マインドリーディングとは、他者の知識状態や意図、思考などを理解する能力のことを指す。</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kumimoji="1" lang="ja-JP" altLang="en-US" sz="3200">
                <a:latin typeface="UDDigiKyokasho ProN R" panose="02020400000000000000" pitchFamily="18" charset="-128"/>
                <a:ea typeface="UDDigiKyokasho ProN R" panose="02020400000000000000" pitchFamily="18" charset="-128"/>
              </a:rPr>
              <a:t>・一般的に、</a:t>
            </a:r>
            <a:r>
              <a:rPr lang="ja-JP" altLang="en-US" sz="3200">
                <a:latin typeface="UDDigiKyokasho ProN R" panose="02020400000000000000" pitchFamily="18" charset="-128"/>
                <a:ea typeface="UDDigiKyokasho ProN R" panose="02020400000000000000" pitchFamily="18" charset="-128"/>
              </a:rPr>
              <a:t>心</a:t>
            </a:r>
            <a:r>
              <a:rPr kumimoji="1" lang="ja-JP" altLang="en-US" sz="3200">
                <a:latin typeface="UDDigiKyokasho ProN R" panose="02020400000000000000" pitchFamily="18" charset="-128"/>
                <a:ea typeface="UDDigiKyokasho ProN R" panose="02020400000000000000" pitchFamily="18" charset="-128"/>
              </a:rPr>
              <a:t>の理論と近い概念</a:t>
            </a:r>
            <a:r>
              <a:rPr lang="ja-JP" altLang="en-US" sz="3200">
                <a:latin typeface="UDDigiKyokasho ProN R" panose="02020400000000000000" pitchFamily="18" charset="-128"/>
                <a:ea typeface="UDDigiKyokasho ProN R" panose="02020400000000000000" pitchFamily="18" charset="-128"/>
              </a:rPr>
              <a:t>とされています。</a:t>
            </a:r>
            <a:endParaRPr kumimoji="1" lang="ja-JP" altLang="en-US" sz="3200">
              <a:latin typeface="UDDigiKyokasho ProN R" panose="02020400000000000000" pitchFamily="18" charset="-128"/>
              <a:ea typeface="UDDigiKyokasho ProN R" panose="02020400000000000000" pitchFamily="18" charset="-128"/>
            </a:endParaRPr>
          </a:p>
        </p:txBody>
      </p:sp>
      <p:sp>
        <p:nvSpPr>
          <p:cNvPr id="4" name="タイトル 1">
            <a:extLst>
              <a:ext uri="{FF2B5EF4-FFF2-40B4-BE49-F238E27FC236}">
                <a16:creationId xmlns:a16="http://schemas.microsoft.com/office/drawing/2014/main" id="{D8851EE5-742A-F2DB-7174-9CE78BC8F698}"/>
              </a:ext>
            </a:extLst>
          </p:cNvPr>
          <p:cNvSpPr>
            <a:spLocks noGrp="1"/>
          </p:cNvSpPr>
          <p:nvPr>
            <p:ph type="title"/>
          </p:nvPr>
        </p:nvSpPr>
        <p:spPr/>
        <p:txBody>
          <a:bodyPr/>
          <a:lstStyle/>
          <a:p>
            <a:r>
              <a:rPr lang="ja-JP" altLang="en-US">
                <a:latin typeface="UDDigiKyokasho ProN R" panose="02020400000000000000" pitchFamily="18" charset="-128"/>
                <a:ea typeface="UDDigiKyokasho ProN R" panose="02020400000000000000" pitchFamily="18" charset="-128"/>
              </a:rPr>
              <a:t>問題</a:t>
            </a:r>
            <a:r>
              <a:rPr lang="ja-JP" altLang="en-US" sz="3200">
                <a:latin typeface="UDDigiKyokasho ProN R" panose="02020400000000000000" pitchFamily="18" charset="-128"/>
                <a:ea typeface="UDDigiKyokasho ProN R" panose="02020400000000000000" pitchFamily="18" charset="-128"/>
              </a:rPr>
              <a:t>：</a:t>
            </a:r>
            <a:r>
              <a:rPr lang="ja-JP" altLang="en-US" sz="3200" b="1">
                <a:latin typeface="UDDigiKyokasho ProN R" panose="02020400000000000000" pitchFamily="18" charset="-128"/>
                <a:ea typeface="UDDigiKyokasho ProN R" panose="02020400000000000000" pitchFamily="18" charset="-128"/>
              </a:rPr>
              <a:t>共感</a:t>
            </a:r>
            <a:r>
              <a:rPr lang="ja-JP" altLang="en-US" sz="2800">
                <a:latin typeface="UDDigiKyokasho ProN R" panose="02020400000000000000" pitchFamily="18" charset="-128"/>
                <a:ea typeface="UDDigiKyokasho ProN R" panose="02020400000000000000" pitchFamily="18" charset="-128"/>
              </a:rPr>
              <a:t>・</a:t>
            </a:r>
            <a:r>
              <a:rPr lang="ja-JP" altLang="en-US" sz="3200" b="1">
                <a:latin typeface="UDDigiKyokasho ProN R" panose="02020400000000000000" pitchFamily="18" charset="-128"/>
                <a:ea typeface="UDDigiKyokasho ProN R" panose="02020400000000000000" pitchFamily="18" charset="-128"/>
              </a:rPr>
              <a:t>マインドリーディング</a:t>
            </a:r>
            <a:endParaRPr kumimoji="1" lang="ja-JP" altLang="en-US" b="1">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78CAB466-D8F5-54BC-A72B-7FCD53E1F14A}"/>
              </a:ext>
            </a:extLst>
          </p:cNvPr>
          <p:cNvSpPr>
            <a:spLocks noGrp="1"/>
          </p:cNvSpPr>
          <p:nvPr>
            <p:ph type="sldNum" sz="quarter" idx="12"/>
          </p:nvPr>
        </p:nvSpPr>
        <p:spPr/>
        <p:txBody>
          <a:bodyPr/>
          <a:lstStyle/>
          <a:p>
            <a:fld id="{2EC8AD93-AF02-5041-8E58-A9BB2AEEDA08}" type="slidenum">
              <a:rPr kumimoji="1" lang="ja-JP" altLang="en-US" smtClean="0"/>
              <a:t>7</a:t>
            </a:fld>
            <a:endParaRPr kumimoji="1" lang="ja-JP" altLang="en-US"/>
          </a:p>
        </p:txBody>
      </p:sp>
    </p:spTree>
    <p:extLst>
      <p:ext uri="{BB962C8B-B14F-4D97-AF65-F5344CB8AC3E}">
        <p14:creationId xmlns:p14="http://schemas.microsoft.com/office/powerpoint/2010/main" val="38548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1D7EDB8-5E44-DECD-B78C-2ACFF1C3C242}"/>
              </a:ext>
            </a:extLst>
          </p:cNvPr>
          <p:cNvSpPr>
            <a:spLocks noGrp="1"/>
          </p:cNvSpPr>
          <p:nvPr>
            <p:ph type="sldNum" sz="quarter" idx="12"/>
          </p:nvPr>
        </p:nvSpPr>
        <p:spPr/>
        <p:txBody>
          <a:bodyPr/>
          <a:lstStyle/>
          <a:p>
            <a:fld id="{2EC8AD93-AF02-5041-8E58-A9BB2AEEDA08}" type="slidenum">
              <a:rPr kumimoji="1" lang="ja-JP" altLang="en-US" smtClean="0"/>
              <a:t>8</a:t>
            </a:fld>
            <a:endParaRPr kumimoji="1" lang="ja-JP" altLang="en-US"/>
          </a:p>
        </p:txBody>
      </p:sp>
      <p:sp>
        <p:nvSpPr>
          <p:cNvPr id="5" name="タイトル 1">
            <a:extLst>
              <a:ext uri="{FF2B5EF4-FFF2-40B4-BE49-F238E27FC236}">
                <a16:creationId xmlns:a16="http://schemas.microsoft.com/office/drawing/2014/main" id="{9ED2376A-508F-DC43-DE14-0BED0F2DFEB6}"/>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latin typeface="UDDigiKyokasho ProN R" panose="02020400000000000000" pitchFamily="18" charset="-128"/>
                <a:ea typeface="UDDigiKyokasho ProN R" panose="02020400000000000000" pitchFamily="18" charset="-128"/>
              </a:rPr>
              <a:t>問題</a:t>
            </a:r>
            <a:r>
              <a:rPr lang="ja-JP" altLang="en-US" sz="2800">
                <a:latin typeface="UDDigiKyokasho ProN R" panose="02020400000000000000" pitchFamily="18" charset="-128"/>
                <a:ea typeface="UDDigiKyokasho ProN R" panose="02020400000000000000" pitchFamily="18" charset="-128"/>
              </a:rPr>
              <a:t>：</a:t>
            </a:r>
            <a:r>
              <a:rPr lang="ja-JP" altLang="en-US" sz="3600">
                <a:latin typeface="UDDigiKyokasho ProN R" panose="02020400000000000000" pitchFamily="18" charset="-128"/>
                <a:ea typeface="UDDigiKyokasho ProN R" panose="02020400000000000000" pitchFamily="18" charset="-128"/>
              </a:rPr>
              <a:t>読書と共感・マインドリーディングの関連</a:t>
            </a:r>
            <a:endParaRPr lang="ja-JP" altLang="en-US">
              <a:latin typeface="UDDigiKyokasho ProN R" panose="02020400000000000000" pitchFamily="18" charset="-128"/>
              <a:ea typeface="UDDigiKyokasho ProN R" panose="02020400000000000000" pitchFamily="18" charset="-128"/>
            </a:endParaRPr>
          </a:p>
        </p:txBody>
      </p:sp>
      <p:sp>
        <p:nvSpPr>
          <p:cNvPr id="6" name="テキスト ボックス 5">
            <a:extLst>
              <a:ext uri="{FF2B5EF4-FFF2-40B4-BE49-F238E27FC236}">
                <a16:creationId xmlns:a16="http://schemas.microsoft.com/office/drawing/2014/main" id="{63A20339-49D4-4066-A34E-BDE22CA461FF}"/>
              </a:ext>
            </a:extLst>
          </p:cNvPr>
          <p:cNvSpPr txBox="1"/>
          <p:nvPr/>
        </p:nvSpPr>
        <p:spPr>
          <a:xfrm>
            <a:off x="1066800" y="2044005"/>
            <a:ext cx="10363200" cy="3046988"/>
          </a:xfrm>
          <a:prstGeom prst="rect">
            <a:avLst/>
          </a:prstGeom>
          <a:noFill/>
        </p:spPr>
        <p:txBody>
          <a:bodyPr wrap="square" rtlCol="0">
            <a:spAutoFit/>
          </a:bodyPr>
          <a:lstStyle/>
          <a:p>
            <a:r>
              <a:rPr lang="ja-JP" altLang="en-US" sz="3200">
                <a:latin typeface="UDDigiKyokasho ProN R" panose="02020400000000000000" pitchFamily="18" charset="-128"/>
                <a:ea typeface="UDDigiKyokasho ProN R" panose="02020400000000000000" pitchFamily="18" charset="-128"/>
              </a:rPr>
              <a:t>○</a:t>
            </a:r>
            <a:r>
              <a:rPr kumimoji="1" lang="en-US" altLang="ja-JP" sz="3200" dirty="0">
                <a:latin typeface="UDDigiKyokasho ProN R" panose="02020400000000000000" pitchFamily="18" charset="-128"/>
                <a:ea typeface="UDDigiKyokasho ProN R" panose="02020400000000000000" pitchFamily="18" charset="-128"/>
              </a:rPr>
              <a:t>ART</a:t>
            </a:r>
            <a:r>
              <a:rPr kumimoji="1" lang="ja-JP" altLang="en-US" sz="3200">
                <a:latin typeface="UDDigiKyokasho ProN R" panose="02020400000000000000" pitchFamily="18" charset="-128"/>
                <a:ea typeface="UDDigiKyokasho ProN R" panose="02020400000000000000" pitchFamily="18" charset="-128"/>
              </a:rPr>
              <a:t>（作家名再認テスト）</a:t>
            </a:r>
            <a:endParaRPr kumimoji="1"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・項目の中に含まれている作家名を正確に測ろうとするもの</a:t>
            </a:r>
            <a:endParaRPr lang="en-US" altLang="ja-JP" sz="3200" dirty="0">
              <a:latin typeface="UDDigiKyokasho ProN R" panose="02020400000000000000" pitchFamily="18" charset="-128"/>
              <a:ea typeface="UDDigiKyokasho ProN R" panose="02020400000000000000" pitchFamily="18" charset="-128"/>
            </a:endParaRPr>
          </a:p>
          <a:p>
            <a:r>
              <a:rPr kumimoji="1" lang="ja-JP" altLang="en-US" sz="3200">
                <a:latin typeface="UDDigiKyokasho ProN R" panose="02020400000000000000" pitchFamily="18" charset="-128"/>
                <a:ea typeface="UDDigiKyokasho ProN R" panose="02020400000000000000" pitchFamily="18" charset="-128"/>
              </a:rPr>
              <a:t>・実在する作家名＋実在しない作家名で作成する</a:t>
            </a:r>
            <a:endParaRPr kumimoji="1"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a:t>
            </a:r>
            <a:r>
              <a:rPr lang="en-US" altLang="ja-JP" sz="3200" dirty="0">
                <a:latin typeface="UDDigiKyokasho ProN R" panose="02020400000000000000" pitchFamily="18" charset="-128"/>
                <a:ea typeface="UDDigiKyokasho ProN R" panose="02020400000000000000" pitchFamily="18" charset="-128"/>
              </a:rPr>
              <a:t>MIE</a:t>
            </a:r>
            <a:r>
              <a:rPr lang="ja-JP" altLang="en-US" sz="3200">
                <a:latin typeface="UDDigiKyokasho ProN R" panose="02020400000000000000" pitchFamily="18" charset="-128"/>
                <a:ea typeface="UDDigiKyokasho ProN R" panose="02020400000000000000" pitchFamily="18" charset="-128"/>
              </a:rPr>
              <a:t>テスト（</a:t>
            </a:r>
            <a:r>
              <a:rPr lang="en-US" altLang="ja-JP" sz="3200" dirty="0">
                <a:latin typeface="UDDigiKyokasho ProN R" panose="02020400000000000000" pitchFamily="18" charset="-128"/>
                <a:ea typeface="UDDigiKyokasho ProN R" panose="02020400000000000000" pitchFamily="18" charset="-128"/>
              </a:rPr>
              <a:t>Mind in the Eye)</a:t>
            </a:r>
          </a:p>
          <a:p>
            <a:r>
              <a:rPr lang="ja-JP" altLang="en-US" sz="3200">
                <a:latin typeface="UDDigiKyokasho ProN R" panose="02020400000000000000" pitchFamily="18" charset="-128"/>
                <a:ea typeface="UDDigiKyokasho ProN R" panose="02020400000000000000" pitchFamily="18" charset="-128"/>
              </a:rPr>
              <a:t>・目元の写真から感情の理解を読み取るテスト</a:t>
            </a:r>
            <a:endParaRPr kumimoji="1" lang="ja-JP" altLang="en-US" sz="3200">
              <a:latin typeface="UDDigiKyokasho ProN R" panose="02020400000000000000" pitchFamily="18" charset="-128"/>
              <a:ea typeface="UDDigiKyokasho ProN R" panose="02020400000000000000" pitchFamily="18" charset="-128"/>
            </a:endParaRPr>
          </a:p>
        </p:txBody>
      </p:sp>
    </p:spTree>
    <p:extLst>
      <p:ext uri="{BB962C8B-B14F-4D97-AF65-F5344CB8AC3E}">
        <p14:creationId xmlns:p14="http://schemas.microsoft.com/office/powerpoint/2010/main" val="2446156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2E30C-DAB0-5182-CAF3-DA42D0F45027}"/>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0CB5B2A-07BF-EA99-D36D-AFD150FF31E8}"/>
              </a:ext>
            </a:extLst>
          </p:cNvPr>
          <p:cNvSpPr>
            <a:spLocks noGrp="1"/>
          </p:cNvSpPr>
          <p:nvPr>
            <p:ph idx="1"/>
          </p:nvPr>
        </p:nvSpPr>
        <p:spPr/>
        <p:txBody>
          <a:bodyPr>
            <a:normAutofit/>
          </a:bodyPr>
          <a:lstStyle/>
          <a:p>
            <a:pPr marL="0" indent="0">
              <a:buNone/>
            </a:pPr>
            <a:r>
              <a:rPr kumimoji="1" lang="ja-JP" altLang="en-US">
                <a:latin typeface="UDDigiKyokasho ProN R" panose="02020400000000000000" pitchFamily="18" charset="-128"/>
                <a:ea typeface="UDDigiKyokasho ProN R" panose="02020400000000000000" pitchFamily="18" charset="-128"/>
              </a:rPr>
              <a:t>・物語の読書量と共感・心の理論との間の関連について、長期的な影響の報告</a:t>
            </a:r>
            <a:endParaRPr kumimoji="1"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a:t>
            </a:r>
            <a:r>
              <a:rPr lang="en-US" altLang="ja-JP" dirty="0">
                <a:latin typeface="UDDigiKyokasho ProN R" panose="02020400000000000000" pitchFamily="18" charset="-128"/>
                <a:ea typeface="UDDigiKyokasho ProN R" panose="02020400000000000000" pitchFamily="18" charset="-128"/>
              </a:rPr>
              <a:t>Mar et al.(2006)</a:t>
            </a:r>
            <a:r>
              <a:rPr lang="ja-JP" altLang="en-US">
                <a:latin typeface="UDDigiKyokasho ProN R" panose="02020400000000000000" pitchFamily="18" charset="-128"/>
                <a:ea typeface="UDDigiKyokasho ProN R" panose="02020400000000000000" pitchFamily="18" charset="-128"/>
              </a:rPr>
              <a:t>にて、フィクションとマインドリーディングの読み取り（</a:t>
            </a:r>
            <a:r>
              <a:rPr lang="en-US" altLang="ja-JP" dirty="0">
                <a:latin typeface="UDDigiKyokasho ProN R" panose="02020400000000000000" pitchFamily="18" charset="-128"/>
                <a:ea typeface="UDDigiKyokasho ProN R" panose="02020400000000000000" pitchFamily="18" charset="-128"/>
              </a:rPr>
              <a:t>MIE</a:t>
            </a:r>
            <a:r>
              <a:rPr lang="ja-JP" altLang="en-US">
                <a:latin typeface="UDDigiKyokasho ProN R" panose="02020400000000000000" pitchFamily="18" charset="-128"/>
                <a:ea typeface="UDDigiKyokasho ProN R" panose="02020400000000000000" pitchFamily="18" charset="-128"/>
              </a:rPr>
              <a:t>テスト）の間に、弱い正の相関、多次元共感尺度</a:t>
            </a:r>
            <a:r>
              <a:rPr lang="en-US" altLang="ja-JP" dirty="0">
                <a:latin typeface="UDDigiKyokasho ProN R" panose="02020400000000000000" pitchFamily="18" charset="-128"/>
                <a:ea typeface="UDDigiKyokasho ProN R" panose="02020400000000000000" pitchFamily="18" charset="-128"/>
              </a:rPr>
              <a:t>(IRI)</a:t>
            </a:r>
            <a:r>
              <a:rPr lang="ja-JP" altLang="en-US">
                <a:latin typeface="UDDigiKyokasho ProN R" panose="02020400000000000000" pitchFamily="18" charset="-128"/>
                <a:ea typeface="UDDigiKyokasho ProN R" panose="02020400000000000000" pitchFamily="18" charset="-128"/>
              </a:rPr>
              <a:t>のファンタジーと</a:t>
            </a:r>
            <a:r>
              <a:rPr lang="en-US" altLang="ja-JP" dirty="0">
                <a:latin typeface="UDDigiKyokasho ProN R" panose="02020400000000000000" pitchFamily="18" charset="-128"/>
                <a:ea typeface="UDDigiKyokasho ProN R" panose="02020400000000000000" pitchFamily="18" charset="-128"/>
              </a:rPr>
              <a:t>ART</a:t>
            </a:r>
            <a:r>
              <a:rPr lang="ja-JP" altLang="en-US">
                <a:latin typeface="UDDigiKyokasho ProN R" panose="02020400000000000000" pitchFamily="18" charset="-128"/>
                <a:ea typeface="UDDigiKyokasho ProN R" panose="02020400000000000000" pitchFamily="18" charset="-128"/>
              </a:rPr>
              <a:t>の間に弱い正の相関</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a:t>
            </a:r>
            <a:r>
              <a:rPr kumimoji="1" lang="ja-JP" altLang="en-US">
                <a:latin typeface="UDDigiKyokasho ProN R" panose="02020400000000000000" pitchFamily="18" charset="-128"/>
                <a:ea typeface="UDDigiKyokasho ProN R" panose="02020400000000000000" pitchFamily="18" charset="-128"/>
              </a:rPr>
              <a:t>小山内ら</a:t>
            </a:r>
            <a:r>
              <a:rPr kumimoji="1" lang="en-US" altLang="ja-JP" dirty="0">
                <a:latin typeface="UDDigiKyokasho ProN R" panose="02020400000000000000" pitchFamily="18" charset="-128"/>
                <a:ea typeface="UDDigiKyokasho ProN R" panose="02020400000000000000" pitchFamily="18" charset="-128"/>
              </a:rPr>
              <a:t>(2019)</a:t>
            </a:r>
            <a:r>
              <a:rPr lang="ja-JP" altLang="en-US">
                <a:latin typeface="UDDigiKyokasho ProN R" panose="02020400000000000000" pitchFamily="18" charset="-128"/>
                <a:ea typeface="UDDigiKyokasho ProN R" panose="02020400000000000000" pitchFamily="18" charset="-128"/>
              </a:rPr>
              <a:t>では、</a:t>
            </a:r>
            <a:r>
              <a:rPr lang="en-US" altLang="ja-JP" dirty="0">
                <a:latin typeface="UDDigiKyokasho ProN R" panose="02020400000000000000" pitchFamily="18" charset="-128"/>
                <a:ea typeface="UDDigiKyokasho ProN R" panose="02020400000000000000" pitchFamily="18" charset="-128"/>
              </a:rPr>
              <a:t>ART</a:t>
            </a:r>
            <a:r>
              <a:rPr lang="ja-JP" altLang="en-US">
                <a:latin typeface="UDDigiKyokasho ProN R" panose="02020400000000000000" pitchFamily="18" charset="-128"/>
                <a:ea typeface="UDDigiKyokasho ProN R" panose="02020400000000000000" pitchFamily="18" charset="-128"/>
              </a:rPr>
              <a:t>フィクションとマインドリーディングの間に、直接的な関連は認められていなかった</a:t>
            </a:r>
            <a:endParaRPr lang="en-US" altLang="ja-JP" dirty="0">
              <a:latin typeface="UDDigiKyokasho ProN R" panose="02020400000000000000" pitchFamily="18" charset="-128"/>
              <a:ea typeface="UDDigiKyokasho ProN R" panose="02020400000000000000" pitchFamily="18" charset="-128"/>
            </a:endParaRPr>
          </a:p>
        </p:txBody>
      </p:sp>
      <p:sp>
        <p:nvSpPr>
          <p:cNvPr id="4" name="タイトル 1">
            <a:extLst>
              <a:ext uri="{FF2B5EF4-FFF2-40B4-BE49-F238E27FC236}">
                <a16:creationId xmlns:a16="http://schemas.microsoft.com/office/drawing/2014/main" id="{84A623C6-A824-78C8-AD32-0A3CE3662A28}"/>
              </a:ext>
            </a:extLst>
          </p:cNvPr>
          <p:cNvSpPr>
            <a:spLocks noGrp="1"/>
          </p:cNvSpPr>
          <p:nvPr>
            <p:ph type="title"/>
          </p:nvPr>
        </p:nvSpPr>
        <p:spPr/>
        <p:txBody>
          <a:bodyPr>
            <a:normAutofit/>
          </a:bodyPr>
          <a:lstStyle/>
          <a:p>
            <a:r>
              <a:rPr kumimoji="1" lang="ja-JP" altLang="en-US">
                <a:latin typeface="UDDigiKyokasho ProN R" panose="02020400000000000000" pitchFamily="18" charset="-128"/>
                <a:ea typeface="UDDigiKyokasho ProN R" panose="02020400000000000000" pitchFamily="18" charset="-128"/>
              </a:rPr>
              <a:t>問題</a:t>
            </a:r>
            <a:r>
              <a:rPr lang="ja-JP" altLang="en-US" sz="3600">
                <a:latin typeface="UDDigiKyokasho ProN R" panose="02020400000000000000" pitchFamily="18" charset="-128"/>
                <a:ea typeface="UDDigiKyokasho ProN R" panose="02020400000000000000" pitchFamily="18" charset="-128"/>
              </a:rPr>
              <a:t>：</a:t>
            </a:r>
            <a:r>
              <a:rPr kumimoji="1" lang="ja-JP" altLang="en-US" sz="3600">
                <a:latin typeface="UDDigiKyokasho ProN R" panose="02020400000000000000" pitchFamily="18" charset="-128"/>
                <a:ea typeface="UDDigiKyokasho ProN R" panose="02020400000000000000" pitchFamily="18" charset="-128"/>
              </a:rPr>
              <a:t>読書と共感・マインドリーディングの関連</a:t>
            </a:r>
            <a:endParaRPr kumimoji="1" lang="ja-JP" altLang="en-US">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5815AFCE-67BF-7F16-1B85-35EFB9561F27}"/>
              </a:ext>
            </a:extLst>
          </p:cNvPr>
          <p:cNvSpPr>
            <a:spLocks noGrp="1"/>
          </p:cNvSpPr>
          <p:nvPr>
            <p:ph type="sldNum" sz="quarter" idx="12"/>
          </p:nvPr>
        </p:nvSpPr>
        <p:spPr/>
        <p:txBody>
          <a:bodyPr/>
          <a:lstStyle/>
          <a:p>
            <a:fld id="{2EC8AD93-AF02-5041-8E58-A9BB2AEEDA08}" type="slidenum">
              <a:rPr kumimoji="1" lang="ja-JP" altLang="en-US" smtClean="0"/>
              <a:t>9</a:t>
            </a:fld>
            <a:endParaRPr kumimoji="1" lang="ja-JP" altLang="en-US"/>
          </a:p>
        </p:txBody>
      </p:sp>
    </p:spTree>
    <p:extLst>
      <p:ext uri="{BB962C8B-B14F-4D97-AF65-F5344CB8AC3E}">
        <p14:creationId xmlns:p14="http://schemas.microsoft.com/office/powerpoint/2010/main" val="3059965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76DFC-EB19-1269-83D6-400330DDD311}"/>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DAD7828-FFE1-7FF0-ECFF-2DEBCA41E920}"/>
              </a:ext>
            </a:extLst>
          </p:cNvPr>
          <p:cNvSpPr>
            <a:spLocks noGrp="1"/>
          </p:cNvSpPr>
          <p:nvPr>
            <p:ph idx="1"/>
          </p:nvPr>
        </p:nvSpPr>
        <p:spPr>
          <a:xfrm>
            <a:off x="838200" y="1938803"/>
            <a:ext cx="10515600" cy="2980394"/>
          </a:xfrm>
        </p:spPr>
        <p:txBody>
          <a:bodyPr>
            <a:normAutofit fontScale="92500" lnSpcReduction="10000"/>
          </a:bodyPr>
          <a:lstStyle/>
          <a:p>
            <a:pPr marL="0" indent="0">
              <a:buNone/>
            </a:pPr>
            <a:r>
              <a:rPr lang="ja-JP" altLang="en-US" sz="3200">
                <a:latin typeface="UDDigiKyokasho ProN R" panose="02020400000000000000" pitchFamily="18" charset="-128"/>
                <a:ea typeface="UDDigiKyokasho ProN R" panose="02020400000000000000" pitchFamily="18" charset="-128"/>
              </a:rPr>
              <a:t>・女子大学生の読書への興味と読書量が共感能力及び感情の読み取りにおいて、どのように関連しているのかの実態を把握する</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・これまでの研究では、直接的な関連はみられなかった理由として、マインドリーディングの測定が、思考判断の読み取りになっていたためではないかと推測</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→マインドリーディングの測定として感情の読み取りを行う</a:t>
            </a:r>
            <a:endParaRPr lang="en-US" altLang="ja-JP" sz="3200" dirty="0">
              <a:latin typeface="UDDigiKyokasho ProN R" panose="02020400000000000000" pitchFamily="18" charset="-128"/>
              <a:ea typeface="UDDigiKyokasho ProN R" panose="02020400000000000000" pitchFamily="18" charset="-128"/>
            </a:endParaRPr>
          </a:p>
        </p:txBody>
      </p:sp>
      <p:sp>
        <p:nvSpPr>
          <p:cNvPr id="4" name="タイトル 1">
            <a:extLst>
              <a:ext uri="{FF2B5EF4-FFF2-40B4-BE49-F238E27FC236}">
                <a16:creationId xmlns:a16="http://schemas.microsoft.com/office/drawing/2014/main" id="{5C3DCB9E-1C7F-87BA-0FE5-8F4A11D100C1}"/>
              </a:ext>
            </a:extLst>
          </p:cNvPr>
          <p:cNvSpPr>
            <a:spLocks noGrp="1"/>
          </p:cNvSpPr>
          <p:nvPr>
            <p:ph type="title"/>
          </p:nvPr>
        </p:nvSpPr>
        <p:spPr>
          <a:xfrm>
            <a:off x="838200" y="365125"/>
            <a:ext cx="1423737" cy="1325563"/>
          </a:xfrm>
        </p:spPr>
        <p:txBody>
          <a:bodyPr>
            <a:normAutofit/>
          </a:bodyPr>
          <a:lstStyle/>
          <a:p>
            <a:r>
              <a:rPr kumimoji="1" lang="ja-JP" altLang="en-US">
                <a:latin typeface="UDDigiKyokasho ProN R" panose="02020400000000000000" pitchFamily="18" charset="-128"/>
                <a:ea typeface="UDDigiKyokasho ProN R" panose="02020400000000000000" pitchFamily="18" charset="-128"/>
              </a:rPr>
              <a:t>目的</a:t>
            </a:r>
          </a:p>
        </p:txBody>
      </p:sp>
      <p:sp>
        <p:nvSpPr>
          <p:cNvPr id="5" name="スライド番号プレースホルダー 4">
            <a:extLst>
              <a:ext uri="{FF2B5EF4-FFF2-40B4-BE49-F238E27FC236}">
                <a16:creationId xmlns:a16="http://schemas.microsoft.com/office/drawing/2014/main" id="{2D95FE4B-660E-1767-EBAB-14993B730E7F}"/>
              </a:ext>
            </a:extLst>
          </p:cNvPr>
          <p:cNvSpPr>
            <a:spLocks noGrp="1"/>
          </p:cNvSpPr>
          <p:nvPr>
            <p:ph type="sldNum" sz="quarter" idx="12"/>
          </p:nvPr>
        </p:nvSpPr>
        <p:spPr/>
        <p:txBody>
          <a:bodyPr/>
          <a:lstStyle/>
          <a:p>
            <a:fld id="{2EC8AD93-AF02-5041-8E58-A9BB2AEEDA08}" type="slidenum">
              <a:rPr kumimoji="1" lang="ja-JP" altLang="en-US" smtClean="0"/>
              <a:t>10</a:t>
            </a:fld>
            <a:endParaRPr kumimoji="1" lang="ja-JP" altLang="en-US"/>
          </a:p>
        </p:txBody>
      </p:sp>
    </p:spTree>
    <p:extLst>
      <p:ext uri="{BB962C8B-B14F-4D97-AF65-F5344CB8AC3E}">
        <p14:creationId xmlns:p14="http://schemas.microsoft.com/office/powerpoint/2010/main" val="3948527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EF9EFA17-1F08-E4BB-F59B-E374FF98FAD1}"/>
              </a:ext>
            </a:extLst>
          </p:cNvPr>
          <p:cNvSpPr>
            <a:spLocks noGrp="1"/>
          </p:cNvSpPr>
          <p:nvPr>
            <p:ph type="sldNum" sz="quarter" idx="12"/>
          </p:nvPr>
        </p:nvSpPr>
        <p:spPr/>
        <p:txBody>
          <a:bodyPr/>
          <a:lstStyle/>
          <a:p>
            <a:fld id="{2EC8AD93-AF02-5041-8E58-A9BB2AEEDA08}" type="slidenum">
              <a:rPr kumimoji="1" lang="ja-JP" altLang="en-US" smtClean="0"/>
              <a:t>11</a:t>
            </a:fld>
            <a:endParaRPr kumimoji="1" lang="ja-JP" altLang="en-US"/>
          </a:p>
        </p:txBody>
      </p:sp>
      <p:sp>
        <p:nvSpPr>
          <p:cNvPr id="5" name="タイトル 1">
            <a:extLst>
              <a:ext uri="{FF2B5EF4-FFF2-40B4-BE49-F238E27FC236}">
                <a16:creationId xmlns:a16="http://schemas.microsoft.com/office/drawing/2014/main" id="{6DE493A8-BA5C-8F9D-0091-F46176F84A1B}"/>
              </a:ext>
            </a:extLst>
          </p:cNvPr>
          <p:cNvSpPr>
            <a:spLocks noGrp="1"/>
          </p:cNvSpPr>
          <p:nvPr>
            <p:ph type="title"/>
          </p:nvPr>
        </p:nvSpPr>
        <p:spPr>
          <a:xfrm>
            <a:off x="838200" y="365125"/>
            <a:ext cx="1423737" cy="1325563"/>
          </a:xfrm>
        </p:spPr>
        <p:txBody>
          <a:bodyPr>
            <a:normAutofit/>
          </a:bodyPr>
          <a:lstStyle/>
          <a:p>
            <a:r>
              <a:rPr kumimoji="1" lang="ja-JP" altLang="en-US">
                <a:latin typeface="UDDigiKyokasho ProN R" panose="02020400000000000000" pitchFamily="18" charset="-128"/>
                <a:ea typeface="UDDigiKyokasho ProN R" panose="02020400000000000000" pitchFamily="18" charset="-128"/>
              </a:rPr>
              <a:t>目的</a:t>
            </a:r>
          </a:p>
        </p:txBody>
      </p:sp>
      <p:sp>
        <p:nvSpPr>
          <p:cNvPr id="9" name="コンテンツ プレースホルダー 2">
            <a:extLst>
              <a:ext uri="{FF2B5EF4-FFF2-40B4-BE49-F238E27FC236}">
                <a16:creationId xmlns:a16="http://schemas.microsoft.com/office/drawing/2014/main" id="{96F42869-C17C-6B0F-FB76-AE120CBD264C}"/>
              </a:ext>
            </a:extLst>
          </p:cNvPr>
          <p:cNvSpPr>
            <a:spLocks noGrp="1"/>
          </p:cNvSpPr>
          <p:nvPr>
            <p:ph idx="1"/>
          </p:nvPr>
        </p:nvSpPr>
        <p:spPr>
          <a:xfrm>
            <a:off x="936171" y="2386266"/>
            <a:ext cx="10515600" cy="1804738"/>
          </a:xfrm>
        </p:spPr>
        <p:txBody>
          <a:bodyPr>
            <a:normAutofit lnSpcReduction="10000"/>
          </a:bodyPr>
          <a:lstStyle/>
          <a:p>
            <a:pPr marL="0" indent="0">
              <a:buNone/>
            </a:pPr>
            <a:r>
              <a:rPr lang="ja-JP" altLang="en-US" sz="3200">
                <a:latin typeface="UDDigiKyokasho ProN R" panose="02020400000000000000" pitchFamily="18" charset="-128"/>
                <a:ea typeface="UDDigiKyokasho ProN R" panose="02020400000000000000" pitchFamily="18" charset="-128"/>
              </a:rPr>
              <a:t>・同時に、読書量の測定として</a:t>
            </a:r>
            <a:r>
              <a:rPr lang="en-US" altLang="ja-JP" sz="3200" dirty="0">
                <a:latin typeface="UDDigiKyokasho ProN R" panose="02020400000000000000" pitchFamily="18" charset="-128"/>
                <a:ea typeface="UDDigiKyokasho ProN R" panose="02020400000000000000" pitchFamily="18" charset="-128"/>
              </a:rPr>
              <a:t>ART</a:t>
            </a:r>
            <a:r>
              <a:rPr lang="ja-JP" altLang="en-US" sz="3200">
                <a:latin typeface="UDDigiKyokasho ProN R" panose="02020400000000000000" pitchFamily="18" charset="-128"/>
                <a:ea typeface="UDDigiKyokasho ProN R" panose="02020400000000000000" pitchFamily="18" charset="-128"/>
              </a:rPr>
              <a:t>以外の読書指標を複数用い、各指標の特徴についても明らかにする</a:t>
            </a:r>
            <a:endParaRPr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→今回は、フィクション作品の読書に焦点を当て、調査することとする</a:t>
            </a:r>
          </a:p>
          <a:p>
            <a:pPr marL="0" indent="0">
              <a:buNone/>
            </a:pPr>
            <a:endParaRPr lang="en-US" altLang="ja-JP" sz="3200" dirty="0">
              <a:latin typeface="UDDigiKyokasho ProN R" panose="02020400000000000000" pitchFamily="18" charset="-128"/>
              <a:ea typeface="UDDigiKyokasho ProN R" panose="02020400000000000000" pitchFamily="18" charset="-128"/>
            </a:endParaRPr>
          </a:p>
        </p:txBody>
      </p:sp>
    </p:spTree>
    <p:extLst>
      <p:ext uri="{BB962C8B-B14F-4D97-AF65-F5344CB8AC3E}">
        <p14:creationId xmlns:p14="http://schemas.microsoft.com/office/powerpoint/2010/main" val="1623761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56C79-60BB-A9DC-496D-71C95392733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44D0C7-4FD1-ED61-B643-1C9268664133}"/>
              </a:ext>
            </a:extLst>
          </p:cNvPr>
          <p:cNvSpPr>
            <a:spLocks noGrp="1"/>
          </p:cNvSpPr>
          <p:nvPr>
            <p:ph type="title"/>
          </p:nvPr>
        </p:nvSpPr>
        <p:spPr>
          <a:xfrm>
            <a:off x="881232" y="429673"/>
            <a:ext cx="1700606" cy="1033369"/>
          </a:xfrm>
        </p:spPr>
        <p:txBody>
          <a:bodyPr>
            <a:normAutofit/>
          </a:bodyPr>
          <a:lstStyle/>
          <a:p>
            <a:r>
              <a:rPr kumimoji="1" lang="ja-JP" altLang="en-US" b="1">
                <a:latin typeface="UDDigiKyokasho ProN R" panose="02020400000000000000" pitchFamily="18" charset="-128"/>
                <a:ea typeface="UDDigiKyokasho ProN R" panose="02020400000000000000" pitchFamily="18" charset="-128"/>
              </a:rPr>
              <a:t>方法</a:t>
            </a:r>
          </a:p>
        </p:txBody>
      </p:sp>
      <p:sp>
        <p:nvSpPr>
          <p:cNvPr id="3" name="コンテンツ プレースホルダー 2">
            <a:extLst>
              <a:ext uri="{FF2B5EF4-FFF2-40B4-BE49-F238E27FC236}">
                <a16:creationId xmlns:a16="http://schemas.microsoft.com/office/drawing/2014/main" id="{34C66503-C248-AAEC-1A70-0F2D3F9AF2F0}"/>
              </a:ext>
            </a:extLst>
          </p:cNvPr>
          <p:cNvSpPr>
            <a:spLocks noGrp="1"/>
          </p:cNvSpPr>
          <p:nvPr>
            <p:ph idx="1"/>
          </p:nvPr>
        </p:nvSpPr>
        <p:spPr>
          <a:xfrm>
            <a:off x="881232" y="1722217"/>
            <a:ext cx="10515600" cy="1803981"/>
          </a:xfrm>
        </p:spPr>
        <p:txBody>
          <a:bodyPr>
            <a:normAutofit/>
          </a:bodyPr>
          <a:lstStyle/>
          <a:p>
            <a:pPr marL="0" indent="0">
              <a:buNone/>
            </a:pPr>
            <a:r>
              <a:rPr kumimoji="1" lang="ja-JP" altLang="en-US" sz="3200">
                <a:latin typeface="UDDigiKyokasho ProN R" panose="02020400000000000000" pitchFamily="18" charset="-128"/>
                <a:ea typeface="UDDigiKyokasho ProN R" panose="02020400000000000000" pitchFamily="18" charset="-128"/>
              </a:rPr>
              <a:t>調査対象者：女子大学生</a:t>
            </a:r>
            <a:r>
              <a:rPr kumimoji="1" lang="en-US" altLang="ja-JP" sz="3200" dirty="0">
                <a:latin typeface="UDDigiKyokasho ProN R" panose="02020400000000000000" pitchFamily="18" charset="-128"/>
                <a:ea typeface="UDDigiKyokasho ProN R" panose="02020400000000000000" pitchFamily="18" charset="-128"/>
              </a:rPr>
              <a:t>140</a:t>
            </a:r>
            <a:r>
              <a:rPr kumimoji="1" lang="ja-JP" altLang="en-US" sz="3200">
                <a:latin typeface="UDDigiKyokasho ProN R" panose="02020400000000000000" pitchFamily="18" charset="-128"/>
                <a:ea typeface="UDDigiKyokasho ProN R" panose="02020400000000000000" pitchFamily="18" charset="-128"/>
              </a:rPr>
              <a:t>名</a:t>
            </a:r>
            <a:endParaRPr kumimoji="1" lang="en-US" altLang="ja-JP" sz="3200" dirty="0">
              <a:latin typeface="UDDigiKyokasho ProN R" panose="02020400000000000000" pitchFamily="18" charset="-128"/>
              <a:ea typeface="UDDigiKyokasho ProN R" panose="02020400000000000000" pitchFamily="18" charset="-128"/>
            </a:endParaRPr>
          </a:p>
          <a:p>
            <a:pPr marL="0" indent="0">
              <a:buNone/>
            </a:pPr>
            <a:r>
              <a:rPr lang="ja-JP" altLang="en-US" sz="3200">
                <a:latin typeface="UDDigiKyokasho ProN R" panose="02020400000000000000" pitchFamily="18" charset="-128"/>
                <a:ea typeface="UDDigiKyokasho ProN R" panose="02020400000000000000" pitchFamily="18" charset="-128"/>
              </a:rPr>
              <a:t>調査日：</a:t>
            </a:r>
            <a:r>
              <a:rPr lang="en-US" altLang="ja-JP" sz="3200" dirty="0">
                <a:latin typeface="UDDigiKyokasho ProN R" panose="02020400000000000000" pitchFamily="18" charset="-128"/>
                <a:ea typeface="UDDigiKyokasho ProN R" panose="02020400000000000000" pitchFamily="18" charset="-128"/>
              </a:rPr>
              <a:t>2025</a:t>
            </a:r>
            <a:r>
              <a:rPr lang="ja-JP" altLang="en-US" sz="3200">
                <a:latin typeface="UDDigiKyokasho ProN R" panose="02020400000000000000" pitchFamily="18" charset="-128"/>
                <a:ea typeface="UDDigiKyokasho ProN R" panose="02020400000000000000" pitchFamily="18" charset="-128"/>
              </a:rPr>
              <a:t>年</a:t>
            </a:r>
            <a:r>
              <a:rPr lang="en-US" altLang="ja-JP" sz="3200" dirty="0">
                <a:latin typeface="UDDigiKyokasho ProN R" panose="02020400000000000000" pitchFamily="18" charset="-128"/>
                <a:ea typeface="UDDigiKyokasho ProN R" panose="02020400000000000000" pitchFamily="18" charset="-128"/>
              </a:rPr>
              <a:t>11</a:t>
            </a:r>
            <a:r>
              <a:rPr lang="ja-JP" altLang="en-US" sz="3200">
                <a:latin typeface="UDDigiKyokasho ProN R" panose="02020400000000000000" pitchFamily="18" charset="-128"/>
                <a:ea typeface="UDDigiKyokasho ProN R" panose="02020400000000000000" pitchFamily="18" charset="-128"/>
              </a:rPr>
              <a:t>月</a:t>
            </a:r>
            <a:r>
              <a:rPr lang="en-US" altLang="ja-JP" sz="3200" dirty="0">
                <a:latin typeface="UDDigiKyokasho ProN R" panose="02020400000000000000" pitchFamily="18" charset="-128"/>
                <a:ea typeface="UDDigiKyokasho ProN R" panose="02020400000000000000" pitchFamily="18" charset="-128"/>
              </a:rPr>
              <a:t>13</a:t>
            </a:r>
            <a:r>
              <a:rPr lang="ja-JP" altLang="en-US" sz="3200">
                <a:latin typeface="UDDigiKyokasho ProN R" panose="02020400000000000000" pitchFamily="18" charset="-128"/>
                <a:ea typeface="UDDigiKyokasho ProN R" panose="02020400000000000000" pitchFamily="18" charset="-128"/>
              </a:rPr>
              <a:t>日</a:t>
            </a:r>
            <a:r>
              <a:rPr lang="en-US" altLang="ja-JP" sz="3200" dirty="0">
                <a:latin typeface="UDDigiKyokasho ProN R" panose="02020400000000000000" pitchFamily="18" charset="-128"/>
                <a:ea typeface="UDDigiKyokasho ProN R" panose="02020400000000000000" pitchFamily="18" charset="-128"/>
              </a:rPr>
              <a:t>(</a:t>
            </a:r>
            <a:r>
              <a:rPr lang="ja-JP" altLang="en-US" sz="3200">
                <a:latin typeface="UDDigiKyokasho ProN R" panose="02020400000000000000" pitchFamily="18" charset="-128"/>
                <a:ea typeface="UDDigiKyokasho ProN R" panose="02020400000000000000" pitchFamily="18" charset="-128"/>
              </a:rPr>
              <a:t>木</a:t>
            </a:r>
            <a:r>
              <a:rPr lang="en-US" altLang="ja-JP" sz="3200" dirty="0">
                <a:latin typeface="UDDigiKyokasho ProN R" panose="02020400000000000000" pitchFamily="18" charset="-128"/>
                <a:ea typeface="UDDigiKyokasho ProN R" panose="02020400000000000000" pitchFamily="18" charset="-128"/>
              </a:rPr>
              <a:t>)〜2025</a:t>
            </a:r>
            <a:r>
              <a:rPr lang="ja-JP" altLang="en-US" sz="3200">
                <a:latin typeface="UDDigiKyokasho ProN R" panose="02020400000000000000" pitchFamily="18" charset="-128"/>
                <a:ea typeface="UDDigiKyokasho ProN R" panose="02020400000000000000" pitchFamily="18" charset="-128"/>
              </a:rPr>
              <a:t>年</a:t>
            </a:r>
            <a:r>
              <a:rPr lang="en-US" altLang="ja-JP" sz="3200" dirty="0">
                <a:latin typeface="UDDigiKyokasho ProN R" panose="02020400000000000000" pitchFamily="18" charset="-128"/>
                <a:ea typeface="UDDigiKyokasho ProN R" panose="02020400000000000000" pitchFamily="18" charset="-128"/>
              </a:rPr>
              <a:t>11</a:t>
            </a:r>
            <a:r>
              <a:rPr lang="ja-JP" altLang="en-US" sz="3200">
                <a:latin typeface="UDDigiKyokasho ProN R" panose="02020400000000000000" pitchFamily="18" charset="-128"/>
                <a:ea typeface="UDDigiKyokasho ProN R" panose="02020400000000000000" pitchFamily="18" charset="-128"/>
              </a:rPr>
              <a:t>月</a:t>
            </a:r>
            <a:r>
              <a:rPr lang="en-US" altLang="ja-JP" sz="3200" dirty="0">
                <a:latin typeface="UDDigiKyokasho ProN R" panose="02020400000000000000" pitchFamily="18" charset="-128"/>
                <a:ea typeface="UDDigiKyokasho ProN R" panose="02020400000000000000" pitchFamily="18" charset="-128"/>
              </a:rPr>
              <a:t>21</a:t>
            </a:r>
            <a:r>
              <a:rPr lang="ja-JP" altLang="en-US" sz="3200">
                <a:latin typeface="UDDigiKyokasho ProN R" panose="02020400000000000000" pitchFamily="18" charset="-128"/>
                <a:ea typeface="UDDigiKyokasho ProN R" panose="02020400000000000000" pitchFamily="18" charset="-128"/>
              </a:rPr>
              <a:t>日</a:t>
            </a:r>
            <a:r>
              <a:rPr lang="en-US" altLang="ja-JP" sz="3200" dirty="0">
                <a:latin typeface="UDDigiKyokasho ProN R" panose="02020400000000000000" pitchFamily="18" charset="-128"/>
                <a:ea typeface="UDDigiKyokasho ProN R" panose="02020400000000000000" pitchFamily="18" charset="-128"/>
              </a:rPr>
              <a:t>(</a:t>
            </a:r>
            <a:r>
              <a:rPr lang="ja-JP" altLang="en-US" sz="3200">
                <a:latin typeface="UDDigiKyokasho ProN R" panose="02020400000000000000" pitchFamily="18" charset="-128"/>
                <a:ea typeface="UDDigiKyokasho ProN R" panose="02020400000000000000" pitchFamily="18" charset="-128"/>
              </a:rPr>
              <a:t>金</a:t>
            </a:r>
            <a:r>
              <a:rPr lang="en-US" altLang="ja-JP" sz="3200" dirty="0">
                <a:latin typeface="UDDigiKyokasho ProN R" panose="02020400000000000000" pitchFamily="18" charset="-128"/>
                <a:ea typeface="UDDigiKyokasho ProN R" panose="02020400000000000000" pitchFamily="18" charset="-128"/>
              </a:rPr>
              <a:t>)</a:t>
            </a:r>
          </a:p>
        </p:txBody>
      </p:sp>
      <p:sp>
        <p:nvSpPr>
          <p:cNvPr id="5" name="スライド番号プレースホルダー 4">
            <a:extLst>
              <a:ext uri="{FF2B5EF4-FFF2-40B4-BE49-F238E27FC236}">
                <a16:creationId xmlns:a16="http://schemas.microsoft.com/office/drawing/2014/main" id="{587EA9ED-4E81-B8BB-B0D0-6F7B8D8CC2C4}"/>
              </a:ext>
            </a:extLst>
          </p:cNvPr>
          <p:cNvSpPr>
            <a:spLocks noGrp="1"/>
          </p:cNvSpPr>
          <p:nvPr>
            <p:ph type="sldNum" sz="quarter" idx="12"/>
          </p:nvPr>
        </p:nvSpPr>
        <p:spPr/>
        <p:txBody>
          <a:bodyPr/>
          <a:lstStyle/>
          <a:p>
            <a:fld id="{2EC8AD93-AF02-5041-8E58-A9BB2AEEDA08}" type="slidenum">
              <a:rPr kumimoji="1" lang="ja-JP" altLang="en-US" smtClean="0"/>
              <a:t>12</a:t>
            </a:fld>
            <a:endParaRPr kumimoji="1" lang="ja-JP" altLang="en-US"/>
          </a:p>
        </p:txBody>
      </p:sp>
    </p:spTree>
    <p:extLst>
      <p:ext uri="{BB962C8B-B14F-4D97-AF65-F5344CB8AC3E}">
        <p14:creationId xmlns:p14="http://schemas.microsoft.com/office/powerpoint/2010/main" val="2451229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783D5327-B50A-B28A-617A-D0C54BF31280}"/>
              </a:ext>
            </a:extLst>
          </p:cNvPr>
          <p:cNvSpPr>
            <a:spLocks noGrp="1"/>
          </p:cNvSpPr>
          <p:nvPr>
            <p:ph type="sldNum" sz="quarter" idx="12"/>
          </p:nvPr>
        </p:nvSpPr>
        <p:spPr/>
        <p:txBody>
          <a:bodyPr/>
          <a:lstStyle/>
          <a:p>
            <a:fld id="{2EC8AD93-AF02-5041-8E58-A9BB2AEEDA08}" type="slidenum">
              <a:rPr kumimoji="1" lang="ja-JP" altLang="en-US" smtClean="0"/>
              <a:t>13</a:t>
            </a:fld>
            <a:endParaRPr kumimoji="1" lang="ja-JP" altLang="en-US"/>
          </a:p>
        </p:txBody>
      </p:sp>
      <p:sp>
        <p:nvSpPr>
          <p:cNvPr id="9" name="テキスト ボックス 8">
            <a:extLst>
              <a:ext uri="{FF2B5EF4-FFF2-40B4-BE49-F238E27FC236}">
                <a16:creationId xmlns:a16="http://schemas.microsoft.com/office/drawing/2014/main" id="{BC9CB6D3-5B30-E112-AD71-B3DBB8E5AB00}"/>
              </a:ext>
            </a:extLst>
          </p:cNvPr>
          <p:cNvSpPr txBox="1"/>
          <p:nvPr/>
        </p:nvSpPr>
        <p:spPr>
          <a:xfrm>
            <a:off x="881232" y="1595068"/>
            <a:ext cx="10232571" cy="2862322"/>
          </a:xfrm>
          <a:prstGeom prst="rect">
            <a:avLst/>
          </a:prstGeom>
          <a:noFill/>
        </p:spPr>
        <p:txBody>
          <a:bodyPr wrap="square" rtlCol="0">
            <a:spAutoFit/>
          </a:bodyPr>
          <a:lstStyle/>
          <a:p>
            <a:r>
              <a:rPr lang="en-US" altLang="ja-JP" sz="3600" b="1" dirty="0">
                <a:latin typeface="UDDigiKyokasho ProN R" panose="02020400000000000000" pitchFamily="18" charset="-128"/>
                <a:ea typeface="UDDigiKyokasho ProN R" panose="02020400000000000000" pitchFamily="18" charset="-128"/>
              </a:rPr>
              <a:t>1.</a:t>
            </a:r>
            <a:r>
              <a:rPr lang="ja-JP" altLang="en-US" sz="3600" b="1">
                <a:latin typeface="UDDigiKyokasho ProN R" panose="02020400000000000000" pitchFamily="18" charset="-128"/>
                <a:ea typeface="UDDigiKyokasho ProN R" panose="02020400000000000000" pitchFamily="18" charset="-128"/>
              </a:rPr>
              <a:t> 読書指標：</a:t>
            </a:r>
            <a:r>
              <a:rPr lang="ja-JP" altLang="en-US" sz="3600">
                <a:latin typeface="UDDigiKyokasho ProN R" panose="02020400000000000000" pitchFamily="18" charset="-128"/>
                <a:ea typeface="UDDigiKyokasho ProN R" panose="02020400000000000000" pitchFamily="18" charset="-128"/>
              </a:rPr>
              <a:t>吉田・川島</a:t>
            </a:r>
            <a:r>
              <a:rPr lang="en-US" altLang="ja-JP" sz="3600" dirty="0">
                <a:latin typeface="UDDigiKyokasho ProN R" panose="02020400000000000000" pitchFamily="18" charset="-128"/>
                <a:ea typeface="UDDigiKyokasho ProN R" panose="02020400000000000000" pitchFamily="18" charset="-128"/>
              </a:rPr>
              <a:t>(2004)</a:t>
            </a:r>
            <a:r>
              <a:rPr lang="ja-JP" altLang="en-US" sz="3600">
                <a:latin typeface="UDDigiKyokasho ProN R" panose="02020400000000000000" pitchFamily="18" charset="-128"/>
                <a:ea typeface="UDDigiKyokasho ProN R" panose="02020400000000000000" pitchFamily="18" charset="-128"/>
              </a:rPr>
              <a:t>により作成された「読書ポジティブ尺度」</a:t>
            </a:r>
            <a:r>
              <a:rPr lang="en-US" altLang="ja-JP" sz="3600" dirty="0">
                <a:latin typeface="UDDigiKyokasho ProN R" panose="02020400000000000000" pitchFamily="18" charset="-128"/>
                <a:ea typeface="UDDigiKyokasho ProN R" panose="02020400000000000000" pitchFamily="18" charset="-128"/>
              </a:rPr>
              <a:t>8</a:t>
            </a:r>
            <a:r>
              <a:rPr lang="ja-JP" altLang="en-US" sz="3600">
                <a:latin typeface="UDDigiKyokasho ProN R" panose="02020400000000000000" pitchFamily="18" charset="-128"/>
                <a:ea typeface="UDDigiKyokasho ProN R" panose="02020400000000000000" pitchFamily="18" charset="-128"/>
              </a:rPr>
              <a:t>項目、過去１年間に読んだ本の冊数の月の平均冊数、</a:t>
            </a:r>
            <a:r>
              <a:rPr lang="en-US" altLang="ja-JP" sz="3600" dirty="0">
                <a:latin typeface="UDDigiKyokasho ProN R" panose="02020400000000000000" pitchFamily="18" charset="-128"/>
                <a:ea typeface="UDDigiKyokasho ProN R" panose="02020400000000000000" pitchFamily="18" charset="-128"/>
              </a:rPr>
              <a:t>ART</a:t>
            </a:r>
            <a:r>
              <a:rPr lang="ja-JP" altLang="en-US" sz="3600">
                <a:latin typeface="UDDigiKyokasho ProN R" panose="02020400000000000000" pitchFamily="18" charset="-128"/>
                <a:ea typeface="UDDigiKyokasho ProN R" panose="02020400000000000000" pitchFamily="18" charset="-128"/>
              </a:rPr>
              <a:t>の実在する作家名と実在しない作家名で知っているものがあるか</a:t>
            </a:r>
            <a:endParaRPr kumimoji="1" lang="ja-JP" altLang="en-US" sz="3600"/>
          </a:p>
        </p:txBody>
      </p:sp>
      <p:sp>
        <p:nvSpPr>
          <p:cNvPr id="10" name="タイトル 1">
            <a:extLst>
              <a:ext uri="{FF2B5EF4-FFF2-40B4-BE49-F238E27FC236}">
                <a16:creationId xmlns:a16="http://schemas.microsoft.com/office/drawing/2014/main" id="{9563E18B-8E80-C64F-DF1E-4E9EE9148723}"/>
              </a:ext>
            </a:extLst>
          </p:cNvPr>
          <p:cNvSpPr>
            <a:spLocks noGrp="1"/>
          </p:cNvSpPr>
          <p:nvPr>
            <p:ph type="title"/>
          </p:nvPr>
        </p:nvSpPr>
        <p:spPr>
          <a:xfrm>
            <a:off x="881232" y="0"/>
            <a:ext cx="9514625" cy="1883229"/>
          </a:xfrm>
        </p:spPr>
        <p:txBody>
          <a:bodyPr>
            <a:normAutofit/>
          </a:bodyPr>
          <a:lstStyle/>
          <a:p>
            <a:r>
              <a:rPr kumimoji="1" lang="ja-JP" altLang="en-US" b="1">
                <a:latin typeface="UDDigiKyokasho ProN R" panose="02020400000000000000" pitchFamily="18" charset="-128"/>
                <a:ea typeface="UDDigiKyokasho ProN R" panose="02020400000000000000" pitchFamily="18" charset="-128"/>
              </a:rPr>
              <a:t>方法：</a:t>
            </a:r>
            <a:r>
              <a:rPr lang="ja-JP" altLang="en-US">
                <a:latin typeface="UDDigiKyokasho ProN R" panose="02020400000000000000" pitchFamily="18" charset="-128"/>
                <a:ea typeface="UDDigiKyokasho ProN R" panose="02020400000000000000" pitchFamily="18" charset="-128"/>
              </a:rPr>
              <a:t>質問紙の構成・使用した尺度</a:t>
            </a:r>
            <a:endParaRPr kumimoji="1" lang="ja-JP" altLang="en-US" b="1">
              <a:latin typeface="UDDigiKyokasho ProN R" panose="02020400000000000000" pitchFamily="18" charset="-128"/>
              <a:ea typeface="UDDigiKyokasho ProN R" panose="02020400000000000000" pitchFamily="18" charset="-128"/>
            </a:endParaRPr>
          </a:p>
        </p:txBody>
      </p:sp>
    </p:spTree>
    <p:extLst>
      <p:ext uri="{BB962C8B-B14F-4D97-AF65-F5344CB8AC3E}">
        <p14:creationId xmlns:p14="http://schemas.microsoft.com/office/powerpoint/2010/main" val="3221635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D401D-4DA9-4A05-A8B7-2524E3228F90}"/>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6F5FBBB0-824E-B6F3-B975-B656AA2B2D30}"/>
              </a:ext>
            </a:extLst>
          </p:cNvPr>
          <p:cNvSpPr>
            <a:spLocks noGrp="1"/>
          </p:cNvSpPr>
          <p:nvPr>
            <p:ph idx="1"/>
          </p:nvPr>
        </p:nvSpPr>
        <p:spPr>
          <a:xfrm>
            <a:off x="936172" y="1436912"/>
            <a:ext cx="10515600" cy="4130449"/>
          </a:xfrm>
        </p:spPr>
        <p:txBody>
          <a:bodyPr>
            <a:normAutofit/>
          </a:bodyPr>
          <a:lstStyle/>
          <a:p>
            <a:pPr marL="0" indent="0">
              <a:buNone/>
            </a:pPr>
            <a:r>
              <a:rPr kumimoji="1" lang="en-US" altLang="ja-JP" sz="3200" b="1" dirty="0">
                <a:latin typeface="UDDigiKyokasho ProN R" panose="02020400000000000000" pitchFamily="18" charset="-128"/>
                <a:ea typeface="UDDigiKyokasho ProN R" panose="02020400000000000000" pitchFamily="18" charset="-128"/>
              </a:rPr>
              <a:t>2.</a:t>
            </a:r>
            <a:r>
              <a:rPr kumimoji="1" lang="ja-JP" altLang="en-US" sz="3200" b="1">
                <a:latin typeface="UDDigiKyokasho ProN R" panose="02020400000000000000" pitchFamily="18" charset="-128"/>
                <a:ea typeface="UDDigiKyokasho ProN R" panose="02020400000000000000" pitchFamily="18" charset="-128"/>
              </a:rPr>
              <a:t>共感の測定　</a:t>
            </a:r>
            <a:r>
              <a:rPr kumimoji="1" lang="ja-JP" altLang="en-US" sz="3200">
                <a:latin typeface="UDDigiKyokasho ProN R" panose="02020400000000000000" pitchFamily="18" charset="-128"/>
                <a:ea typeface="UDDigiKyokasho ProN R" panose="02020400000000000000" pitchFamily="18" charset="-128"/>
              </a:rPr>
              <a:t>登張</a:t>
            </a:r>
            <a:r>
              <a:rPr kumimoji="1" lang="en-US" altLang="ja-JP" sz="3200" dirty="0">
                <a:latin typeface="UDDigiKyokasho ProN R" panose="02020400000000000000" pitchFamily="18" charset="-128"/>
                <a:ea typeface="UDDigiKyokasho ProN R" panose="02020400000000000000" pitchFamily="18" charset="-128"/>
              </a:rPr>
              <a:t>(2003)</a:t>
            </a:r>
            <a:r>
              <a:rPr kumimoji="1" lang="ja-JP" altLang="en-US" sz="3200">
                <a:latin typeface="UDDigiKyokasho ProN R" panose="02020400000000000000" pitchFamily="18" charset="-128"/>
                <a:ea typeface="UDDigiKyokasho ProN R" panose="02020400000000000000" pitchFamily="18" charset="-128"/>
              </a:rPr>
              <a:t>の「青年期用多次元的共感性尺度」の「共感的関心」</a:t>
            </a:r>
            <a:r>
              <a:rPr kumimoji="1" lang="en-US" altLang="ja-JP" sz="3200" dirty="0">
                <a:latin typeface="UDDigiKyokasho ProN R" panose="02020400000000000000" pitchFamily="18" charset="-128"/>
                <a:ea typeface="UDDigiKyokasho ProN R" panose="02020400000000000000" pitchFamily="18" charset="-128"/>
              </a:rPr>
              <a:t>13 </a:t>
            </a:r>
            <a:r>
              <a:rPr kumimoji="1" lang="ja-JP" altLang="en-US" sz="3200">
                <a:latin typeface="UDDigiKyokasho ProN R" panose="02020400000000000000" pitchFamily="18" charset="-128"/>
                <a:ea typeface="UDDigiKyokasho ProN R" panose="02020400000000000000" pitchFamily="18" charset="-128"/>
              </a:rPr>
              <a:t>項目、「個人的苦痛」</a:t>
            </a:r>
            <a:r>
              <a:rPr kumimoji="1" lang="en-US" altLang="ja-JP" sz="3200" dirty="0">
                <a:latin typeface="UDDigiKyokasho ProN R" panose="02020400000000000000" pitchFamily="18" charset="-128"/>
                <a:ea typeface="UDDigiKyokasho ProN R" panose="02020400000000000000" pitchFamily="18" charset="-128"/>
              </a:rPr>
              <a:t>6 </a:t>
            </a:r>
            <a:r>
              <a:rPr kumimoji="1" lang="ja-JP" altLang="en-US" sz="3200">
                <a:latin typeface="UDDigiKyokasho ProN R" panose="02020400000000000000" pitchFamily="18" charset="-128"/>
                <a:ea typeface="UDDigiKyokasho ProN R" panose="02020400000000000000" pitchFamily="18" charset="-128"/>
              </a:rPr>
              <a:t>項目、「ファンタジー」</a:t>
            </a:r>
            <a:r>
              <a:rPr kumimoji="1" lang="en-US" altLang="ja-JP" sz="3200" dirty="0">
                <a:latin typeface="UDDigiKyokasho ProN R" panose="02020400000000000000" pitchFamily="18" charset="-128"/>
                <a:ea typeface="UDDigiKyokasho ProN R" panose="02020400000000000000" pitchFamily="18" charset="-128"/>
              </a:rPr>
              <a:t>4 </a:t>
            </a:r>
            <a:r>
              <a:rPr kumimoji="1" lang="ja-JP" altLang="en-US" sz="3200">
                <a:latin typeface="UDDigiKyokasho ProN R" panose="02020400000000000000" pitchFamily="18" charset="-128"/>
                <a:ea typeface="UDDigiKyokasho ProN R" panose="02020400000000000000" pitchFamily="18" charset="-128"/>
              </a:rPr>
              <a:t>項目、「気持ちの想像」</a:t>
            </a:r>
            <a:r>
              <a:rPr kumimoji="1" lang="en-US" altLang="ja-JP" sz="3200" dirty="0">
                <a:latin typeface="UDDigiKyokasho ProN R" panose="02020400000000000000" pitchFamily="18" charset="-128"/>
                <a:ea typeface="UDDigiKyokasho ProN R" panose="02020400000000000000" pitchFamily="18" charset="-128"/>
              </a:rPr>
              <a:t>5 </a:t>
            </a:r>
            <a:r>
              <a:rPr kumimoji="1" lang="ja-JP" altLang="en-US" sz="3200">
                <a:latin typeface="UDDigiKyokasho ProN R" panose="02020400000000000000" pitchFamily="18" charset="-128"/>
                <a:ea typeface="UDDigiKyokasho ProN R" panose="02020400000000000000" pitchFamily="18" charset="-128"/>
              </a:rPr>
              <a:t>項目の計</a:t>
            </a:r>
            <a:r>
              <a:rPr kumimoji="1" lang="en-US" altLang="ja-JP" sz="3200" dirty="0">
                <a:latin typeface="UDDigiKyokasho ProN R" panose="02020400000000000000" pitchFamily="18" charset="-128"/>
                <a:ea typeface="UDDigiKyokasho ProN R" panose="02020400000000000000" pitchFamily="18" charset="-128"/>
              </a:rPr>
              <a:t>28 </a:t>
            </a:r>
            <a:r>
              <a:rPr kumimoji="1" lang="ja-JP" altLang="en-US" sz="3200">
                <a:latin typeface="UDDigiKyokasho ProN R" panose="02020400000000000000" pitchFamily="18" charset="-128"/>
                <a:ea typeface="UDDigiKyokasho ProN R" panose="02020400000000000000" pitchFamily="18" charset="-128"/>
              </a:rPr>
              <a:t>項目を使用した。</a:t>
            </a:r>
          </a:p>
          <a:p>
            <a:pPr marL="0" indent="0">
              <a:buNone/>
            </a:pPr>
            <a:r>
              <a:rPr kumimoji="1" lang="en-US" altLang="ja-JP" sz="3200" b="1" dirty="0">
                <a:latin typeface="UDDigiKyokasho ProN R" panose="02020400000000000000" pitchFamily="18" charset="-128"/>
                <a:ea typeface="UDDigiKyokasho ProN R" panose="02020400000000000000" pitchFamily="18" charset="-128"/>
              </a:rPr>
              <a:t>3.</a:t>
            </a:r>
            <a:r>
              <a:rPr kumimoji="1" lang="ja-JP" altLang="en-US" sz="3200" b="1">
                <a:latin typeface="UDDigiKyokasho ProN R" panose="02020400000000000000" pitchFamily="18" charset="-128"/>
                <a:ea typeface="UDDigiKyokasho ProN R" panose="02020400000000000000" pitchFamily="18" charset="-128"/>
              </a:rPr>
              <a:t>他者の感情理解の</a:t>
            </a:r>
            <a:r>
              <a:rPr lang="ja-JP" altLang="en-US" sz="3200" b="1">
                <a:latin typeface="UDDigiKyokasho ProN R" panose="02020400000000000000" pitchFamily="18" charset="-128"/>
                <a:ea typeface="UDDigiKyokasho ProN R" panose="02020400000000000000" pitchFamily="18" charset="-128"/>
              </a:rPr>
              <a:t>測定</a:t>
            </a:r>
            <a:r>
              <a:rPr lang="ja-JP" altLang="en-US" sz="3200">
                <a:latin typeface="UDDigiKyokasho ProN R" panose="02020400000000000000" pitchFamily="18" charset="-128"/>
                <a:ea typeface="UDDigiKyokasho ProN R" panose="02020400000000000000" pitchFamily="18" charset="-128"/>
              </a:rPr>
              <a:t>　</a:t>
            </a:r>
            <a:r>
              <a:rPr lang="en-US" altLang="ja-JP" sz="3200" dirty="0" err="1">
                <a:latin typeface="UDDigiKyokasho ProN R" panose="02020400000000000000" pitchFamily="18" charset="-128"/>
                <a:ea typeface="UDDigiKyokasho ProN R" panose="02020400000000000000" pitchFamily="18" charset="-128"/>
              </a:rPr>
              <a:t>Fujimura&amp;Umemura</a:t>
            </a:r>
            <a:r>
              <a:rPr lang="en-US" altLang="ja-JP" sz="3200" dirty="0">
                <a:latin typeface="UDDigiKyokasho ProN R" panose="02020400000000000000" pitchFamily="18" charset="-128"/>
                <a:ea typeface="UDDigiKyokasho ProN R" panose="02020400000000000000" pitchFamily="18" charset="-128"/>
              </a:rPr>
              <a:t>(2018)</a:t>
            </a:r>
            <a:r>
              <a:rPr lang="ja-JP" altLang="en-US" sz="3200">
                <a:latin typeface="UDDigiKyokasho ProN R" panose="02020400000000000000" pitchFamily="18" charset="-128"/>
                <a:ea typeface="UDDigiKyokasho ProN R" panose="02020400000000000000" pitchFamily="18" charset="-128"/>
              </a:rPr>
              <a:t>で使用されていた顔写真</a:t>
            </a:r>
            <a:r>
              <a:rPr lang="en-US" altLang="ja-JP" sz="3200" dirty="0">
                <a:latin typeface="UDDigiKyokasho ProN R" panose="02020400000000000000" pitchFamily="18" charset="-128"/>
                <a:ea typeface="UDDigiKyokasho ProN R" panose="02020400000000000000" pitchFamily="18" charset="-128"/>
              </a:rPr>
              <a:t>6</a:t>
            </a:r>
            <a:r>
              <a:rPr lang="ja-JP" altLang="en-US" sz="3200">
                <a:latin typeface="UDDigiKyokasho ProN R" panose="02020400000000000000" pitchFamily="18" charset="-128"/>
                <a:ea typeface="UDDigiKyokasho ProN R" panose="02020400000000000000" pitchFamily="18" charset="-128"/>
              </a:rPr>
              <a:t>枚を使用し、表情からの感情の読み取りにおいて、顔写真が表している感情を正確に読み取れるかを調査した。</a:t>
            </a:r>
            <a:endParaRPr lang="en-US" altLang="ja-JP" sz="3200" dirty="0">
              <a:latin typeface="UDDigiKyokasho ProN R" panose="02020400000000000000" pitchFamily="18" charset="-128"/>
              <a:ea typeface="UDDigiKyokasho ProN R" panose="02020400000000000000" pitchFamily="18" charset="-128"/>
            </a:endParaRPr>
          </a:p>
          <a:p>
            <a:pPr marL="0" indent="0">
              <a:buNone/>
            </a:pPr>
            <a:endParaRPr kumimoji="1" lang="ja-JP" altLang="en-US" sz="3200">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0F803319-6025-46A7-A5E8-F45D708901D6}"/>
              </a:ext>
            </a:extLst>
          </p:cNvPr>
          <p:cNvSpPr>
            <a:spLocks noGrp="1"/>
          </p:cNvSpPr>
          <p:nvPr>
            <p:ph type="sldNum" sz="quarter" idx="12"/>
          </p:nvPr>
        </p:nvSpPr>
        <p:spPr/>
        <p:txBody>
          <a:bodyPr/>
          <a:lstStyle/>
          <a:p>
            <a:fld id="{2EC8AD93-AF02-5041-8E58-A9BB2AEEDA08}" type="slidenum">
              <a:rPr kumimoji="1" lang="ja-JP" altLang="en-US" smtClean="0"/>
              <a:t>14</a:t>
            </a:fld>
            <a:endParaRPr kumimoji="1" lang="ja-JP" altLang="en-US"/>
          </a:p>
        </p:txBody>
      </p:sp>
      <p:sp>
        <p:nvSpPr>
          <p:cNvPr id="7" name="タイトル 1">
            <a:extLst>
              <a:ext uri="{FF2B5EF4-FFF2-40B4-BE49-F238E27FC236}">
                <a16:creationId xmlns:a16="http://schemas.microsoft.com/office/drawing/2014/main" id="{128C6576-C210-E428-0D00-858384D54E4B}"/>
              </a:ext>
            </a:extLst>
          </p:cNvPr>
          <p:cNvSpPr txBox="1">
            <a:spLocks/>
          </p:cNvSpPr>
          <p:nvPr/>
        </p:nvSpPr>
        <p:spPr>
          <a:xfrm>
            <a:off x="881232" y="0"/>
            <a:ext cx="9514625" cy="18832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方法：</a:t>
            </a:r>
            <a:r>
              <a:rPr lang="ja-JP" altLang="en-US">
                <a:latin typeface="UDDigiKyokasho ProN R" panose="02020400000000000000" pitchFamily="18" charset="-128"/>
                <a:ea typeface="UDDigiKyokasho ProN R" panose="02020400000000000000" pitchFamily="18" charset="-128"/>
              </a:rPr>
              <a:t>質問紙の構成・使用した尺度</a:t>
            </a:r>
            <a:endParaRPr lang="ja-JP" altLang="en-US" b="1">
              <a:latin typeface="UDDigiKyokasho ProN R" panose="02020400000000000000" pitchFamily="18" charset="-128"/>
              <a:ea typeface="UDDigiKyokasho ProN R" panose="02020400000000000000" pitchFamily="18" charset="-128"/>
            </a:endParaRPr>
          </a:p>
        </p:txBody>
      </p:sp>
    </p:spTree>
    <p:extLst>
      <p:ext uri="{BB962C8B-B14F-4D97-AF65-F5344CB8AC3E}">
        <p14:creationId xmlns:p14="http://schemas.microsoft.com/office/powerpoint/2010/main" val="790532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5B5C1-8CFA-5BFA-3D3E-78D7C33B67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3EFFE2-A93D-5295-4D76-952C808A248A}"/>
              </a:ext>
            </a:extLst>
          </p:cNvPr>
          <p:cNvSpPr>
            <a:spLocks noGrp="1"/>
          </p:cNvSpPr>
          <p:nvPr>
            <p:ph type="title"/>
          </p:nvPr>
        </p:nvSpPr>
        <p:spPr>
          <a:xfrm>
            <a:off x="838200" y="631370"/>
            <a:ext cx="1831848" cy="1063627"/>
          </a:xfrm>
        </p:spPr>
        <p:txBody>
          <a:bodyPr>
            <a:normAutofit/>
          </a:bodyPr>
          <a:lstStyle/>
          <a:p>
            <a:r>
              <a:rPr lang="ja-JP" altLang="en-US" b="1">
                <a:latin typeface="UDDigiKyokasho ProN R" panose="02020400000000000000" pitchFamily="18" charset="-128"/>
                <a:ea typeface="UDDigiKyokasho ProN R" panose="02020400000000000000" pitchFamily="18" charset="-128"/>
              </a:rPr>
              <a:t>方法</a:t>
            </a:r>
            <a:endParaRPr kumimoji="1" lang="ja-JP" altLang="en-US" b="1">
              <a:latin typeface="UDDigiKyokasho ProN R" panose="02020400000000000000" pitchFamily="18" charset="-128"/>
              <a:ea typeface="UDDigiKyokasho ProN R" panose="02020400000000000000" pitchFamily="18" charset="-128"/>
            </a:endParaRPr>
          </a:p>
        </p:txBody>
      </p:sp>
      <p:sp>
        <p:nvSpPr>
          <p:cNvPr id="6" name="テキスト ボックス 5">
            <a:extLst>
              <a:ext uri="{FF2B5EF4-FFF2-40B4-BE49-F238E27FC236}">
                <a16:creationId xmlns:a16="http://schemas.microsoft.com/office/drawing/2014/main" id="{A8A9E5F0-8043-9CDD-9DDC-66DF3B6D1321}"/>
              </a:ext>
            </a:extLst>
          </p:cNvPr>
          <p:cNvSpPr txBox="1"/>
          <p:nvPr/>
        </p:nvSpPr>
        <p:spPr>
          <a:xfrm>
            <a:off x="1219199" y="1861456"/>
            <a:ext cx="4628148" cy="2308324"/>
          </a:xfrm>
          <a:prstGeom prst="rect">
            <a:avLst/>
          </a:prstGeom>
          <a:noFill/>
        </p:spPr>
        <p:txBody>
          <a:bodyPr wrap="square" rtlCol="0">
            <a:spAutoFit/>
          </a:bodyPr>
          <a:lstStyle/>
          <a:p>
            <a:r>
              <a:rPr lang="ja-JP" altLang="en-US" sz="3600" b="1">
                <a:latin typeface="UDDigiKyokasho ProN R" panose="02020400000000000000" pitchFamily="18" charset="-128"/>
                <a:ea typeface="UDDigiKyokasho ProN R" panose="02020400000000000000" pitchFamily="18" charset="-128"/>
              </a:rPr>
              <a:t>使用した分析手法</a:t>
            </a:r>
            <a:endParaRPr lang="en-US" altLang="ja-JP" sz="3600" b="1" dirty="0">
              <a:latin typeface="UDDigiKyokasho ProN R" panose="02020400000000000000" pitchFamily="18" charset="-128"/>
              <a:ea typeface="UDDigiKyokasho ProN R" panose="02020400000000000000" pitchFamily="18" charset="-128"/>
            </a:endParaRPr>
          </a:p>
          <a:p>
            <a:r>
              <a:rPr kumimoji="1" lang="ja-JP" altLang="en-US" sz="3600">
                <a:latin typeface="UDDigiKyokasho ProN R" panose="02020400000000000000" pitchFamily="18" charset="-128"/>
                <a:ea typeface="UDDigiKyokasho ProN R" panose="02020400000000000000" pitchFamily="18" charset="-128"/>
              </a:rPr>
              <a:t>・因子分析</a:t>
            </a:r>
            <a:endParaRPr kumimoji="1" lang="en-US" altLang="ja-JP" sz="3600" dirty="0">
              <a:latin typeface="UDDigiKyokasho ProN R" panose="02020400000000000000" pitchFamily="18" charset="-128"/>
              <a:ea typeface="UDDigiKyokasho ProN R" panose="02020400000000000000" pitchFamily="18" charset="-128"/>
            </a:endParaRPr>
          </a:p>
          <a:p>
            <a:r>
              <a:rPr lang="ja-JP" altLang="en-US" sz="3600">
                <a:latin typeface="UDDigiKyokasho ProN R" panose="02020400000000000000" pitchFamily="18" charset="-128"/>
                <a:ea typeface="UDDigiKyokasho ProN R" panose="02020400000000000000" pitchFamily="18" charset="-128"/>
              </a:rPr>
              <a:t>・相関分析</a:t>
            </a:r>
            <a:endParaRPr lang="en-US" altLang="ja-JP" sz="3600" dirty="0">
              <a:latin typeface="UDDigiKyokasho ProN R" panose="02020400000000000000" pitchFamily="18" charset="-128"/>
              <a:ea typeface="UDDigiKyokasho ProN R" panose="02020400000000000000" pitchFamily="18" charset="-128"/>
            </a:endParaRPr>
          </a:p>
          <a:p>
            <a:r>
              <a:rPr kumimoji="1" lang="ja-JP" altLang="en-US" sz="3600">
                <a:latin typeface="UDDigiKyokasho ProN R" panose="02020400000000000000" pitchFamily="18" charset="-128"/>
                <a:ea typeface="UDDigiKyokasho ProN R" panose="02020400000000000000" pitchFamily="18" charset="-128"/>
              </a:rPr>
              <a:t>・階層的重回帰分析</a:t>
            </a:r>
          </a:p>
        </p:txBody>
      </p:sp>
      <p:sp>
        <p:nvSpPr>
          <p:cNvPr id="4" name="スライド番号プレースホルダー 3">
            <a:extLst>
              <a:ext uri="{FF2B5EF4-FFF2-40B4-BE49-F238E27FC236}">
                <a16:creationId xmlns:a16="http://schemas.microsoft.com/office/drawing/2014/main" id="{6EFA3448-A982-8CAE-7179-9A69CAF41405}"/>
              </a:ext>
            </a:extLst>
          </p:cNvPr>
          <p:cNvSpPr>
            <a:spLocks noGrp="1"/>
          </p:cNvSpPr>
          <p:nvPr>
            <p:ph type="sldNum" sz="quarter" idx="12"/>
          </p:nvPr>
        </p:nvSpPr>
        <p:spPr/>
        <p:txBody>
          <a:bodyPr/>
          <a:lstStyle/>
          <a:p>
            <a:fld id="{2EC8AD93-AF02-5041-8E58-A9BB2AEEDA08}" type="slidenum">
              <a:rPr kumimoji="1" lang="ja-JP" altLang="en-US" smtClean="0"/>
              <a:t>15</a:t>
            </a:fld>
            <a:endParaRPr kumimoji="1" lang="ja-JP" altLang="en-US"/>
          </a:p>
        </p:txBody>
      </p:sp>
    </p:spTree>
    <p:extLst>
      <p:ext uri="{BB962C8B-B14F-4D97-AF65-F5344CB8AC3E}">
        <p14:creationId xmlns:p14="http://schemas.microsoft.com/office/powerpoint/2010/main" val="1041636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AFA1B-1420-C1A2-FFAC-30EEAC9882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912052-05D9-07A9-7662-133B24DD092B}"/>
              </a:ext>
            </a:extLst>
          </p:cNvPr>
          <p:cNvSpPr>
            <a:spLocks noGrp="1"/>
          </p:cNvSpPr>
          <p:nvPr>
            <p:ph type="title"/>
          </p:nvPr>
        </p:nvSpPr>
        <p:spPr>
          <a:xfrm>
            <a:off x="838200" y="365125"/>
            <a:ext cx="3352800" cy="1460500"/>
          </a:xfrm>
        </p:spPr>
        <p:txBody>
          <a:bodyPr>
            <a:normAutofit/>
          </a:bodyPr>
          <a:lstStyle/>
          <a:p>
            <a:r>
              <a:rPr kumimoji="1" lang="ja-JP" altLang="en-US" b="1">
                <a:latin typeface="UDDigiKyokasho ProN R" panose="02020400000000000000" pitchFamily="18" charset="-128"/>
                <a:ea typeface="UDDigiKyokasho ProN R" panose="02020400000000000000" pitchFamily="18" charset="-128"/>
              </a:rPr>
              <a:t>結果と考察</a:t>
            </a:r>
          </a:p>
        </p:txBody>
      </p:sp>
      <p:sp>
        <p:nvSpPr>
          <p:cNvPr id="14" name="テキスト ボックス 13">
            <a:extLst>
              <a:ext uri="{FF2B5EF4-FFF2-40B4-BE49-F238E27FC236}">
                <a16:creationId xmlns:a16="http://schemas.microsoft.com/office/drawing/2014/main" id="{2DBE16A3-57D8-63C1-C485-F55C19D903AA}"/>
              </a:ext>
            </a:extLst>
          </p:cNvPr>
          <p:cNvSpPr txBox="1"/>
          <p:nvPr/>
        </p:nvSpPr>
        <p:spPr>
          <a:xfrm>
            <a:off x="656587" y="1684566"/>
            <a:ext cx="10381531" cy="4031873"/>
          </a:xfrm>
          <a:prstGeom prst="rect">
            <a:avLst/>
          </a:prstGeom>
          <a:noFill/>
        </p:spPr>
        <p:txBody>
          <a:bodyPr wrap="square" rtlCol="0">
            <a:spAutoFit/>
          </a:bodyPr>
          <a:lstStyle/>
          <a:p>
            <a:pPr lvl="1"/>
            <a:r>
              <a:rPr lang="ja-JP" altLang="en-US" sz="3200">
                <a:latin typeface="UDDigiKyokasho ProN R" panose="02020400000000000000" pitchFamily="18" charset="-128"/>
                <a:ea typeface="UDDigiKyokasho ProN R" panose="02020400000000000000" pitchFamily="18" charset="-128"/>
              </a:rPr>
              <a:t>・読書指標間に相関が認められたものの、強い相関ではなかったので、役割分担されていたと考えられる</a:t>
            </a:r>
            <a:endParaRPr lang="en-US" altLang="ja-JP" sz="3200" dirty="0">
              <a:latin typeface="UDDigiKyokasho ProN R" panose="02020400000000000000" pitchFamily="18" charset="-128"/>
              <a:ea typeface="UDDigiKyokasho ProN R" panose="02020400000000000000" pitchFamily="18" charset="-128"/>
            </a:endParaRPr>
          </a:p>
          <a:p>
            <a:pPr lvl="1"/>
            <a:r>
              <a:rPr lang="ja-JP" altLang="en-US" sz="3200">
                <a:latin typeface="UDDigiKyokasho ProN R" panose="02020400000000000000" pitchFamily="18" charset="-128"/>
                <a:ea typeface="UDDigiKyokasho ProN R" panose="02020400000000000000" pitchFamily="18" charset="-128"/>
              </a:rPr>
              <a:t>⇨読書の効果を複数の側面から測定することが必要</a:t>
            </a:r>
            <a:endParaRPr kumimoji="1" lang="en-US" altLang="ja-JP" sz="3200" dirty="0">
              <a:latin typeface="UDDigiKyokasho ProN R" panose="02020400000000000000" pitchFamily="18" charset="-128"/>
              <a:ea typeface="UDDigiKyokasho ProN R" panose="02020400000000000000" pitchFamily="18" charset="-128"/>
            </a:endParaRPr>
          </a:p>
          <a:p>
            <a:pPr lvl="1"/>
            <a:r>
              <a:rPr kumimoji="1" lang="ja-JP" altLang="en-US" sz="3200">
                <a:latin typeface="UDDigiKyokasho ProN R" panose="02020400000000000000" pitchFamily="18" charset="-128"/>
                <a:ea typeface="UDDigiKyokasho ProN R" panose="02020400000000000000" pitchFamily="18" charset="-128"/>
              </a:rPr>
              <a:t>・過去</a:t>
            </a:r>
            <a:r>
              <a:rPr kumimoji="1" lang="en-US" altLang="ja-JP" sz="3200" dirty="0">
                <a:latin typeface="UDDigiKyokasho ProN R" panose="02020400000000000000" pitchFamily="18" charset="-128"/>
                <a:ea typeface="UDDigiKyokasho ProN R" panose="02020400000000000000" pitchFamily="18" charset="-128"/>
              </a:rPr>
              <a:t>1</a:t>
            </a:r>
            <a:r>
              <a:rPr kumimoji="1" lang="ja-JP" altLang="en-US" sz="3200">
                <a:latin typeface="UDDigiKyokasho ProN R" panose="02020400000000000000" pitchFamily="18" charset="-128"/>
                <a:ea typeface="UDDigiKyokasho ProN R" panose="02020400000000000000" pitchFamily="18" charset="-128"/>
              </a:rPr>
              <a:t>年間の読書量の月平均</a:t>
            </a:r>
            <a:r>
              <a:rPr lang="en-US" altLang="ja-JP" sz="3200" dirty="0">
                <a:latin typeface="UDDigiKyokasho ProN R" panose="02020400000000000000" pitchFamily="18" charset="-128"/>
                <a:ea typeface="UDDigiKyokasho ProN R" panose="02020400000000000000" pitchFamily="18" charset="-128"/>
              </a:rPr>
              <a:t>-</a:t>
            </a:r>
            <a:r>
              <a:rPr lang="ja-JP" altLang="en-US" sz="3200">
                <a:latin typeface="UDDigiKyokasho ProN R" panose="02020400000000000000" pitchFamily="18" charset="-128"/>
                <a:ea typeface="UDDigiKyokasho ProN R" panose="02020400000000000000" pitchFamily="18" charset="-128"/>
              </a:rPr>
              <a:t>気持ちの想像</a:t>
            </a:r>
            <a:endParaRPr lang="en-US" altLang="ja-JP" sz="3200" dirty="0">
              <a:latin typeface="UDDigiKyokasho ProN R" panose="02020400000000000000" pitchFamily="18" charset="-128"/>
              <a:ea typeface="UDDigiKyokasho ProN R" panose="02020400000000000000" pitchFamily="18" charset="-128"/>
            </a:endParaRPr>
          </a:p>
          <a:p>
            <a:pPr lvl="1"/>
            <a:r>
              <a:rPr lang="ja-JP" altLang="en-US" sz="3200">
                <a:latin typeface="UDDigiKyokasho ProN R" panose="02020400000000000000" pitchFamily="18" charset="-128"/>
                <a:ea typeface="UDDigiKyokasho ProN R" panose="02020400000000000000" pitchFamily="18" charset="-128"/>
              </a:rPr>
              <a:t>・</a:t>
            </a:r>
            <a:r>
              <a:rPr lang="en-US" altLang="ja-JP" sz="3200" dirty="0">
                <a:latin typeface="UDDigiKyokasho ProN R" panose="02020400000000000000" pitchFamily="18" charset="-128"/>
                <a:ea typeface="UDDigiKyokasho ProN R" panose="02020400000000000000" pitchFamily="18" charset="-128"/>
              </a:rPr>
              <a:t>ART-</a:t>
            </a:r>
            <a:r>
              <a:rPr lang="ja-JP" altLang="en-US" sz="3200">
                <a:latin typeface="UDDigiKyokasho ProN R" panose="02020400000000000000" pitchFamily="18" charset="-128"/>
                <a:ea typeface="UDDigiKyokasho ProN R" panose="02020400000000000000" pitchFamily="18" charset="-128"/>
              </a:rPr>
              <a:t>個人的苦痛</a:t>
            </a:r>
            <a:endParaRPr lang="en-US" altLang="ja-JP" sz="3200" dirty="0">
              <a:latin typeface="UDDigiKyokasho ProN R" panose="02020400000000000000" pitchFamily="18" charset="-128"/>
              <a:ea typeface="UDDigiKyokasho ProN R" panose="02020400000000000000" pitchFamily="18" charset="-128"/>
            </a:endParaRPr>
          </a:p>
          <a:p>
            <a:pPr lvl="1"/>
            <a:r>
              <a:rPr kumimoji="1" lang="ja-JP" altLang="en-US" sz="3200">
                <a:latin typeface="UDDigiKyokasho ProN R" panose="02020400000000000000" pitchFamily="18" charset="-128"/>
                <a:ea typeface="UDDigiKyokasho ProN R" panose="02020400000000000000" pitchFamily="18" charset="-128"/>
              </a:rPr>
              <a:t>・直近</a:t>
            </a:r>
            <a:r>
              <a:rPr kumimoji="1" lang="en-US" altLang="ja-JP" sz="3200" dirty="0">
                <a:latin typeface="UDDigiKyokasho ProN R" panose="02020400000000000000" pitchFamily="18" charset="-128"/>
                <a:ea typeface="UDDigiKyokasho ProN R" panose="02020400000000000000" pitchFamily="18" charset="-128"/>
              </a:rPr>
              <a:t>1</a:t>
            </a:r>
            <a:r>
              <a:rPr kumimoji="1" lang="ja-JP" altLang="en-US" sz="3200">
                <a:latin typeface="UDDigiKyokasho ProN R" panose="02020400000000000000" pitchFamily="18" charset="-128"/>
                <a:ea typeface="UDDigiKyokasho ProN R" panose="02020400000000000000" pitchFamily="18" charset="-128"/>
              </a:rPr>
              <a:t>ヶ月間の読書量</a:t>
            </a:r>
            <a:r>
              <a:rPr kumimoji="1" lang="en-US" altLang="ja-JP" sz="3200" dirty="0">
                <a:latin typeface="UDDigiKyokasho ProN R" panose="02020400000000000000" pitchFamily="18" charset="-128"/>
                <a:ea typeface="UDDigiKyokasho ProN R" panose="02020400000000000000" pitchFamily="18" charset="-128"/>
              </a:rPr>
              <a:t>-</a:t>
            </a:r>
            <a:r>
              <a:rPr kumimoji="1" lang="ja-JP" altLang="en-US" sz="3200">
                <a:latin typeface="UDDigiKyokasho ProN R" panose="02020400000000000000" pitchFamily="18" charset="-128"/>
                <a:ea typeface="UDDigiKyokasho ProN R" panose="02020400000000000000" pitchFamily="18" charset="-128"/>
              </a:rPr>
              <a:t>表情の平均・嫌悪・悲しみ</a:t>
            </a:r>
            <a:endParaRPr kumimoji="1" lang="en-US" altLang="ja-JP" sz="3200" dirty="0">
              <a:latin typeface="UDDigiKyokasho ProN R" panose="02020400000000000000" pitchFamily="18" charset="-128"/>
              <a:ea typeface="UDDigiKyokasho ProN R" panose="02020400000000000000" pitchFamily="18" charset="-128"/>
            </a:endParaRPr>
          </a:p>
          <a:p>
            <a:pPr lvl="1"/>
            <a:r>
              <a:rPr lang="ja-JP" altLang="en-US" sz="3200">
                <a:latin typeface="UDDigiKyokasho ProN R" panose="02020400000000000000" pitchFamily="18" charset="-128"/>
                <a:ea typeface="UDDigiKyokasho ProN R" panose="02020400000000000000" pitchFamily="18" charset="-128"/>
              </a:rPr>
              <a:t>⇨重回帰分析の結果と合わせて考察</a:t>
            </a:r>
          </a:p>
        </p:txBody>
      </p:sp>
      <p:sp>
        <p:nvSpPr>
          <p:cNvPr id="4" name="スライド番号プレースホルダー 3">
            <a:extLst>
              <a:ext uri="{FF2B5EF4-FFF2-40B4-BE49-F238E27FC236}">
                <a16:creationId xmlns:a16="http://schemas.microsoft.com/office/drawing/2014/main" id="{8811F4B4-D611-AD1E-A49C-071C4C99053B}"/>
              </a:ext>
            </a:extLst>
          </p:cNvPr>
          <p:cNvSpPr>
            <a:spLocks noGrp="1"/>
          </p:cNvSpPr>
          <p:nvPr>
            <p:ph type="sldNum" sz="quarter" idx="12"/>
          </p:nvPr>
        </p:nvSpPr>
        <p:spPr/>
        <p:txBody>
          <a:bodyPr/>
          <a:lstStyle/>
          <a:p>
            <a:fld id="{2EC8AD93-AF02-5041-8E58-A9BB2AEEDA08}" type="slidenum">
              <a:rPr kumimoji="1" lang="ja-JP" altLang="en-US" smtClean="0"/>
              <a:t>16</a:t>
            </a:fld>
            <a:endParaRPr kumimoji="1" lang="ja-JP" altLang="en-US"/>
          </a:p>
        </p:txBody>
      </p:sp>
    </p:spTree>
    <p:extLst>
      <p:ext uri="{BB962C8B-B14F-4D97-AF65-F5344CB8AC3E}">
        <p14:creationId xmlns:p14="http://schemas.microsoft.com/office/powerpoint/2010/main" val="1010803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CB0E402-5F63-4337-D416-429A5534D8FF}"/>
              </a:ext>
            </a:extLst>
          </p:cNvPr>
          <p:cNvSpPr>
            <a:spLocks noGrp="1"/>
          </p:cNvSpPr>
          <p:nvPr>
            <p:ph type="sldNum" sz="quarter" idx="12"/>
          </p:nvPr>
        </p:nvSpPr>
        <p:spPr/>
        <p:txBody>
          <a:bodyPr/>
          <a:lstStyle/>
          <a:p>
            <a:fld id="{2EC8AD93-AF02-5041-8E58-A9BB2AEEDA08}" type="slidenum">
              <a:rPr kumimoji="1" lang="ja-JP" altLang="en-US" smtClean="0"/>
              <a:t>17</a:t>
            </a:fld>
            <a:endParaRPr kumimoji="1" lang="ja-JP" altLang="en-US"/>
          </a:p>
        </p:txBody>
      </p:sp>
      <p:pic>
        <p:nvPicPr>
          <p:cNvPr id="8" name="図 7">
            <a:extLst>
              <a:ext uri="{FF2B5EF4-FFF2-40B4-BE49-F238E27FC236}">
                <a16:creationId xmlns:a16="http://schemas.microsoft.com/office/drawing/2014/main" id="{78151EC3-8301-F1F2-3482-112802EE20E3}"/>
              </a:ext>
            </a:extLst>
          </p:cNvPr>
          <p:cNvPicPr>
            <a:picLocks noChangeAspect="1"/>
          </p:cNvPicPr>
          <p:nvPr/>
        </p:nvPicPr>
        <p:blipFill>
          <a:blip r:embed="rId2"/>
          <a:stretch>
            <a:fillRect/>
          </a:stretch>
        </p:blipFill>
        <p:spPr>
          <a:xfrm>
            <a:off x="1059000" y="936173"/>
            <a:ext cx="9924685" cy="4791952"/>
          </a:xfrm>
          <a:prstGeom prst="rect">
            <a:avLst/>
          </a:prstGeom>
        </p:spPr>
      </p:pic>
    </p:spTree>
    <p:extLst>
      <p:ext uri="{BB962C8B-B14F-4D97-AF65-F5344CB8AC3E}">
        <p14:creationId xmlns:p14="http://schemas.microsoft.com/office/powerpoint/2010/main" val="1932776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FDFD5-5C20-0686-1484-A1D5F3FE74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18FCF8-06A7-515E-331A-AA7068779079}"/>
              </a:ext>
            </a:extLst>
          </p:cNvPr>
          <p:cNvSpPr>
            <a:spLocks noGrp="1"/>
          </p:cNvSpPr>
          <p:nvPr>
            <p:ph type="title"/>
          </p:nvPr>
        </p:nvSpPr>
        <p:spPr>
          <a:xfrm>
            <a:off x="838200" y="365125"/>
            <a:ext cx="1831848" cy="1460500"/>
          </a:xfrm>
        </p:spPr>
        <p:txBody>
          <a:bodyPr>
            <a:normAutofit/>
          </a:bodyPr>
          <a:lstStyle/>
          <a:p>
            <a:br>
              <a:rPr kumimoji="1" lang="en-US" altLang="ja-JP" dirty="0">
                <a:latin typeface="UDDigiKyokasho ProN R" panose="02020400000000000000" pitchFamily="18" charset="-128"/>
                <a:ea typeface="UDDigiKyokasho ProN R" panose="02020400000000000000" pitchFamily="18" charset="-128"/>
              </a:rPr>
            </a:br>
            <a:endParaRPr kumimoji="1" lang="ja-JP" altLang="en-US">
              <a:latin typeface="UDDigiKyokasho ProN R" panose="02020400000000000000" pitchFamily="18" charset="-128"/>
              <a:ea typeface="UDDigiKyokasho ProN R" panose="02020400000000000000" pitchFamily="18" charset="-128"/>
            </a:endParaRPr>
          </a:p>
        </p:txBody>
      </p:sp>
      <p:sp>
        <p:nvSpPr>
          <p:cNvPr id="4" name="タイトル 1">
            <a:extLst>
              <a:ext uri="{FF2B5EF4-FFF2-40B4-BE49-F238E27FC236}">
                <a16:creationId xmlns:a16="http://schemas.microsoft.com/office/drawing/2014/main" id="{5EE0C583-95EB-6A47-DB8E-2C9A3F0DBC88}"/>
              </a:ext>
            </a:extLst>
          </p:cNvPr>
          <p:cNvSpPr txBox="1">
            <a:spLocks/>
          </p:cNvSpPr>
          <p:nvPr/>
        </p:nvSpPr>
        <p:spPr>
          <a:xfrm>
            <a:off x="990600" y="517525"/>
            <a:ext cx="3371850" cy="1460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p>
        </p:txBody>
      </p:sp>
      <p:sp>
        <p:nvSpPr>
          <p:cNvPr id="10" name="コンテンツ プレースホルダー 9">
            <a:extLst>
              <a:ext uri="{FF2B5EF4-FFF2-40B4-BE49-F238E27FC236}">
                <a16:creationId xmlns:a16="http://schemas.microsoft.com/office/drawing/2014/main" id="{781DAF3D-D1CD-EFEE-DDB9-ACBCC9075D54}"/>
              </a:ext>
            </a:extLst>
          </p:cNvPr>
          <p:cNvSpPr>
            <a:spLocks noGrp="1"/>
          </p:cNvSpPr>
          <p:nvPr>
            <p:ph idx="1"/>
          </p:nvPr>
        </p:nvSpPr>
        <p:spPr/>
        <p:txBody>
          <a:bodyPr/>
          <a:lstStyle/>
          <a:p>
            <a:pPr marL="0" indent="0">
              <a:buNone/>
            </a:pPr>
            <a:r>
              <a:rPr lang="ja-JP" altLang="en-US">
                <a:latin typeface="UDDigiKyokasho ProN R" panose="02020400000000000000" pitchFamily="18" charset="-128"/>
                <a:ea typeface="UDDigiKyokasho ProN R" panose="02020400000000000000" pitchFamily="18" charset="-128"/>
              </a:rPr>
              <a:t>・重回帰分析の結果、共感の因子である、共感的関心・同情的苦痛、表情の怒り・驚きには、有意な関連が認められなかった。</a:t>
            </a:r>
            <a:endParaRPr lang="en-US" altLang="ja-JP" dirty="0">
              <a:latin typeface="UDDigiKyokasho ProN R" panose="02020400000000000000" pitchFamily="18" charset="-128"/>
              <a:ea typeface="UDDigiKyokasho ProN R" panose="02020400000000000000" pitchFamily="18" charset="-128"/>
            </a:endParaRPr>
          </a:p>
          <a:p>
            <a:pPr marL="0" indent="0">
              <a:buNone/>
            </a:pPr>
            <a:r>
              <a:rPr lang="ja-JP" altLang="en-US">
                <a:latin typeface="UDDigiKyokasho ProN R" panose="02020400000000000000" pitchFamily="18" charset="-128"/>
                <a:ea typeface="UDDigiKyokasho ProN R" panose="02020400000000000000" pitchFamily="18" charset="-128"/>
              </a:rPr>
              <a:t>→相関分析でも認められなかった</a:t>
            </a:r>
          </a:p>
        </p:txBody>
      </p:sp>
      <p:sp>
        <p:nvSpPr>
          <p:cNvPr id="5" name="スライド番号プレースホルダー 4">
            <a:extLst>
              <a:ext uri="{FF2B5EF4-FFF2-40B4-BE49-F238E27FC236}">
                <a16:creationId xmlns:a16="http://schemas.microsoft.com/office/drawing/2014/main" id="{F967C20A-87ED-CEB1-35D0-ADB7323B484C}"/>
              </a:ext>
            </a:extLst>
          </p:cNvPr>
          <p:cNvSpPr>
            <a:spLocks noGrp="1"/>
          </p:cNvSpPr>
          <p:nvPr>
            <p:ph type="sldNum" sz="quarter" idx="12"/>
          </p:nvPr>
        </p:nvSpPr>
        <p:spPr/>
        <p:txBody>
          <a:bodyPr/>
          <a:lstStyle/>
          <a:p>
            <a:fld id="{2EC8AD93-AF02-5041-8E58-A9BB2AEEDA08}" type="slidenum">
              <a:rPr kumimoji="1" lang="ja-JP" altLang="en-US" smtClean="0"/>
              <a:t>18</a:t>
            </a:fld>
            <a:endParaRPr kumimoji="1" lang="ja-JP" altLang="en-US"/>
          </a:p>
        </p:txBody>
      </p:sp>
    </p:spTree>
    <p:extLst>
      <p:ext uri="{BB962C8B-B14F-4D97-AF65-F5344CB8AC3E}">
        <p14:creationId xmlns:p14="http://schemas.microsoft.com/office/powerpoint/2010/main" val="3557957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1BE98-D2CE-4FAA-DEC2-1EBF6C1930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BE6CDA-0F4D-4ADE-3CF0-916E5ACC5719}"/>
              </a:ext>
            </a:extLst>
          </p:cNvPr>
          <p:cNvSpPr>
            <a:spLocks noGrp="1"/>
          </p:cNvSpPr>
          <p:nvPr>
            <p:ph type="title"/>
          </p:nvPr>
        </p:nvSpPr>
        <p:spPr>
          <a:xfrm>
            <a:off x="838200" y="365125"/>
            <a:ext cx="1831848" cy="1460500"/>
          </a:xfrm>
        </p:spPr>
        <p:txBody>
          <a:bodyPr>
            <a:normAutofit/>
          </a:bodyPr>
          <a:lstStyle/>
          <a:p>
            <a:br>
              <a:rPr kumimoji="1" lang="en-US" altLang="ja-JP" dirty="0">
                <a:latin typeface="UDDigiKyokasho ProN R" panose="02020400000000000000" pitchFamily="18" charset="-128"/>
                <a:ea typeface="UDDigiKyokasho ProN R" panose="02020400000000000000" pitchFamily="18" charset="-128"/>
              </a:rPr>
            </a:br>
            <a:endParaRPr kumimoji="1" lang="ja-JP" altLang="en-US">
              <a:latin typeface="UDDigiKyokasho ProN R" panose="02020400000000000000" pitchFamily="18" charset="-128"/>
              <a:ea typeface="UDDigiKyokasho ProN R" panose="02020400000000000000" pitchFamily="18" charset="-128"/>
            </a:endParaRPr>
          </a:p>
        </p:txBody>
      </p:sp>
      <p:sp>
        <p:nvSpPr>
          <p:cNvPr id="3" name="テキスト ボックス 2">
            <a:extLst>
              <a:ext uri="{FF2B5EF4-FFF2-40B4-BE49-F238E27FC236}">
                <a16:creationId xmlns:a16="http://schemas.microsoft.com/office/drawing/2014/main" id="{36709D97-4875-66E5-0D6C-CAE080C094B8}"/>
              </a:ext>
            </a:extLst>
          </p:cNvPr>
          <p:cNvSpPr txBox="1"/>
          <p:nvPr/>
        </p:nvSpPr>
        <p:spPr>
          <a:xfrm>
            <a:off x="838198" y="1594882"/>
            <a:ext cx="10515602" cy="3970318"/>
          </a:xfrm>
          <a:prstGeom prst="rect">
            <a:avLst/>
          </a:prstGeom>
          <a:noFill/>
        </p:spPr>
        <p:txBody>
          <a:bodyPr wrap="square" rtlCol="0">
            <a:spAutoFit/>
          </a:bodyPr>
          <a:lstStyle/>
          <a:p>
            <a:r>
              <a:rPr kumimoji="1" lang="ja-JP" altLang="en-US" sz="2800">
                <a:latin typeface="UDDigiKyokasho ProN R" panose="02020400000000000000" pitchFamily="18" charset="-128"/>
                <a:ea typeface="UDDigiKyokasho ProN R" panose="02020400000000000000" pitchFamily="18" charset="-128"/>
              </a:rPr>
              <a:t>・直近</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ヶ月間の読書量が</a:t>
            </a:r>
            <a:r>
              <a:rPr kumimoji="1" lang="en-US" altLang="ja-JP" sz="2800" dirty="0">
                <a:latin typeface="UDDigiKyokasho ProN R" panose="02020400000000000000" pitchFamily="18" charset="-128"/>
                <a:ea typeface="UDDigiKyokasho ProN R" panose="02020400000000000000" pitchFamily="18" charset="-128"/>
              </a:rPr>
              <a:t>【</a:t>
            </a:r>
            <a:r>
              <a:rPr kumimoji="1" lang="ja-JP" altLang="en-US" sz="2800">
                <a:latin typeface="UDDigiKyokasho ProN R" panose="02020400000000000000" pitchFamily="18" charset="-128"/>
                <a:ea typeface="UDDigiKyokasho ProN R" panose="02020400000000000000" pitchFamily="18" charset="-128"/>
              </a:rPr>
              <a:t>ファンタジー</a:t>
            </a:r>
            <a:r>
              <a:rPr kumimoji="1" lang="en-US" altLang="ja-JP" sz="2800" dirty="0">
                <a:latin typeface="UDDigiKyokasho ProN R" panose="02020400000000000000" pitchFamily="18" charset="-128"/>
                <a:ea typeface="UDDigiKyokasho ProN R" panose="02020400000000000000" pitchFamily="18" charset="-128"/>
              </a:rPr>
              <a:t>】</a:t>
            </a:r>
            <a:r>
              <a:rPr kumimoji="1" lang="ja-JP" altLang="en-US" sz="2800">
                <a:latin typeface="UDDigiKyokasho ProN R" panose="02020400000000000000" pitchFamily="18" charset="-128"/>
                <a:ea typeface="UDDigiKyokasho ProN R" panose="02020400000000000000" pitchFamily="18" charset="-128"/>
              </a:rPr>
              <a:t>を下げた</a:t>
            </a:r>
            <a:endParaRPr kumimoji="1"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・過去</a:t>
            </a:r>
            <a:r>
              <a:rPr lang="en-US" altLang="ja-JP" sz="2800" dirty="0">
                <a:latin typeface="UDDigiKyokasho ProN R" panose="02020400000000000000" pitchFamily="18" charset="-128"/>
                <a:ea typeface="UDDigiKyokasho ProN R" panose="02020400000000000000" pitchFamily="18" charset="-128"/>
              </a:rPr>
              <a:t>1</a:t>
            </a:r>
            <a:r>
              <a:rPr lang="ja-JP" altLang="en-US" sz="2800">
                <a:latin typeface="UDDigiKyokasho ProN R" panose="02020400000000000000" pitchFamily="18" charset="-128"/>
                <a:ea typeface="UDDigiKyokasho ProN R" panose="02020400000000000000" pitchFamily="18" charset="-128"/>
              </a:rPr>
              <a:t>年間の読書量の平均が</a:t>
            </a:r>
            <a:r>
              <a:rPr lang="en-US" altLang="ja-JP" sz="2800" dirty="0">
                <a:latin typeface="UDDigiKyokasho ProN R" panose="02020400000000000000" pitchFamily="18" charset="-128"/>
                <a:ea typeface="UDDigiKyokasho ProN R" panose="02020400000000000000" pitchFamily="18" charset="-128"/>
              </a:rPr>
              <a:t>【</a:t>
            </a:r>
            <a:r>
              <a:rPr lang="ja-JP" altLang="en-US" sz="2800">
                <a:latin typeface="UDDigiKyokasho ProN R" panose="02020400000000000000" pitchFamily="18" charset="-128"/>
                <a:ea typeface="UDDigiKyokasho ProN R" panose="02020400000000000000" pitchFamily="18" charset="-128"/>
              </a:rPr>
              <a:t>ファンタジー</a:t>
            </a:r>
            <a:r>
              <a:rPr lang="en-US" altLang="ja-JP" sz="2800" dirty="0">
                <a:latin typeface="UDDigiKyokasho ProN R" panose="02020400000000000000" pitchFamily="18" charset="-128"/>
                <a:ea typeface="UDDigiKyokasho ProN R" panose="02020400000000000000" pitchFamily="18" charset="-128"/>
              </a:rPr>
              <a:t>】</a:t>
            </a:r>
            <a:r>
              <a:rPr lang="ja-JP" altLang="en-US" sz="2800">
                <a:latin typeface="UDDigiKyokasho ProN R" panose="02020400000000000000" pitchFamily="18" charset="-128"/>
                <a:ea typeface="UDDigiKyokasho ProN R" panose="02020400000000000000" pitchFamily="18" charset="-128"/>
              </a:rPr>
              <a:t>を上げた</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⇨最近の読書量が増えることで、登場人物の気持ちになってしまったり、自分だったらどうなるだろうと想像したりすることが増える可能性</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読書習慣があることで、物語に触れたときに、想像することが減少する可能性</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⇨今後の課題</a:t>
            </a:r>
            <a:endParaRPr lang="en-US" altLang="ja-JP" sz="2800" dirty="0">
              <a:latin typeface="UDDigiKyokasho ProN R" panose="02020400000000000000" pitchFamily="18" charset="-128"/>
              <a:ea typeface="UDDigiKyokasho ProN R" panose="02020400000000000000" pitchFamily="18" charset="-128"/>
            </a:endParaRPr>
          </a:p>
        </p:txBody>
      </p:sp>
      <p:sp>
        <p:nvSpPr>
          <p:cNvPr id="5" name="タイトル 1">
            <a:extLst>
              <a:ext uri="{FF2B5EF4-FFF2-40B4-BE49-F238E27FC236}">
                <a16:creationId xmlns:a16="http://schemas.microsoft.com/office/drawing/2014/main" id="{84E90C78-6399-66EB-B649-FF1297E10E95}"/>
              </a:ext>
            </a:extLst>
          </p:cNvPr>
          <p:cNvSpPr txBox="1">
            <a:spLocks/>
          </p:cNvSpPr>
          <p:nvPr/>
        </p:nvSpPr>
        <p:spPr>
          <a:xfrm>
            <a:off x="838198" y="365125"/>
            <a:ext cx="4501446" cy="1460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3200" b="1">
                <a:latin typeface="UDDigiKyokasho ProN R" panose="02020400000000000000" pitchFamily="18" charset="-128"/>
                <a:ea typeface="UDDigiKyokasho ProN R" panose="02020400000000000000" pitchFamily="18" charset="-128"/>
              </a:rPr>
              <a:t>ファンタジー</a:t>
            </a:r>
          </a:p>
        </p:txBody>
      </p:sp>
      <p:sp>
        <p:nvSpPr>
          <p:cNvPr id="6" name="スライド番号プレースホルダー 5">
            <a:extLst>
              <a:ext uri="{FF2B5EF4-FFF2-40B4-BE49-F238E27FC236}">
                <a16:creationId xmlns:a16="http://schemas.microsoft.com/office/drawing/2014/main" id="{3943D8AC-75AF-045B-F9A6-8B8CE22C9A26}"/>
              </a:ext>
            </a:extLst>
          </p:cNvPr>
          <p:cNvSpPr>
            <a:spLocks noGrp="1"/>
          </p:cNvSpPr>
          <p:nvPr>
            <p:ph type="sldNum" sz="quarter" idx="12"/>
          </p:nvPr>
        </p:nvSpPr>
        <p:spPr/>
        <p:txBody>
          <a:bodyPr/>
          <a:lstStyle/>
          <a:p>
            <a:fld id="{2EC8AD93-AF02-5041-8E58-A9BB2AEEDA08}" type="slidenum">
              <a:rPr kumimoji="1" lang="ja-JP" altLang="en-US" smtClean="0"/>
              <a:t>19</a:t>
            </a:fld>
            <a:endParaRPr kumimoji="1" lang="ja-JP" altLang="en-US"/>
          </a:p>
        </p:txBody>
      </p:sp>
    </p:spTree>
    <p:extLst>
      <p:ext uri="{BB962C8B-B14F-4D97-AF65-F5344CB8AC3E}">
        <p14:creationId xmlns:p14="http://schemas.microsoft.com/office/powerpoint/2010/main" val="2239110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20B1AC74-BD1F-5B41-F41B-0A0485E19C2E}"/>
              </a:ext>
            </a:extLst>
          </p:cNvPr>
          <p:cNvSpPr>
            <a:spLocks noGrp="1"/>
          </p:cNvSpPr>
          <p:nvPr>
            <p:ph type="sldNum" sz="quarter" idx="12"/>
          </p:nvPr>
        </p:nvSpPr>
        <p:spPr/>
        <p:txBody>
          <a:bodyPr/>
          <a:lstStyle/>
          <a:p>
            <a:fld id="{2EC8AD93-AF02-5041-8E58-A9BB2AEEDA08}" type="slidenum">
              <a:rPr kumimoji="1" lang="ja-JP" altLang="en-US" smtClean="0"/>
              <a:t>20</a:t>
            </a:fld>
            <a:endParaRPr kumimoji="1" lang="ja-JP" altLang="en-US"/>
          </a:p>
        </p:txBody>
      </p:sp>
      <p:pic>
        <p:nvPicPr>
          <p:cNvPr id="8" name="図 7">
            <a:extLst>
              <a:ext uri="{FF2B5EF4-FFF2-40B4-BE49-F238E27FC236}">
                <a16:creationId xmlns:a16="http://schemas.microsoft.com/office/drawing/2014/main" id="{A4286B29-644A-8682-8A52-9BBC8C150EA7}"/>
              </a:ext>
            </a:extLst>
          </p:cNvPr>
          <p:cNvPicPr>
            <a:picLocks noChangeAspect="1"/>
          </p:cNvPicPr>
          <p:nvPr/>
        </p:nvPicPr>
        <p:blipFill>
          <a:blip r:embed="rId3"/>
          <a:stretch>
            <a:fillRect/>
          </a:stretch>
        </p:blipFill>
        <p:spPr>
          <a:xfrm>
            <a:off x="1399914" y="816429"/>
            <a:ext cx="8974172" cy="4708801"/>
          </a:xfrm>
          <a:prstGeom prst="rect">
            <a:avLst/>
          </a:prstGeom>
        </p:spPr>
      </p:pic>
    </p:spTree>
    <p:extLst>
      <p:ext uri="{BB962C8B-B14F-4D97-AF65-F5344CB8AC3E}">
        <p14:creationId xmlns:p14="http://schemas.microsoft.com/office/powerpoint/2010/main" val="4173453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8FCB-81E4-6C1D-2935-8AA77BE59E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0FF3DE-617D-0A6B-EC6E-CD2E7B98BD62}"/>
              </a:ext>
            </a:extLst>
          </p:cNvPr>
          <p:cNvSpPr>
            <a:spLocks noGrp="1"/>
          </p:cNvSpPr>
          <p:nvPr>
            <p:ph type="title"/>
          </p:nvPr>
        </p:nvSpPr>
        <p:spPr>
          <a:xfrm>
            <a:off x="838200" y="365125"/>
            <a:ext cx="1831848" cy="1460500"/>
          </a:xfrm>
        </p:spPr>
        <p:txBody>
          <a:bodyPr>
            <a:normAutofit/>
          </a:bodyPr>
          <a:lstStyle/>
          <a:p>
            <a:br>
              <a:rPr kumimoji="1" lang="en-US" altLang="ja-JP" dirty="0">
                <a:latin typeface="UDDigiKyokasho ProN R" panose="02020400000000000000" pitchFamily="18" charset="-128"/>
                <a:ea typeface="UDDigiKyokasho ProN R" panose="02020400000000000000" pitchFamily="18" charset="-128"/>
              </a:rPr>
            </a:br>
            <a:endParaRPr kumimoji="1" lang="ja-JP" altLang="en-US">
              <a:latin typeface="UDDigiKyokasho ProN R" panose="02020400000000000000" pitchFamily="18" charset="-128"/>
              <a:ea typeface="UDDigiKyokasho ProN R" panose="02020400000000000000" pitchFamily="18" charset="-128"/>
            </a:endParaRPr>
          </a:p>
        </p:txBody>
      </p:sp>
      <p:pic>
        <p:nvPicPr>
          <p:cNvPr id="6" name="コンテンツ プレースホルダー 5">
            <a:extLst>
              <a:ext uri="{FF2B5EF4-FFF2-40B4-BE49-F238E27FC236}">
                <a16:creationId xmlns:a16="http://schemas.microsoft.com/office/drawing/2014/main" id="{2A619682-1542-7C9D-251D-CBF843541842}"/>
              </a:ext>
            </a:extLst>
          </p:cNvPr>
          <p:cNvPicPr>
            <a:picLocks noGrp="1" noChangeAspect="1"/>
          </p:cNvPicPr>
          <p:nvPr>
            <p:ph idx="1"/>
          </p:nvPr>
        </p:nvPicPr>
        <p:blipFill>
          <a:blip r:embed="rId3"/>
          <a:stretch>
            <a:fillRect/>
          </a:stretch>
        </p:blipFill>
        <p:spPr>
          <a:xfrm>
            <a:off x="7265895" y="1978025"/>
            <a:ext cx="4399722" cy="2215389"/>
          </a:xfrm>
        </p:spPr>
      </p:pic>
      <p:sp>
        <p:nvSpPr>
          <p:cNvPr id="8" name="テキスト ボックス 7">
            <a:extLst>
              <a:ext uri="{FF2B5EF4-FFF2-40B4-BE49-F238E27FC236}">
                <a16:creationId xmlns:a16="http://schemas.microsoft.com/office/drawing/2014/main" id="{C28EAF76-301D-4A53-AC90-5EE6F101574F}"/>
              </a:ext>
            </a:extLst>
          </p:cNvPr>
          <p:cNvSpPr txBox="1"/>
          <p:nvPr/>
        </p:nvSpPr>
        <p:spPr>
          <a:xfrm>
            <a:off x="526383" y="1825625"/>
            <a:ext cx="6614646" cy="3046988"/>
          </a:xfrm>
          <a:prstGeom prst="rect">
            <a:avLst/>
          </a:prstGeom>
          <a:noFill/>
        </p:spPr>
        <p:txBody>
          <a:bodyPr wrap="square" rtlCol="0">
            <a:spAutoFit/>
          </a:bodyPr>
          <a:lstStyle/>
          <a:p>
            <a:r>
              <a:rPr kumimoji="1" lang="ja-JP" altLang="en-US" sz="3200">
                <a:latin typeface="UDDigiKyokasho ProN R" panose="02020400000000000000" pitchFamily="18" charset="-128"/>
                <a:ea typeface="UDDigiKyokasho ProN R" panose="02020400000000000000" pitchFamily="18" charset="-128"/>
              </a:rPr>
              <a:t>・過去</a:t>
            </a:r>
            <a:r>
              <a:rPr kumimoji="1" lang="en-US" altLang="ja-JP" sz="3200" dirty="0">
                <a:latin typeface="UDDigiKyokasho ProN R" panose="02020400000000000000" pitchFamily="18" charset="-128"/>
                <a:ea typeface="UDDigiKyokasho ProN R" panose="02020400000000000000" pitchFamily="18" charset="-128"/>
              </a:rPr>
              <a:t>1</a:t>
            </a:r>
            <a:r>
              <a:rPr kumimoji="1" lang="ja-JP" altLang="en-US" sz="3200">
                <a:latin typeface="UDDigiKyokasho ProN R" panose="02020400000000000000" pitchFamily="18" charset="-128"/>
                <a:ea typeface="UDDigiKyokasho ProN R" panose="02020400000000000000" pitchFamily="18" charset="-128"/>
              </a:rPr>
              <a:t>年間の月平均の読書量</a:t>
            </a:r>
            <a:r>
              <a:rPr lang="ja-JP" altLang="en-US" sz="3200">
                <a:latin typeface="UDDigiKyokasho ProN R" panose="02020400000000000000" pitchFamily="18" charset="-128"/>
                <a:ea typeface="UDDigiKyokasho ProN R" panose="02020400000000000000" pitchFamily="18" charset="-128"/>
              </a:rPr>
              <a:t>は、「気持ちの想像」因子得点を上昇させた</a:t>
            </a:r>
            <a:endParaRPr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⇨読書習慣があることで、他者の気持ちを想像することが上昇した可能性</a:t>
            </a:r>
            <a:endParaRPr kumimoji="1" lang="en-US" altLang="ja-JP" sz="3200" dirty="0">
              <a:latin typeface="UDDigiKyokasho ProN R" panose="02020400000000000000" pitchFamily="18" charset="-128"/>
              <a:ea typeface="UDDigiKyokasho ProN R" panose="02020400000000000000" pitchFamily="18" charset="-128"/>
            </a:endParaRPr>
          </a:p>
        </p:txBody>
      </p:sp>
      <p:sp>
        <p:nvSpPr>
          <p:cNvPr id="3" name="タイトル 1">
            <a:extLst>
              <a:ext uri="{FF2B5EF4-FFF2-40B4-BE49-F238E27FC236}">
                <a16:creationId xmlns:a16="http://schemas.microsoft.com/office/drawing/2014/main" id="{EA5E222E-B797-ACD0-B5D2-D9504ABF2B5E}"/>
              </a:ext>
            </a:extLst>
          </p:cNvPr>
          <p:cNvSpPr txBox="1">
            <a:spLocks/>
          </p:cNvSpPr>
          <p:nvPr/>
        </p:nvSpPr>
        <p:spPr>
          <a:xfrm>
            <a:off x="990600" y="517525"/>
            <a:ext cx="3371850" cy="1460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気持ちの想像</a:t>
            </a:r>
          </a:p>
        </p:txBody>
      </p:sp>
      <p:sp>
        <p:nvSpPr>
          <p:cNvPr id="5" name="スライド番号プレースホルダー 4">
            <a:extLst>
              <a:ext uri="{FF2B5EF4-FFF2-40B4-BE49-F238E27FC236}">
                <a16:creationId xmlns:a16="http://schemas.microsoft.com/office/drawing/2014/main" id="{B162E1E4-4383-52CD-F300-21B35CFC2E3C}"/>
              </a:ext>
            </a:extLst>
          </p:cNvPr>
          <p:cNvSpPr>
            <a:spLocks noGrp="1"/>
          </p:cNvSpPr>
          <p:nvPr>
            <p:ph type="sldNum" sz="quarter" idx="12"/>
          </p:nvPr>
        </p:nvSpPr>
        <p:spPr/>
        <p:txBody>
          <a:bodyPr/>
          <a:lstStyle/>
          <a:p>
            <a:fld id="{2EC8AD93-AF02-5041-8E58-A9BB2AEEDA08}" type="slidenum">
              <a:rPr kumimoji="1" lang="ja-JP" altLang="en-US" smtClean="0"/>
              <a:t>21</a:t>
            </a:fld>
            <a:endParaRPr kumimoji="1" lang="ja-JP" altLang="en-US"/>
          </a:p>
        </p:txBody>
      </p:sp>
    </p:spTree>
    <p:extLst>
      <p:ext uri="{BB962C8B-B14F-4D97-AF65-F5344CB8AC3E}">
        <p14:creationId xmlns:p14="http://schemas.microsoft.com/office/powerpoint/2010/main" val="245822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D362B493-6A1F-B47B-A9CE-66414423212A}"/>
              </a:ext>
            </a:extLst>
          </p:cNvPr>
          <p:cNvSpPr>
            <a:spLocks noGrp="1"/>
          </p:cNvSpPr>
          <p:nvPr>
            <p:ph type="sldNum" sz="quarter" idx="12"/>
          </p:nvPr>
        </p:nvSpPr>
        <p:spPr/>
        <p:txBody>
          <a:bodyPr/>
          <a:lstStyle/>
          <a:p>
            <a:fld id="{2EC8AD93-AF02-5041-8E58-A9BB2AEEDA08}" type="slidenum">
              <a:rPr kumimoji="1" lang="ja-JP" altLang="en-US" smtClean="0"/>
              <a:t>22</a:t>
            </a:fld>
            <a:endParaRPr kumimoji="1" lang="ja-JP" altLang="en-US"/>
          </a:p>
        </p:txBody>
      </p:sp>
      <p:pic>
        <p:nvPicPr>
          <p:cNvPr id="5" name="コンテンツ プレースホルダー 5">
            <a:extLst>
              <a:ext uri="{FF2B5EF4-FFF2-40B4-BE49-F238E27FC236}">
                <a16:creationId xmlns:a16="http://schemas.microsoft.com/office/drawing/2014/main" id="{7D387880-A1BD-51D6-E44B-21B8324F1146}"/>
              </a:ext>
            </a:extLst>
          </p:cNvPr>
          <p:cNvPicPr>
            <a:picLocks noGrp="1" noChangeAspect="1"/>
          </p:cNvPicPr>
          <p:nvPr>
            <p:ph idx="1"/>
          </p:nvPr>
        </p:nvPicPr>
        <p:blipFill>
          <a:blip r:embed="rId3"/>
          <a:stretch>
            <a:fillRect/>
          </a:stretch>
        </p:blipFill>
        <p:spPr>
          <a:xfrm>
            <a:off x="936170" y="544286"/>
            <a:ext cx="10144023" cy="5107813"/>
          </a:xfrm>
        </p:spPr>
      </p:pic>
    </p:spTree>
    <p:extLst>
      <p:ext uri="{BB962C8B-B14F-4D97-AF65-F5344CB8AC3E}">
        <p14:creationId xmlns:p14="http://schemas.microsoft.com/office/powerpoint/2010/main" val="2010185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8A52-ED28-94CE-E5B6-9E2109AE67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B4FA7E-CA28-B61D-C631-AD211E96243E}"/>
              </a:ext>
            </a:extLst>
          </p:cNvPr>
          <p:cNvSpPr>
            <a:spLocks noGrp="1"/>
          </p:cNvSpPr>
          <p:nvPr>
            <p:ph type="title"/>
          </p:nvPr>
        </p:nvSpPr>
        <p:spPr>
          <a:xfrm>
            <a:off x="838200" y="365125"/>
            <a:ext cx="1831848" cy="1460500"/>
          </a:xfrm>
        </p:spPr>
        <p:txBody>
          <a:bodyPr>
            <a:normAutofit/>
          </a:bodyPr>
          <a:lstStyle/>
          <a:p>
            <a:br>
              <a:rPr kumimoji="1" lang="en-US" altLang="ja-JP" dirty="0">
                <a:latin typeface="UDDigiKyokasho ProN R" panose="02020400000000000000" pitchFamily="18" charset="-128"/>
                <a:ea typeface="UDDigiKyokasho ProN R" panose="02020400000000000000" pitchFamily="18" charset="-128"/>
              </a:rPr>
            </a:br>
            <a:endParaRPr kumimoji="1" lang="ja-JP" altLang="en-US">
              <a:latin typeface="UDDigiKyokasho ProN R" panose="02020400000000000000" pitchFamily="18" charset="-128"/>
              <a:ea typeface="UDDigiKyokasho ProN R" panose="02020400000000000000" pitchFamily="18" charset="-128"/>
            </a:endParaRPr>
          </a:p>
        </p:txBody>
      </p:sp>
      <p:sp>
        <p:nvSpPr>
          <p:cNvPr id="7" name="タイトル 1">
            <a:extLst>
              <a:ext uri="{FF2B5EF4-FFF2-40B4-BE49-F238E27FC236}">
                <a16:creationId xmlns:a16="http://schemas.microsoft.com/office/drawing/2014/main" id="{F2361D1E-75D8-836A-BE04-99EC6AC8179F}"/>
              </a:ext>
            </a:extLst>
          </p:cNvPr>
          <p:cNvSpPr txBox="1">
            <a:spLocks/>
          </p:cNvSpPr>
          <p:nvPr/>
        </p:nvSpPr>
        <p:spPr>
          <a:xfrm>
            <a:off x="990600" y="517525"/>
            <a:ext cx="3371850" cy="1460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気持ちの想像</a:t>
            </a:r>
          </a:p>
        </p:txBody>
      </p:sp>
      <p:pic>
        <p:nvPicPr>
          <p:cNvPr id="19" name="図 18">
            <a:extLst>
              <a:ext uri="{FF2B5EF4-FFF2-40B4-BE49-F238E27FC236}">
                <a16:creationId xmlns:a16="http://schemas.microsoft.com/office/drawing/2014/main" id="{764D72F5-EEFA-8305-A33C-2119EA6A3AF3}"/>
              </a:ext>
            </a:extLst>
          </p:cNvPr>
          <p:cNvPicPr>
            <a:picLocks noChangeAspect="1"/>
          </p:cNvPicPr>
          <p:nvPr/>
        </p:nvPicPr>
        <p:blipFill>
          <a:blip r:embed="rId3"/>
          <a:stretch>
            <a:fillRect/>
          </a:stretch>
        </p:blipFill>
        <p:spPr>
          <a:xfrm>
            <a:off x="7108371" y="2369911"/>
            <a:ext cx="4602071" cy="2474232"/>
          </a:xfrm>
          <a:prstGeom prst="rect">
            <a:avLst/>
          </a:prstGeom>
        </p:spPr>
      </p:pic>
      <p:pic>
        <p:nvPicPr>
          <p:cNvPr id="21" name="図 20">
            <a:extLst>
              <a:ext uri="{FF2B5EF4-FFF2-40B4-BE49-F238E27FC236}">
                <a16:creationId xmlns:a16="http://schemas.microsoft.com/office/drawing/2014/main" id="{164EACD2-140A-553B-9D36-5197D9D3C257}"/>
              </a:ext>
            </a:extLst>
          </p:cNvPr>
          <p:cNvPicPr>
            <a:picLocks noChangeAspect="1"/>
          </p:cNvPicPr>
          <p:nvPr/>
        </p:nvPicPr>
        <p:blipFill>
          <a:blip r:embed="rId4"/>
          <a:stretch>
            <a:fillRect/>
          </a:stretch>
        </p:blipFill>
        <p:spPr>
          <a:xfrm>
            <a:off x="7815688" y="1529109"/>
            <a:ext cx="3599996" cy="801368"/>
          </a:xfrm>
          <a:prstGeom prst="rect">
            <a:avLst/>
          </a:prstGeom>
        </p:spPr>
      </p:pic>
      <p:sp>
        <p:nvSpPr>
          <p:cNvPr id="23" name="テキスト ボックス 22">
            <a:extLst>
              <a:ext uri="{FF2B5EF4-FFF2-40B4-BE49-F238E27FC236}">
                <a16:creationId xmlns:a16="http://schemas.microsoft.com/office/drawing/2014/main" id="{2F86C9E5-2EC8-34CE-080B-535A2621F4DC}"/>
              </a:ext>
            </a:extLst>
          </p:cNvPr>
          <p:cNvSpPr txBox="1"/>
          <p:nvPr/>
        </p:nvSpPr>
        <p:spPr>
          <a:xfrm>
            <a:off x="755426" y="2286963"/>
            <a:ext cx="6352945" cy="3108543"/>
          </a:xfrm>
          <a:prstGeom prst="rect">
            <a:avLst/>
          </a:prstGeom>
          <a:noFill/>
        </p:spPr>
        <p:txBody>
          <a:bodyPr wrap="square" rtlCol="0">
            <a:spAutoFit/>
          </a:bodyPr>
          <a:lstStyle/>
          <a:p>
            <a:r>
              <a:rPr lang="ja-JP" altLang="en-US" sz="2800">
                <a:latin typeface="UDDigiKyokasho ProN R" panose="02020400000000000000" pitchFamily="18" charset="-128"/>
                <a:ea typeface="UDDigiKyokasho ProN R" panose="02020400000000000000" pitchFamily="18" charset="-128"/>
              </a:rPr>
              <a:t>・読書ポジティブ高群における、</a:t>
            </a:r>
            <a:r>
              <a:rPr lang="en-US" altLang="ja-JP" sz="2800" dirty="0">
                <a:latin typeface="UDDigiKyokasho ProN R" panose="02020400000000000000" pitchFamily="18" charset="-128"/>
                <a:ea typeface="UDDigiKyokasho ProN R" panose="02020400000000000000" pitchFamily="18" charset="-128"/>
              </a:rPr>
              <a:t>ART</a:t>
            </a:r>
            <a:r>
              <a:rPr lang="ja-JP" altLang="en-US" sz="2800">
                <a:latin typeface="UDDigiKyokasho ProN R" panose="02020400000000000000" pitchFamily="18" charset="-128"/>
                <a:ea typeface="UDDigiKyokasho ProN R" panose="02020400000000000000" pitchFamily="18" charset="-128"/>
              </a:rPr>
              <a:t>の負の交互作用効果が有意に認められた</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⇨読書を娯楽として楽しみ、最近の作家を幅広く知っている人は、相手の立場に立って他者の気持ちを想像することが減っている可能性</a:t>
            </a:r>
            <a:endParaRPr lang="en-US" altLang="ja-JP" sz="2800" dirty="0">
              <a:latin typeface="UDDigiKyokasho ProN R" panose="02020400000000000000" pitchFamily="18" charset="-128"/>
              <a:ea typeface="UDDigiKyokasho ProN R" panose="02020400000000000000" pitchFamily="18" charset="-128"/>
            </a:endParaRPr>
          </a:p>
        </p:txBody>
      </p:sp>
      <p:sp>
        <p:nvSpPr>
          <p:cNvPr id="4" name="スライド番号プレースホルダー 3">
            <a:extLst>
              <a:ext uri="{FF2B5EF4-FFF2-40B4-BE49-F238E27FC236}">
                <a16:creationId xmlns:a16="http://schemas.microsoft.com/office/drawing/2014/main" id="{58EE5D63-D750-CBA0-FBF7-31152945CC30}"/>
              </a:ext>
            </a:extLst>
          </p:cNvPr>
          <p:cNvSpPr>
            <a:spLocks noGrp="1"/>
          </p:cNvSpPr>
          <p:nvPr>
            <p:ph type="sldNum" sz="quarter" idx="12"/>
          </p:nvPr>
        </p:nvSpPr>
        <p:spPr/>
        <p:txBody>
          <a:bodyPr/>
          <a:lstStyle/>
          <a:p>
            <a:fld id="{2EC8AD93-AF02-5041-8E58-A9BB2AEEDA08}" type="slidenum">
              <a:rPr kumimoji="1" lang="ja-JP" altLang="en-US" smtClean="0"/>
              <a:t>23</a:t>
            </a:fld>
            <a:endParaRPr kumimoji="1" lang="ja-JP" altLang="en-US"/>
          </a:p>
        </p:txBody>
      </p:sp>
    </p:spTree>
    <p:extLst>
      <p:ext uri="{BB962C8B-B14F-4D97-AF65-F5344CB8AC3E}">
        <p14:creationId xmlns:p14="http://schemas.microsoft.com/office/powerpoint/2010/main" val="1470721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44BA3-2D7F-7713-A282-2C354DCAD1CE}"/>
            </a:ext>
          </a:extLst>
        </p:cNvPr>
        <p:cNvGrpSpPr/>
        <p:nvPr/>
      </p:nvGrpSpPr>
      <p:grpSpPr>
        <a:xfrm>
          <a:off x="0" y="0"/>
          <a:ext cx="0" cy="0"/>
          <a:chOff x="0" y="0"/>
          <a:chExt cx="0" cy="0"/>
        </a:xfrm>
      </p:grpSpPr>
      <p:pic>
        <p:nvPicPr>
          <p:cNvPr id="6" name="コンテンツ プレースホルダー 5">
            <a:extLst>
              <a:ext uri="{FF2B5EF4-FFF2-40B4-BE49-F238E27FC236}">
                <a16:creationId xmlns:a16="http://schemas.microsoft.com/office/drawing/2014/main" id="{35DDF3B2-CB39-EE46-3541-5076C8E99071}"/>
              </a:ext>
            </a:extLst>
          </p:cNvPr>
          <p:cNvPicPr>
            <a:picLocks noGrp="1" noChangeAspect="1"/>
          </p:cNvPicPr>
          <p:nvPr>
            <p:ph idx="1"/>
          </p:nvPr>
        </p:nvPicPr>
        <p:blipFill>
          <a:blip r:embed="rId3"/>
          <a:stretch>
            <a:fillRect/>
          </a:stretch>
        </p:blipFill>
        <p:spPr>
          <a:xfrm>
            <a:off x="5860695" y="1835460"/>
            <a:ext cx="6046680" cy="3030454"/>
          </a:xfrm>
        </p:spPr>
      </p:pic>
      <p:sp>
        <p:nvSpPr>
          <p:cNvPr id="7" name="タイトル 1">
            <a:extLst>
              <a:ext uri="{FF2B5EF4-FFF2-40B4-BE49-F238E27FC236}">
                <a16:creationId xmlns:a16="http://schemas.microsoft.com/office/drawing/2014/main" id="{CDF72684-2ED4-97C0-A59B-79CAE2BFC202}"/>
              </a:ext>
            </a:extLst>
          </p:cNvPr>
          <p:cNvSpPr txBox="1">
            <a:spLocks/>
          </p:cNvSpPr>
          <p:nvPr/>
        </p:nvSpPr>
        <p:spPr>
          <a:xfrm>
            <a:off x="990600" y="517524"/>
            <a:ext cx="3371850" cy="14871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個人的苦痛</a:t>
            </a:r>
          </a:p>
        </p:txBody>
      </p:sp>
      <p:sp>
        <p:nvSpPr>
          <p:cNvPr id="8" name="テキスト ボックス 7">
            <a:extLst>
              <a:ext uri="{FF2B5EF4-FFF2-40B4-BE49-F238E27FC236}">
                <a16:creationId xmlns:a16="http://schemas.microsoft.com/office/drawing/2014/main" id="{8FDD2DBF-F388-C46B-AB64-4BCCEAA100E1}"/>
              </a:ext>
            </a:extLst>
          </p:cNvPr>
          <p:cNvSpPr txBox="1"/>
          <p:nvPr/>
        </p:nvSpPr>
        <p:spPr>
          <a:xfrm>
            <a:off x="990600" y="1835460"/>
            <a:ext cx="4748826" cy="4031873"/>
          </a:xfrm>
          <a:prstGeom prst="rect">
            <a:avLst/>
          </a:prstGeom>
          <a:noFill/>
        </p:spPr>
        <p:txBody>
          <a:bodyPr wrap="square" rtlCol="0">
            <a:spAutoFit/>
          </a:bodyPr>
          <a:lstStyle/>
          <a:p>
            <a:r>
              <a:rPr kumimoji="1" lang="ja-JP" altLang="en-US" sz="3200">
                <a:latin typeface="UDDigiKyokasho ProN R" panose="02020400000000000000" pitchFamily="18" charset="-128"/>
                <a:ea typeface="UDDigiKyokasho ProN R" panose="02020400000000000000" pitchFamily="18" charset="-128"/>
              </a:rPr>
              <a:t>・</a:t>
            </a:r>
            <a:r>
              <a:rPr lang="en-US" altLang="ja-JP" sz="3200" dirty="0">
                <a:latin typeface="UDDigiKyokasho ProN R" panose="02020400000000000000" pitchFamily="18" charset="-128"/>
                <a:ea typeface="UDDigiKyokasho ProN R" panose="02020400000000000000" pitchFamily="18" charset="-128"/>
              </a:rPr>
              <a:t>ART</a:t>
            </a:r>
            <a:r>
              <a:rPr lang="ja-JP" altLang="en-US" sz="3200">
                <a:latin typeface="UDDigiKyokasho ProN R" panose="02020400000000000000" pitchFamily="18" charset="-128"/>
                <a:ea typeface="UDDigiKyokasho ProN R" panose="02020400000000000000" pitchFamily="18" charset="-128"/>
              </a:rPr>
              <a:t>の得点が高い人は、個人的苦痛の得点が高かった</a:t>
            </a:r>
            <a:endParaRPr lang="en-US" altLang="ja-JP" sz="3200" dirty="0">
              <a:latin typeface="UDDigiKyokasho ProN R" panose="02020400000000000000" pitchFamily="18" charset="-128"/>
              <a:ea typeface="UDDigiKyokasho ProN R" panose="02020400000000000000" pitchFamily="18" charset="-128"/>
            </a:endParaRPr>
          </a:p>
          <a:p>
            <a:r>
              <a:rPr kumimoji="1" lang="ja-JP" altLang="en-US" sz="3200">
                <a:latin typeface="UDDigiKyokasho ProN R" panose="02020400000000000000" pitchFamily="18" charset="-128"/>
                <a:ea typeface="UDDigiKyokasho ProN R" panose="02020400000000000000" pitchFamily="18" charset="-128"/>
              </a:rPr>
              <a:t>⇨最近のフィクション作家</a:t>
            </a:r>
            <a:r>
              <a:rPr lang="ja-JP" altLang="en-US" sz="3200">
                <a:latin typeface="UDDigiKyokasho ProN R" panose="02020400000000000000" pitchFamily="18" charset="-128"/>
                <a:ea typeface="UDDigiKyokasho ProN R" panose="02020400000000000000" pitchFamily="18" charset="-128"/>
              </a:rPr>
              <a:t>を多く知っている人は、辛い状況に置かれた他者を見ると、苦痛を感じやすくなる可能性</a:t>
            </a:r>
            <a:endParaRPr kumimoji="1" lang="ja-JP" altLang="en-US" sz="3200">
              <a:latin typeface="UDDigiKyokasho ProN R" panose="02020400000000000000" pitchFamily="18" charset="-128"/>
              <a:ea typeface="UDDigiKyokasho ProN R" panose="02020400000000000000" pitchFamily="18" charset="-128"/>
            </a:endParaRPr>
          </a:p>
        </p:txBody>
      </p:sp>
      <p:sp>
        <p:nvSpPr>
          <p:cNvPr id="3" name="スライド番号プレースホルダー 2">
            <a:extLst>
              <a:ext uri="{FF2B5EF4-FFF2-40B4-BE49-F238E27FC236}">
                <a16:creationId xmlns:a16="http://schemas.microsoft.com/office/drawing/2014/main" id="{B6508DD8-33B1-5D99-B527-37B05DB551CE}"/>
              </a:ext>
            </a:extLst>
          </p:cNvPr>
          <p:cNvSpPr>
            <a:spLocks noGrp="1"/>
          </p:cNvSpPr>
          <p:nvPr>
            <p:ph type="sldNum" sz="quarter" idx="12"/>
          </p:nvPr>
        </p:nvSpPr>
        <p:spPr/>
        <p:txBody>
          <a:bodyPr/>
          <a:lstStyle/>
          <a:p>
            <a:fld id="{2EC8AD93-AF02-5041-8E58-A9BB2AEEDA08}" type="slidenum">
              <a:rPr kumimoji="1" lang="ja-JP" altLang="en-US" smtClean="0"/>
              <a:t>24</a:t>
            </a:fld>
            <a:endParaRPr kumimoji="1" lang="ja-JP" altLang="en-US"/>
          </a:p>
        </p:txBody>
      </p:sp>
    </p:spTree>
    <p:extLst>
      <p:ext uri="{BB962C8B-B14F-4D97-AF65-F5344CB8AC3E}">
        <p14:creationId xmlns:p14="http://schemas.microsoft.com/office/powerpoint/2010/main" val="2105961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EB78191-6E2B-8129-600C-9DF564778885}"/>
              </a:ext>
            </a:extLst>
          </p:cNvPr>
          <p:cNvSpPr>
            <a:spLocks noGrp="1"/>
          </p:cNvSpPr>
          <p:nvPr>
            <p:ph type="sldNum" sz="quarter" idx="12"/>
          </p:nvPr>
        </p:nvSpPr>
        <p:spPr/>
        <p:txBody>
          <a:bodyPr/>
          <a:lstStyle/>
          <a:p>
            <a:fld id="{2EC8AD93-AF02-5041-8E58-A9BB2AEEDA08}" type="slidenum">
              <a:rPr kumimoji="1" lang="ja-JP" altLang="en-US" smtClean="0"/>
              <a:t>25</a:t>
            </a:fld>
            <a:endParaRPr kumimoji="1" lang="ja-JP" altLang="en-US"/>
          </a:p>
        </p:txBody>
      </p:sp>
      <p:pic>
        <p:nvPicPr>
          <p:cNvPr id="5" name="コンテンツ プレースホルダー 5">
            <a:extLst>
              <a:ext uri="{FF2B5EF4-FFF2-40B4-BE49-F238E27FC236}">
                <a16:creationId xmlns:a16="http://schemas.microsoft.com/office/drawing/2014/main" id="{CF43F01B-3AC3-EB14-21BA-87DD95F2E175}"/>
              </a:ext>
            </a:extLst>
          </p:cNvPr>
          <p:cNvPicPr>
            <a:picLocks noGrp="1" noChangeAspect="1"/>
          </p:cNvPicPr>
          <p:nvPr>
            <p:ph idx="1"/>
          </p:nvPr>
        </p:nvPicPr>
        <p:blipFill>
          <a:blip r:embed="rId3"/>
          <a:stretch>
            <a:fillRect/>
          </a:stretch>
        </p:blipFill>
        <p:spPr>
          <a:xfrm>
            <a:off x="1023257" y="544286"/>
            <a:ext cx="10180590" cy="5102273"/>
          </a:xfrm>
        </p:spPr>
      </p:pic>
    </p:spTree>
    <p:extLst>
      <p:ext uri="{BB962C8B-B14F-4D97-AF65-F5344CB8AC3E}">
        <p14:creationId xmlns:p14="http://schemas.microsoft.com/office/powerpoint/2010/main" val="1306036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C4AC-EF44-EC4B-3835-754100E9E8AE}"/>
            </a:ext>
          </a:extLst>
        </p:cNvPr>
        <p:cNvGrpSpPr/>
        <p:nvPr/>
      </p:nvGrpSpPr>
      <p:grpSpPr>
        <a:xfrm>
          <a:off x="0" y="0"/>
          <a:ext cx="0" cy="0"/>
          <a:chOff x="0" y="0"/>
          <a:chExt cx="0" cy="0"/>
        </a:xfrm>
      </p:grpSpPr>
      <p:pic>
        <p:nvPicPr>
          <p:cNvPr id="6" name="コンテンツ プレースホルダー 5">
            <a:extLst>
              <a:ext uri="{FF2B5EF4-FFF2-40B4-BE49-F238E27FC236}">
                <a16:creationId xmlns:a16="http://schemas.microsoft.com/office/drawing/2014/main" id="{C3ADFFDE-1E53-4DB0-C687-F76458DB7397}"/>
              </a:ext>
            </a:extLst>
          </p:cNvPr>
          <p:cNvPicPr>
            <a:picLocks noGrp="1" noChangeAspect="1"/>
          </p:cNvPicPr>
          <p:nvPr>
            <p:ph idx="1"/>
          </p:nvPr>
        </p:nvPicPr>
        <p:blipFill>
          <a:blip r:embed="rId3"/>
          <a:stretch>
            <a:fillRect/>
          </a:stretch>
        </p:blipFill>
        <p:spPr>
          <a:xfrm>
            <a:off x="6991522" y="1256527"/>
            <a:ext cx="4877432" cy="3293701"/>
          </a:xfrm>
        </p:spPr>
      </p:pic>
      <p:sp>
        <p:nvSpPr>
          <p:cNvPr id="7" name="タイトル 1">
            <a:extLst>
              <a:ext uri="{FF2B5EF4-FFF2-40B4-BE49-F238E27FC236}">
                <a16:creationId xmlns:a16="http://schemas.microsoft.com/office/drawing/2014/main" id="{DFE73E9E-633F-CED8-EBC9-E66FC70D8EF9}"/>
              </a:ext>
            </a:extLst>
          </p:cNvPr>
          <p:cNvSpPr txBox="1">
            <a:spLocks/>
          </p:cNvSpPr>
          <p:nvPr/>
        </p:nvSpPr>
        <p:spPr>
          <a:xfrm>
            <a:off x="990600" y="245374"/>
            <a:ext cx="6143792" cy="13435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r>
              <a:rPr lang="ja-JP" altLang="en-US" sz="2800" b="1">
                <a:latin typeface="UDDigiKyokasho ProN R" panose="02020400000000000000" pitchFamily="18" charset="-128"/>
                <a:ea typeface="UDDigiKyokasho ProN R" panose="02020400000000000000" pitchFamily="18" charset="-128"/>
              </a:rPr>
              <a:t>：表情平均</a:t>
            </a:r>
          </a:p>
        </p:txBody>
      </p:sp>
      <p:sp>
        <p:nvSpPr>
          <p:cNvPr id="10" name="テキスト ボックス 9">
            <a:extLst>
              <a:ext uri="{FF2B5EF4-FFF2-40B4-BE49-F238E27FC236}">
                <a16:creationId xmlns:a16="http://schemas.microsoft.com/office/drawing/2014/main" id="{A29F3471-533C-3B2F-0F3E-69B2130D76DD}"/>
              </a:ext>
            </a:extLst>
          </p:cNvPr>
          <p:cNvSpPr txBox="1"/>
          <p:nvPr/>
        </p:nvSpPr>
        <p:spPr>
          <a:xfrm>
            <a:off x="1138751" y="1326781"/>
            <a:ext cx="5995642" cy="4524315"/>
          </a:xfrm>
          <a:prstGeom prst="rect">
            <a:avLst/>
          </a:prstGeom>
          <a:noFill/>
        </p:spPr>
        <p:txBody>
          <a:bodyPr wrap="square" rtlCol="0">
            <a:spAutoFit/>
          </a:bodyPr>
          <a:lstStyle/>
          <a:p>
            <a:r>
              <a:rPr kumimoji="1" lang="ja-JP" altLang="en-US" sz="3200">
                <a:latin typeface="UDDigiKyokasho ProN R" panose="02020400000000000000" pitchFamily="18" charset="-128"/>
                <a:ea typeface="UDDigiKyokasho ProN R" panose="02020400000000000000" pitchFamily="18" charset="-128"/>
              </a:rPr>
              <a:t>・全ての表情の平均は、</a:t>
            </a:r>
            <a:r>
              <a:rPr kumimoji="1" lang="en-US" altLang="ja-JP" sz="3200" dirty="0">
                <a:latin typeface="UDDigiKyokasho ProN R" panose="02020400000000000000" pitchFamily="18" charset="-128"/>
                <a:ea typeface="UDDigiKyokasho ProN R" panose="02020400000000000000" pitchFamily="18" charset="-128"/>
              </a:rPr>
              <a:t>ART</a:t>
            </a:r>
            <a:r>
              <a:rPr lang="en-US" altLang="ja-JP" sz="3200" dirty="0">
                <a:latin typeface="UDDigiKyokasho ProN R" panose="02020400000000000000" pitchFamily="18" charset="-128"/>
                <a:ea typeface="UDDigiKyokasho ProN R" panose="02020400000000000000" pitchFamily="18" charset="-128"/>
              </a:rPr>
              <a:t>×</a:t>
            </a:r>
            <a:r>
              <a:rPr lang="ja-JP" altLang="en-US" sz="3200">
                <a:latin typeface="UDDigiKyokasho ProN R" panose="02020400000000000000" pitchFamily="18" charset="-128"/>
                <a:ea typeface="UDDigiKyokasho ProN R" panose="02020400000000000000" pitchFamily="18" charset="-128"/>
              </a:rPr>
              <a:t>直近</a:t>
            </a:r>
            <a:r>
              <a:rPr lang="en-US" altLang="ja-JP" sz="3200" dirty="0">
                <a:latin typeface="UDDigiKyokasho ProN R" panose="02020400000000000000" pitchFamily="18" charset="-128"/>
                <a:ea typeface="UDDigiKyokasho ProN R" panose="02020400000000000000" pitchFamily="18" charset="-128"/>
              </a:rPr>
              <a:t>1</a:t>
            </a:r>
            <a:r>
              <a:rPr lang="ja-JP" altLang="en-US" sz="3200">
                <a:latin typeface="UDDigiKyokasho ProN R" panose="02020400000000000000" pitchFamily="18" charset="-128"/>
                <a:ea typeface="UDDigiKyokasho ProN R" panose="02020400000000000000" pitchFamily="18" charset="-128"/>
              </a:rPr>
              <a:t>ヶ月間の読書量と月平均の読書量が関連しあいながら影響する</a:t>
            </a:r>
            <a:endParaRPr lang="en-US" altLang="ja-JP" sz="3200" dirty="0">
              <a:latin typeface="UDDigiKyokasho ProN R" panose="02020400000000000000" pitchFamily="18" charset="-128"/>
              <a:ea typeface="UDDigiKyokasho ProN R" panose="02020400000000000000" pitchFamily="18" charset="-128"/>
            </a:endParaRPr>
          </a:p>
          <a:p>
            <a:r>
              <a:rPr kumimoji="1" lang="ja-JP" altLang="en-US" sz="3200">
                <a:latin typeface="UDDigiKyokasho ProN R" panose="02020400000000000000" pitchFamily="18" charset="-128"/>
                <a:ea typeface="UDDigiKyokasho ProN R" panose="02020400000000000000" pitchFamily="18" charset="-128"/>
              </a:rPr>
              <a:t>・相関分析の結果、直近</a:t>
            </a:r>
            <a:r>
              <a:rPr kumimoji="1" lang="en-US" altLang="ja-JP" sz="3200" dirty="0">
                <a:latin typeface="UDDigiKyokasho ProN R" panose="02020400000000000000" pitchFamily="18" charset="-128"/>
                <a:ea typeface="UDDigiKyokasho ProN R" panose="02020400000000000000" pitchFamily="18" charset="-128"/>
              </a:rPr>
              <a:t>1</a:t>
            </a:r>
            <a:r>
              <a:rPr kumimoji="1" lang="ja-JP" altLang="en-US" sz="3200">
                <a:latin typeface="UDDigiKyokasho ProN R" panose="02020400000000000000" pitchFamily="18" charset="-128"/>
                <a:ea typeface="UDDigiKyokasho ProN R" panose="02020400000000000000" pitchFamily="18" charset="-128"/>
              </a:rPr>
              <a:t>ヶ月間の読書量と弱い正の相関</a:t>
            </a:r>
            <a:endParaRPr kumimoji="1"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⇨最近の読書量と読書習慣の関連が表情からの感情の読み取りに影響を与えている</a:t>
            </a:r>
            <a:endParaRPr kumimoji="1" lang="en-US" altLang="ja-JP" sz="3200" dirty="0">
              <a:latin typeface="UDDigiKyokasho ProN R" panose="02020400000000000000" pitchFamily="18" charset="-128"/>
              <a:ea typeface="UDDigiKyokasho ProN R" panose="02020400000000000000" pitchFamily="18" charset="-128"/>
            </a:endParaRPr>
          </a:p>
        </p:txBody>
      </p:sp>
      <p:sp>
        <p:nvSpPr>
          <p:cNvPr id="3" name="スライド番号プレースホルダー 2">
            <a:extLst>
              <a:ext uri="{FF2B5EF4-FFF2-40B4-BE49-F238E27FC236}">
                <a16:creationId xmlns:a16="http://schemas.microsoft.com/office/drawing/2014/main" id="{8798C3DF-1347-5F32-D28C-AD6DAA095D57}"/>
              </a:ext>
            </a:extLst>
          </p:cNvPr>
          <p:cNvSpPr>
            <a:spLocks noGrp="1"/>
          </p:cNvSpPr>
          <p:nvPr>
            <p:ph type="sldNum" sz="quarter" idx="12"/>
          </p:nvPr>
        </p:nvSpPr>
        <p:spPr/>
        <p:txBody>
          <a:bodyPr/>
          <a:lstStyle/>
          <a:p>
            <a:fld id="{2EC8AD93-AF02-5041-8E58-A9BB2AEEDA08}" type="slidenum">
              <a:rPr kumimoji="1" lang="ja-JP" altLang="en-US" smtClean="0"/>
              <a:t>26</a:t>
            </a:fld>
            <a:endParaRPr kumimoji="1" lang="ja-JP" altLang="en-US"/>
          </a:p>
        </p:txBody>
      </p:sp>
    </p:spTree>
    <p:extLst>
      <p:ext uri="{BB962C8B-B14F-4D97-AF65-F5344CB8AC3E}">
        <p14:creationId xmlns:p14="http://schemas.microsoft.com/office/powerpoint/2010/main" val="1905075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EB331-61F6-402B-761B-07FCCB9A1E5D}"/>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C35AB14B-8ED8-0D00-31E5-1E80B1C18C2E}"/>
              </a:ext>
            </a:extLst>
          </p:cNvPr>
          <p:cNvPicPr>
            <a:picLocks noChangeAspect="1"/>
          </p:cNvPicPr>
          <p:nvPr/>
        </p:nvPicPr>
        <p:blipFill>
          <a:blip r:embed="rId3"/>
          <a:stretch>
            <a:fillRect/>
          </a:stretch>
        </p:blipFill>
        <p:spPr>
          <a:xfrm>
            <a:off x="6684377" y="2599049"/>
            <a:ext cx="5301476" cy="2746879"/>
          </a:xfrm>
          <a:prstGeom prst="rect">
            <a:avLst/>
          </a:prstGeom>
        </p:spPr>
      </p:pic>
      <p:pic>
        <p:nvPicPr>
          <p:cNvPr id="8" name="図 7">
            <a:extLst>
              <a:ext uri="{FF2B5EF4-FFF2-40B4-BE49-F238E27FC236}">
                <a16:creationId xmlns:a16="http://schemas.microsoft.com/office/drawing/2014/main" id="{952D52B4-88C4-1CBA-7878-688E801080BB}"/>
              </a:ext>
            </a:extLst>
          </p:cNvPr>
          <p:cNvPicPr>
            <a:picLocks noChangeAspect="1"/>
          </p:cNvPicPr>
          <p:nvPr/>
        </p:nvPicPr>
        <p:blipFill>
          <a:blip r:embed="rId4"/>
          <a:stretch>
            <a:fillRect/>
          </a:stretch>
        </p:blipFill>
        <p:spPr>
          <a:xfrm>
            <a:off x="6755731" y="1512073"/>
            <a:ext cx="4937672" cy="975528"/>
          </a:xfrm>
          <a:prstGeom prst="rect">
            <a:avLst/>
          </a:prstGeom>
        </p:spPr>
      </p:pic>
      <p:sp>
        <p:nvSpPr>
          <p:cNvPr id="9" name="タイトル 1">
            <a:extLst>
              <a:ext uri="{FF2B5EF4-FFF2-40B4-BE49-F238E27FC236}">
                <a16:creationId xmlns:a16="http://schemas.microsoft.com/office/drawing/2014/main" id="{FB8FCBBE-3407-9589-6805-B4100E9D09E1}"/>
              </a:ext>
            </a:extLst>
          </p:cNvPr>
          <p:cNvSpPr txBox="1">
            <a:spLocks/>
          </p:cNvSpPr>
          <p:nvPr/>
        </p:nvSpPr>
        <p:spPr>
          <a:xfrm>
            <a:off x="990600" y="517524"/>
            <a:ext cx="3371850" cy="11217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表情平均</a:t>
            </a:r>
          </a:p>
        </p:txBody>
      </p:sp>
      <p:sp>
        <p:nvSpPr>
          <p:cNvPr id="12" name="テキスト ボックス 11">
            <a:extLst>
              <a:ext uri="{FF2B5EF4-FFF2-40B4-BE49-F238E27FC236}">
                <a16:creationId xmlns:a16="http://schemas.microsoft.com/office/drawing/2014/main" id="{0B5D335F-C583-3D0E-92CA-82DF144D9FDF}"/>
              </a:ext>
            </a:extLst>
          </p:cNvPr>
          <p:cNvSpPr txBox="1"/>
          <p:nvPr/>
        </p:nvSpPr>
        <p:spPr>
          <a:xfrm>
            <a:off x="691375" y="1806498"/>
            <a:ext cx="6155739" cy="3539430"/>
          </a:xfrm>
          <a:prstGeom prst="rect">
            <a:avLst/>
          </a:prstGeom>
          <a:noFill/>
        </p:spPr>
        <p:txBody>
          <a:bodyPr wrap="square" rtlCol="0">
            <a:spAutoFit/>
          </a:bodyPr>
          <a:lstStyle/>
          <a:p>
            <a:r>
              <a:rPr kumimoji="1" lang="ja-JP" altLang="en-US" sz="3200">
                <a:latin typeface="UDDigiKyokasho ProN R" panose="02020400000000000000" pitchFamily="18" charset="-128"/>
                <a:ea typeface="UDDigiKyokasho ProN R" panose="02020400000000000000" pitchFamily="18" charset="-128"/>
              </a:rPr>
              <a:t>・過去</a:t>
            </a:r>
            <a:r>
              <a:rPr kumimoji="1" lang="en-US" altLang="ja-JP" sz="3200" dirty="0">
                <a:latin typeface="UDDigiKyokasho ProN R" panose="02020400000000000000" pitchFamily="18" charset="-128"/>
                <a:ea typeface="UDDigiKyokasho ProN R" panose="02020400000000000000" pitchFamily="18" charset="-128"/>
              </a:rPr>
              <a:t>1</a:t>
            </a:r>
            <a:r>
              <a:rPr kumimoji="1" lang="ja-JP" altLang="en-US" sz="3200">
                <a:latin typeface="UDDigiKyokasho ProN R" panose="02020400000000000000" pitchFamily="18" charset="-128"/>
                <a:ea typeface="UDDigiKyokasho ProN R" panose="02020400000000000000" pitchFamily="18" charset="-128"/>
              </a:rPr>
              <a:t>年間の月平均の読書量が多い群において、</a:t>
            </a:r>
            <a:r>
              <a:rPr kumimoji="1" lang="en-US" altLang="ja-JP" sz="3200" dirty="0">
                <a:latin typeface="UDDigiKyokasho ProN R" panose="02020400000000000000" pitchFamily="18" charset="-128"/>
                <a:ea typeface="UDDigiKyokasho ProN R" panose="02020400000000000000" pitchFamily="18" charset="-128"/>
              </a:rPr>
              <a:t>ART</a:t>
            </a:r>
            <a:r>
              <a:rPr kumimoji="1" lang="ja-JP" altLang="en-US" sz="3200">
                <a:latin typeface="UDDigiKyokasho ProN R" panose="02020400000000000000" pitchFamily="18" charset="-128"/>
                <a:ea typeface="UDDigiKyokasho ProN R" panose="02020400000000000000" pitchFamily="18" charset="-128"/>
              </a:rPr>
              <a:t>が高いと表情平均が高くなった</a:t>
            </a:r>
            <a:endParaRPr kumimoji="1"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→読書習慣があり、最近のフィクション作品に興味がある人は、表情の読み取りが全体的にできた可能性</a:t>
            </a:r>
            <a:endParaRPr kumimoji="1" lang="ja-JP" altLang="en-US" sz="3200">
              <a:latin typeface="UDDigiKyokasho ProN R" panose="02020400000000000000" pitchFamily="18" charset="-128"/>
              <a:ea typeface="UDDigiKyokasho ProN R" panose="02020400000000000000" pitchFamily="18" charset="-128"/>
            </a:endParaRPr>
          </a:p>
        </p:txBody>
      </p:sp>
      <p:sp>
        <p:nvSpPr>
          <p:cNvPr id="3" name="スライド番号プレースホルダー 2">
            <a:extLst>
              <a:ext uri="{FF2B5EF4-FFF2-40B4-BE49-F238E27FC236}">
                <a16:creationId xmlns:a16="http://schemas.microsoft.com/office/drawing/2014/main" id="{B8074556-7DC4-D257-5832-0C5E46C09E3D}"/>
              </a:ext>
            </a:extLst>
          </p:cNvPr>
          <p:cNvSpPr>
            <a:spLocks noGrp="1"/>
          </p:cNvSpPr>
          <p:nvPr>
            <p:ph type="sldNum" sz="quarter" idx="12"/>
          </p:nvPr>
        </p:nvSpPr>
        <p:spPr/>
        <p:txBody>
          <a:bodyPr/>
          <a:lstStyle/>
          <a:p>
            <a:fld id="{2EC8AD93-AF02-5041-8E58-A9BB2AEEDA08}" type="slidenum">
              <a:rPr kumimoji="1" lang="ja-JP" altLang="en-US" smtClean="0"/>
              <a:t>27</a:t>
            </a:fld>
            <a:endParaRPr kumimoji="1" lang="ja-JP" altLang="en-US"/>
          </a:p>
        </p:txBody>
      </p:sp>
    </p:spTree>
    <p:extLst>
      <p:ext uri="{BB962C8B-B14F-4D97-AF65-F5344CB8AC3E}">
        <p14:creationId xmlns:p14="http://schemas.microsoft.com/office/powerpoint/2010/main" val="3370040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FF9D3-4411-E127-489D-D554D86EC8EB}"/>
            </a:ext>
          </a:extLst>
        </p:cNvPr>
        <p:cNvGrpSpPr/>
        <p:nvPr/>
      </p:nvGrpSpPr>
      <p:grpSpPr>
        <a:xfrm>
          <a:off x="0" y="0"/>
          <a:ext cx="0" cy="0"/>
          <a:chOff x="0" y="0"/>
          <a:chExt cx="0" cy="0"/>
        </a:xfrm>
      </p:grpSpPr>
      <p:pic>
        <p:nvPicPr>
          <p:cNvPr id="6" name="コンテンツ プレースホルダー 5">
            <a:extLst>
              <a:ext uri="{FF2B5EF4-FFF2-40B4-BE49-F238E27FC236}">
                <a16:creationId xmlns:a16="http://schemas.microsoft.com/office/drawing/2014/main" id="{00D6066E-B380-2278-63BB-AB7AFCC28A4B}"/>
              </a:ext>
            </a:extLst>
          </p:cNvPr>
          <p:cNvPicPr>
            <a:picLocks noGrp="1" noChangeAspect="1"/>
          </p:cNvPicPr>
          <p:nvPr>
            <p:ph idx="1"/>
          </p:nvPr>
        </p:nvPicPr>
        <p:blipFill>
          <a:blip r:embed="rId3"/>
          <a:stretch>
            <a:fillRect/>
          </a:stretch>
        </p:blipFill>
        <p:spPr>
          <a:xfrm>
            <a:off x="6060063" y="1538868"/>
            <a:ext cx="5630132" cy="3152875"/>
          </a:xfrm>
        </p:spPr>
      </p:pic>
      <p:sp>
        <p:nvSpPr>
          <p:cNvPr id="12" name="タイトル 1">
            <a:extLst>
              <a:ext uri="{FF2B5EF4-FFF2-40B4-BE49-F238E27FC236}">
                <a16:creationId xmlns:a16="http://schemas.microsoft.com/office/drawing/2014/main" id="{3E14024B-86FC-5D2B-A6D5-CE1F3EA4D686}"/>
              </a:ext>
            </a:extLst>
          </p:cNvPr>
          <p:cNvSpPr txBox="1">
            <a:spLocks/>
          </p:cNvSpPr>
          <p:nvPr/>
        </p:nvSpPr>
        <p:spPr>
          <a:xfrm>
            <a:off x="990600" y="375138"/>
            <a:ext cx="3371850" cy="20749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嫌悪</a:t>
            </a:r>
            <a:endParaRPr lang="en-US" altLang="ja-JP" sz="2800" b="1" dirty="0">
              <a:latin typeface="UDDigiKyokasho ProN R" panose="02020400000000000000" pitchFamily="18" charset="-128"/>
              <a:ea typeface="UDDigiKyokasho ProN R" panose="02020400000000000000" pitchFamily="18" charset="-128"/>
            </a:endParaRPr>
          </a:p>
        </p:txBody>
      </p:sp>
      <p:sp>
        <p:nvSpPr>
          <p:cNvPr id="13" name="テキスト ボックス 12">
            <a:extLst>
              <a:ext uri="{FF2B5EF4-FFF2-40B4-BE49-F238E27FC236}">
                <a16:creationId xmlns:a16="http://schemas.microsoft.com/office/drawing/2014/main" id="{CDBFECFB-18FC-C38C-88AA-44B128F52D46}"/>
              </a:ext>
            </a:extLst>
          </p:cNvPr>
          <p:cNvSpPr txBox="1"/>
          <p:nvPr/>
        </p:nvSpPr>
        <p:spPr>
          <a:xfrm>
            <a:off x="990601" y="2052308"/>
            <a:ext cx="5181600" cy="4031873"/>
          </a:xfrm>
          <a:prstGeom prst="rect">
            <a:avLst/>
          </a:prstGeom>
          <a:noFill/>
        </p:spPr>
        <p:txBody>
          <a:bodyPr wrap="square" rtlCol="0">
            <a:spAutoFit/>
          </a:bodyPr>
          <a:lstStyle/>
          <a:p>
            <a:r>
              <a:rPr kumimoji="1" lang="ja-JP" altLang="en-US" sz="3200">
                <a:latin typeface="UDDigiKyokasho ProN R" panose="02020400000000000000" pitchFamily="18" charset="-128"/>
                <a:ea typeface="UDDigiKyokasho ProN R" panose="02020400000000000000" pitchFamily="18" charset="-128"/>
              </a:rPr>
              <a:t>・直近</a:t>
            </a:r>
            <a:r>
              <a:rPr kumimoji="1" lang="en-US" altLang="ja-JP" sz="3200" dirty="0">
                <a:latin typeface="UDDigiKyokasho ProN R" panose="02020400000000000000" pitchFamily="18" charset="-128"/>
                <a:ea typeface="UDDigiKyokasho ProN R" panose="02020400000000000000" pitchFamily="18" charset="-128"/>
              </a:rPr>
              <a:t>1</a:t>
            </a:r>
            <a:r>
              <a:rPr kumimoji="1" lang="ja-JP" altLang="en-US" sz="3200">
                <a:latin typeface="UDDigiKyokasho ProN R" panose="02020400000000000000" pitchFamily="18" charset="-128"/>
                <a:ea typeface="UDDigiKyokasho ProN R" panose="02020400000000000000" pitchFamily="18" charset="-128"/>
              </a:rPr>
              <a:t>ヶ月間の読書量で有意傾向が認められたものの、他では認められなかった。</a:t>
            </a:r>
            <a:endParaRPr kumimoji="1"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・直近</a:t>
            </a:r>
            <a:r>
              <a:rPr lang="en-US" altLang="ja-JP" sz="3200" dirty="0">
                <a:latin typeface="UDDigiKyokasho ProN R" panose="02020400000000000000" pitchFamily="18" charset="-128"/>
                <a:ea typeface="UDDigiKyokasho ProN R" panose="02020400000000000000" pitchFamily="18" charset="-128"/>
              </a:rPr>
              <a:t>1</a:t>
            </a:r>
            <a:r>
              <a:rPr lang="ja-JP" altLang="en-US" sz="3200">
                <a:latin typeface="UDDigiKyokasho ProN R" panose="02020400000000000000" pitchFamily="18" charset="-128"/>
                <a:ea typeface="UDDigiKyokasho ProN R" panose="02020400000000000000" pitchFamily="18" charset="-128"/>
              </a:rPr>
              <a:t>ヶ月間の読書量と過去</a:t>
            </a:r>
            <a:r>
              <a:rPr lang="en-US" altLang="ja-JP" sz="3200" dirty="0">
                <a:latin typeface="UDDigiKyokasho ProN R" panose="02020400000000000000" pitchFamily="18" charset="-128"/>
                <a:ea typeface="UDDigiKyokasho ProN R" panose="02020400000000000000" pitchFamily="18" charset="-128"/>
              </a:rPr>
              <a:t>1</a:t>
            </a:r>
            <a:r>
              <a:rPr lang="ja-JP" altLang="en-US" sz="3200">
                <a:latin typeface="UDDigiKyokasho ProN R" panose="02020400000000000000" pitchFamily="18" charset="-128"/>
                <a:ea typeface="UDDigiKyokasho ProN R" panose="02020400000000000000" pitchFamily="18" charset="-128"/>
              </a:rPr>
              <a:t>年間の月平均の読書量の交互作用項目は有意だった</a:t>
            </a:r>
            <a:endParaRPr kumimoji="1" lang="ja-JP" altLang="en-US" sz="3200">
              <a:latin typeface="UDDigiKyokasho ProN R" panose="02020400000000000000" pitchFamily="18" charset="-128"/>
              <a:ea typeface="UDDigiKyokasho ProN R" panose="02020400000000000000" pitchFamily="18" charset="-128"/>
            </a:endParaRPr>
          </a:p>
        </p:txBody>
      </p:sp>
      <p:sp>
        <p:nvSpPr>
          <p:cNvPr id="3" name="スライド番号プレースホルダー 2">
            <a:extLst>
              <a:ext uri="{FF2B5EF4-FFF2-40B4-BE49-F238E27FC236}">
                <a16:creationId xmlns:a16="http://schemas.microsoft.com/office/drawing/2014/main" id="{F83347B8-EAAB-3B1A-5E57-34053E16A2A7}"/>
              </a:ext>
            </a:extLst>
          </p:cNvPr>
          <p:cNvSpPr>
            <a:spLocks noGrp="1"/>
          </p:cNvSpPr>
          <p:nvPr>
            <p:ph type="sldNum" sz="quarter" idx="12"/>
          </p:nvPr>
        </p:nvSpPr>
        <p:spPr/>
        <p:txBody>
          <a:bodyPr/>
          <a:lstStyle/>
          <a:p>
            <a:fld id="{2EC8AD93-AF02-5041-8E58-A9BB2AEEDA08}" type="slidenum">
              <a:rPr kumimoji="1" lang="ja-JP" altLang="en-US" smtClean="0"/>
              <a:t>28</a:t>
            </a:fld>
            <a:endParaRPr kumimoji="1" lang="ja-JP" altLang="en-US"/>
          </a:p>
        </p:txBody>
      </p:sp>
    </p:spTree>
    <p:extLst>
      <p:ext uri="{BB962C8B-B14F-4D97-AF65-F5344CB8AC3E}">
        <p14:creationId xmlns:p14="http://schemas.microsoft.com/office/powerpoint/2010/main" val="2670020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D05E-74BE-EF04-2084-256E8E464F9C}"/>
            </a:ext>
          </a:extLst>
        </p:cNvPr>
        <p:cNvGrpSpPr/>
        <p:nvPr/>
      </p:nvGrpSpPr>
      <p:grpSpPr>
        <a:xfrm>
          <a:off x="0" y="0"/>
          <a:ext cx="0" cy="0"/>
          <a:chOff x="0" y="0"/>
          <a:chExt cx="0" cy="0"/>
        </a:xfrm>
      </p:grpSpPr>
      <p:pic>
        <p:nvPicPr>
          <p:cNvPr id="19" name="図 18">
            <a:extLst>
              <a:ext uri="{FF2B5EF4-FFF2-40B4-BE49-F238E27FC236}">
                <a16:creationId xmlns:a16="http://schemas.microsoft.com/office/drawing/2014/main" id="{015DDDB1-1E25-43EC-9097-182BCC95A220}"/>
              </a:ext>
            </a:extLst>
          </p:cNvPr>
          <p:cNvPicPr>
            <a:picLocks noChangeAspect="1"/>
          </p:cNvPicPr>
          <p:nvPr/>
        </p:nvPicPr>
        <p:blipFill>
          <a:blip r:embed="rId3"/>
          <a:stretch>
            <a:fillRect/>
          </a:stretch>
        </p:blipFill>
        <p:spPr>
          <a:xfrm>
            <a:off x="7261101" y="2832723"/>
            <a:ext cx="4917311" cy="2762534"/>
          </a:xfrm>
          <a:prstGeom prst="rect">
            <a:avLst/>
          </a:prstGeom>
        </p:spPr>
      </p:pic>
      <p:pic>
        <p:nvPicPr>
          <p:cNvPr id="21" name="図 20">
            <a:extLst>
              <a:ext uri="{FF2B5EF4-FFF2-40B4-BE49-F238E27FC236}">
                <a16:creationId xmlns:a16="http://schemas.microsoft.com/office/drawing/2014/main" id="{1E7FF5C7-4465-22CF-865A-8C154009C686}"/>
              </a:ext>
            </a:extLst>
          </p:cNvPr>
          <p:cNvPicPr>
            <a:picLocks noChangeAspect="1"/>
          </p:cNvPicPr>
          <p:nvPr/>
        </p:nvPicPr>
        <p:blipFill>
          <a:blip r:embed="rId4"/>
          <a:stretch>
            <a:fillRect/>
          </a:stretch>
        </p:blipFill>
        <p:spPr>
          <a:xfrm>
            <a:off x="7300124" y="1761161"/>
            <a:ext cx="4502928" cy="897823"/>
          </a:xfrm>
          <a:prstGeom prst="rect">
            <a:avLst/>
          </a:prstGeom>
        </p:spPr>
      </p:pic>
      <p:sp>
        <p:nvSpPr>
          <p:cNvPr id="24" name="タイトル 1">
            <a:extLst>
              <a:ext uri="{FF2B5EF4-FFF2-40B4-BE49-F238E27FC236}">
                <a16:creationId xmlns:a16="http://schemas.microsoft.com/office/drawing/2014/main" id="{D275A690-32E8-B6D3-C001-D83140BC770A}"/>
              </a:ext>
            </a:extLst>
          </p:cNvPr>
          <p:cNvSpPr txBox="1">
            <a:spLocks/>
          </p:cNvSpPr>
          <p:nvPr/>
        </p:nvSpPr>
        <p:spPr>
          <a:xfrm>
            <a:off x="869550" y="589516"/>
            <a:ext cx="3371850" cy="14605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嫌悪</a:t>
            </a:r>
          </a:p>
        </p:txBody>
      </p:sp>
      <p:sp>
        <p:nvSpPr>
          <p:cNvPr id="25" name="テキスト ボックス 24">
            <a:extLst>
              <a:ext uri="{FF2B5EF4-FFF2-40B4-BE49-F238E27FC236}">
                <a16:creationId xmlns:a16="http://schemas.microsoft.com/office/drawing/2014/main" id="{1CAB5570-71D0-EA85-134A-C67B9254F254}"/>
              </a:ext>
            </a:extLst>
          </p:cNvPr>
          <p:cNvSpPr txBox="1"/>
          <p:nvPr/>
        </p:nvSpPr>
        <p:spPr>
          <a:xfrm>
            <a:off x="869550" y="1745997"/>
            <a:ext cx="6543621" cy="4401205"/>
          </a:xfrm>
          <a:prstGeom prst="rect">
            <a:avLst/>
          </a:prstGeom>
          <a:noFill/>
        </p:spPr>
        <p:txBody>
          <a:bodyPr wrap="square" rtlCol="0">
            <a:spAutoFit/>
          </a:bodyPr>
          <a:lstStyle/>
          <a:p>
            <a:r>
              <a:rPr kumimoji="1" lang="ja-JP" altLang="en-US" sz="2800">
                <a:latin typeface="UDDigiKyokasho ProN R" panose="02020400000000000000" pitchFamily="18" charset="-128"/>
                <a:ea typeface="UDDigiKyokasho ProN R" panose="02020400000000000000" pitchFamily="18" charset="-128"/>
              </a:rPr>
              <a:t>・過去</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年間の月平均の読書量が少なかった人で、直近</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ヶ月間の読書量が多い人は、嫌悪表情がよく読み取れていた</a:t>
            </a:r>
            <a:endParaRPr kumimoji="1"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→嫌悪は、忌避の感覚で、排除反応と回避反応が含むものだとされているため、普段は本をあまり読まないが、直近</a:t>
            </a:r>
            <a:r>
              <a:rPr lang="en-US" altLang="ja-JP" sz="2800" dirty="0">
                <a:latin typeface="UDDigiKyokasho ProN R" panose="02020400000000000000" pitchFamily="18" charset="-128"/>
                <a:ea typeface="UDDigiKyokasho ProN R" panose="02020400000000000000" pitchFamily="18" charset="-128"/>
              </a:rPr>
              <a:t>1</a:t>
            </a:r>
            <a:r>
              <a:rPr lang="ja-JP" altLang="en-US" sz="2800">
                <a:latin typeface="UDDigiKyokasho ProN R" panose="02020400000000000000" pitchFamily="18" charset="-128"/>
                <a:ea typeface="UDDigiKyokasho ProN R" panose="02020400000000000000" pitchFamily="18" charset="-128"/>
              </a:rPr>
              <a:t>ヶ月間の間に本を読む量が増えたことが影響を及ぼしたことが影響を及ぼした可能性</a:t>
            </a:r>
            <a:endParaRPr lang="en-US" altLang="ja-JP" sz="2800" dirty="0">
              <a:latin typeface="UDDigiKyokasho ProN R" panose="02020400000000000000" pitchFamily="18" charset="-128"/>
              <a:ea typeface="UDDigiKyokasho ProN R" panose="02020400000000000000" pitchFamily="18" charset="-128"/>
            </a:endParaRPr>
          </a:p>
        </p:txBody>
      </p:sp>
      <p:sp>
        <p:nvSpPr>
          <p:cNvPr id="3" name="スライド番号プレースホルダー 2">
            <a:extLst>
              <a:ext uri="{FF2B5EF4-FFF2-40B4-BE49-F238E27FC236}">
                <a16:creationId xmlns:a16="http://schemas.microsoft.com/office/drawing/2014/main" id="{3DC5FD23-CFC4-3DFF-48BA-918457C3A70B}"/>
              </a:ext>
            </a:extLst>
          </p:cNvPr>
          <p:cNvSpPr>
            <a:spLocks noGrp="1"/>
          </p:cNvSpPr>
          <p:nvPr>
            <p:ph type="sldNum" sz="quarter" idx="12"/>
          </p:nvPr>
        </p:nvSpPr>
        <p:spPr/>
        <p:txBody>
          <a:bodyPr/>
          <a:lstStyle/>
          <a:p>
            <a:fld id="{2EC8AD93-AF02-5041-8E58-A9BB2AEEDA08}" type="slidenum">
              <a:rPr kumimoji="1" lang="ja-JP" altLang="en-US" smtClean="0"/>
              <a:t>29</a:t>
            </a:fld>
            <a:endParaRPr kumimoji="1" lang="ja-JP" altLang="en-US"/>
          </a:p>
        </p:txBody>
      </p:sp>
    </p:spTree>
    <p:extLst>
      <p:ext uri="{BB962C8B-B14F-4D97-AF65-F5344CB8AC3E}">
        <p14:creationId xmlns:p14="http://schemas.microsoft.com/office/powerpoint/2010/main" val="3119859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CB34B-CF96-787C-CAA8-7770F42E4AE7}"/>
            </a:ext>
          </a:extLst>
        </p:cNvPr>
        <p:cNvGrpSpPr/>
        <p:nvPr/>
      </p:nvGrpSpPr>
      <p:grpSpPr>
        <a:xfrm>
          <a:off x="0" y="0"/>
          <a:ext cx="0" cy="0"/>
          <a:chOff x="0" y="0"/>
          <a:chExt cx="0" cy="0"/>
        </a:xfrm>
      </p:grpSpPr>
      <p:pic>
        <p:nvPicPr>
          <p:cNvPr id="6" name="コンテンツ プレースホルダー 5">
            <a:extLst>
              <a:ext uri="{FF2B5EF4-FFF2-40B4-BE49-F238E27FC236}">
                <a16:creationId xmlns:a16="http://schemas.microsoft.com/office/drawing/2014/main" id="{4CBAEF8F-ECB1-C567-A72A-616CF174DD03}"/>
              </a:ext>
            </a:extLst>
          </p:cNvPr>
          <p:cNvPicPr>
            <a:picLocks noGrp="1" noChangeAspect="1"/>
          </p:cNvPicPr>
          <p:nvPr>
            <p:ph idx="1"/>
          </p:nvPr>
        </p:nvPicPr>
        <p:blipFill>
          <a:blip r:embed="rId3"/>
          <a:stretch>
            <a:fillRect/>
          </a:stretch>
        </p:blipFill>
        <p:spPr>
          <a:xfrm>
            <a:off x="5246687" y="1360714"/>
            <a:ext cx="6245961" cy="3527131"/>
          </a:xfrm>
        </p:spPr>
      </p:pic>
      <p:sp>
        <p:nvSpPr>
          <p:cNvPr id="7" name="タイトル 1">
            <a:extLst>
              <a:ext uri="{FF2B5EF4-FFF2-40B4-BE49-F238E27FC236}">
                <a16:creationId xmlns:a16="http://schemas.microsoft.com/office/drawing/2014/main" id="{F1B089C2-1EFE-91E0-C534-9CD24E191C56}"/>
              </a:ext>
            </a:extLst>
          </p:cNvPr>
          <p:cNvSpPr txBox="1">
            <a:spLocks/>
          </p:cNvSpPr>
          <p:nvPr/>
        </p:nvSpPr>
        <p:spPr>
          <a:xfrm>
            <a:off x="990600" y="375138"/>
            <a:ext cx="3069771" cy="12587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悲しみ</a:t>
            </a:r>
          </a:p>
        </p:txBody>
      </p:sp>
      <p:sp>
        <p:nvSpPr>
          <p:cNvPr id="5" name="テキスト ボックス 4">
            <a:extLst>
              <a:ext uri="{FF2B5EF4-FFF2-40B4-BE49-F238E27FC236}">
                <a16:creationId xmlns:a16="http://schemas.microsoft.com/office/drawing/2014/main" id="{1535F0D7-4BC1-20AF-A86F-850A6485CF71}"/>
              </a:ext>
            </a:extLst>
          </p:cNvPr>
          <p:cNvSpPr txBox="1"/>
          <p:nvPr/>
        </p:nvSpPr>
        <p:spPr>
          <a:xfrm>
            <a:off x="884422" y="1633927"/>
            <a:ext cx="4329836" cy="2677656"/>
          </a:xfrm>
          <a:prstGeom prst="rect">
            <a:avLst/>
          </a:prstGeom>
          <a:noFill/>
        </p:spPr>
        <p:txBody>
          <a:bodyPr wrap="square" rtlCol="0">
            <a:spAutoFit/>
          </a:bodyPr>
          <a:lstStyle/>
          <a:p>
            <a:r>
              <a:rPr kumimoji="1" lang="ja-JP" altLang="en-US" sz="2800">
                <a:latin typeface="UDDigiKyokasho ProN R" panose="02020400000000000000" pitchFamily="18" charset="-128"/>
                <a:ea typeface="UDDigiKyokasho ProN R" panose="02020400000000000000" pitchFamily="18" charset="-128"/>
              </a:rPr>
              <a:t>・直近</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ヶ月間の読書量が悲しみ表情の読み取りを上昇させた</a:t>
            </a:r>
            <a:endParaRPr kumimoji="1"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→最近本をよく読んでいたことで、悲しみの表情がよく読み取れていた</a:t>
            </a:r>
            <a:endParaRPr kumimoji="1" lang="ja-JP" altLang="en-US" sz="2800">
              <a:latin typeface="UDDigiKyokasho ProN R" panose="02020400000000000000" pitchFamily="18" charset="-128"/>
              <a:ea typeface="UDDigiKyokasho ProN R" panose="02020400000000000000" pitchFamily="18" charset="-128"/>
            </a:endParaRPr>
          </a:p>
        </p:txBody>
      </p:sp>
      <p:sp>
        <p:nvSpPr>
          <p:cNvPr id="3" name="スライド番号プレースホルダー 2">
            <a:extLst>
              <a:ext uri="{FF2B5EF4-FFF2-40B4-BE49-F238E27FC236}">
                <a16:creationId xmlns:a16="http://schemas.microsoft.com/office/drawing/2014/main" id="{3C370EC8-F5CC-6E6B-7556-312DFE5FE4F3}"/>
              </a:ext>
            </a:extLst>
          </p:cNvPr>
          <p:cNvSpPr>
            <a:spLocks noGrp="1"/>
          </p:cNvSpPr>
          <p:nvPr>
            <p:ph type="sldNum" sz="quarter" idx="12"/>
          </p:nvPr>
        </p:nvSpPr>
        <p:spPr/>
        <p:txBody>
          <a:bodyPr/>
          <a:lstStyle/>
          <a:p>
            <a:fld id="{2EC8AD93-AF02-5041-8E58-A9BB2AEEDA08}" type="slidenum">
              <a:rPr kumimoji="1" lang="ja-JP" altLang="en-US" smtClean="0"/>
              <a:t>30</a:t>
            </a:fld>
            <a:endParaRPr kumimoji="1" lang="ja-JP" altLang="en-US"/>
          </a:p>
        </p:txBody>
      </p:sp>
    </p:spTree>
    <p:extLst>
      <p:ext uri="{BB962C8B-B14F-4D97-AF65-F5344CB8AC3E}">
        <p14:creationId xmlns:p14="http://schemas.microsoft.com/office/powerpoint/2010/main" val="3927423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0FD849F1-573F-DD8C-A3D0-6B35A3C4F39E}"/>
              </a:ext>
            </a:extLst>
          </p:cNvPr>
          <p:cNvSpPr>
            <a:spLocks noGrp="1"/>
          </p:cNvSpPr>
          <p:nvPr>
            <p:ph type="sldNum" sz="quarter" idx="12"/>
          </p:nvPr>
        </p:nvSpPr>
        <p:spPr/>
        <p:txBody>
          <a:bodyPr/>
          <a:lstStyle/>
          <a:p>
            <a:fld id="{2EC8AD93-AF02-5041-8E58-A9BB2AEEDA08}" type="slidenum">
              <a:rPr kumimoji="1" lang="ja-JP" altLang="en-US" smtClean="0"/>
              <a:t>31</a:t>
            </a:fld>
            <a:endParaRPr kumimoji="1" lang="ja-JP" altLang="en-US"/>
          </a:p>
        </p:txBody>
      </p:sp>
      <p:pic>
        <p:nvPicPr>
          <p:cNvPr id="5" name="コンテンツ プレースホルダー 5">
            <a:extLst>
              <a:ext uri="{FF2B5EF4-FFF2-40B4-BE49-F238E27FC236}">
                <a16:creationId xmlns:a16="http://schemas.microsoft.com/office/drawing/2014/main" id="{2701D39C-210D-ED78-F74F-44F8491E1891}"/>
              </a:ext>
            </a:extLst>
          </p:cNvPr>
          <p:cNvPicPr>
            <a:picLocks noGrp="1" noChangeAspect="1"/>
          </p:cNvPicPr>
          <p:nvPr>
            <p:ph idx="1"/>
          </p:nvPr>
        </p:nvPicPr>
        <p:blipFill>
          <a:blip r:embed="rId3"/>
          <a:stretch>
            <a:fillRect/>
          </a:stretch>
        </p:blipFill>
        <p:spPr>
          <a:xfrm>
            <a:off x="914399" y="283029"/>
            <a:ext cx="9889270" cy="5584530"/>
          </a:xfrm>
        </p:spPr>
      </p:pic>
    </p:spTree>
    <p:extLst>
      <p:ext uri="{BB962C8B-B14F-4D97-AF65-F5344CB8AC3E}">
        <p14:creationId xmlns:p14="http://schemas.microsoft.com/office/powerpoint/2010/main" val="2477199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8AA33-7739-41D6-8959-0397E7EF8B9D}"/>
            </a:ext>
          </a:extLst>
        </p:cNvPr>
        <p:cNvGrpSpPr/>
        <p:nvPr/>
      </p:nvGrpSpPr>
      <p:grpSpPr>
        <a:xfrm>
          <a:off x="0" y="0"/>
          <a:ext cx="0" cy="0"/>
          <a:chOff x="0" y="0"/>
          <a:chExt cx="0" cy="0"/>
        </a:xfrm>
      </p:grpSpPr>
      <p:pic>
        <p:nvPicPr>
          <p:cNvPr id="6" name="コンテンツ プレースホルダー 5">
            <a:extLst>
              <a:ext uri="{FF2B5EF4-FFF2-40B4-BE49-F238E27FC236}">
                <a16:creationId xmlns:a16="http://schemas.microsoft.com/office/drawing/2014/main" id="{62FA7D84-15F8-161A-A953-BB7FACC05B8D}"/>
              </a:ext>
            </a:extLst>
          </p:cNvPr>
          <p:cNvPicPr>
            <a:picLocks noGrp="1" noChangeAspect="1"/>
          </p:cNvPicPr>
          <p:nvPr>
            <p:ph idx="1"/>
          </p:nvPr>
        </p:nvPicPr>
        <p:blipFill>
          <a:blip r:embed="rId3"/>
          <a:stretch>
            <a:fillRect/>
          </a:stretch>
        </p:blipFill>
        <p:spPr>
          <a:xfrm>
            <a:off x="8508255" y="1818671"/>
            <a:ext cx="2918239" cy="1853940"/>
          </a:xfrm>
        </p:spPr>
      </p:pic>
      <p:sp>
        <p:nvSpPr>
          <p:cNvPr id="5" name="テキスト ボックス 4">
            <a:extLst>
              <a:ext uri="{FF2B5EF4-FFF2-40B4-BE49-F238E27FC236}">
                <a16:creationId xmlns:a16="http://schemas.microsoft.com/office/drawing/2014/main" id="{7BC8842D-DECA-3EF8-5699-979439EC3319}"/>
              </a:ext>
            </a:extLst>
          </p:cNvPr>
          <p:cNvSpPr txBox="1"/>
          <p:nvPr/>
        </p:nvSpPr>
        <p:spPr>
          <a:xfrm>
            <a:off x="1372880" y="1818671"/>
            <a:ext cx="5953077" cy="2246769"/>
          </a:xfrm>
          <a:prstGeom prst="rect">
            <a:avLst/>
          </a:prstGeom>
          <a:noFill/>
        </p:spPr>
        <p:txBody>
          <a:bodyPr wrap="square" rtlCol="0">
            <a:spAutoFit/>
          </a:bodyPr>
          <a:lstStyle/>
          <a:p>
            <a:r>
              <a:rPr kumimoji="1" lang="ja-JP" altLang="en-US" sz="2800">
                <a:latin typeface="UDDigiKyokasho ProN R" panose="02020400000000000000" pitchFamily="18" charset="-128"/>
                <a:ea typeface="UDDigiKyokasho ProN R" panose="02020400000000000000" pitchFamily="18" charset="-128"/>
              </a:rPr>
              <a:t>・</a:t>
            </a:r>
            <a:r>
              <a:rPr kumimoji="1" lang="en-US" altLang="ja-JP" sz="2800" dirty="0">
                <a:latin typeface="UDDigiKyokasho ProN R" panose="02020400000000000000" pitchFamily="18" charset="-128"/>
                <a:ea typeface="UDDigiKyokasho ProN R" panose="02020400000000000000" pitchFamily="18" charset="-128"/>
              </a:rPr>
              <a:t>ART</a:t>
            </a:r>
            <a:r>
              <a:rPr kumimoji="1" lang="ja-JP" altLang="en-US" sz="2800">
                <a:latin typeface="UDDigiKyokasho ProN R" panose="02020400000000000000" pitchFamily="18" charset="-128"/>
                <a:ea typeface="UDDigiKyokasho ProN R" panose="02020400000000000000" pitchFamily="18" charset="-128"/>
              </a:rPr>
              <a:t>と読書ポジティブ、直近</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ヶ月間の読書量と過去</a:t>
            </a:r>
            <a:r>
              <a:rPr kumimoji="1" lang="en-US" altLang="ja-JP" sz="2800" dirty="0">
                <a:latin typeface="UDDigiKyokasho ProN R" panose="02020400000000000000" pitchFamily="18" charset="-128"/>
                <a:ea typeface="UDDigiKyokasho ProN R" panose="02020400000000000000" pitchFamily="18" charset="-128"/>
              </a:rPr>
              <a:t>1</a:t>
            </a:r>
            <a:r>
              <a:rPr kumimoji="1" lang="ja-JP" altLang="en-US" sz="2800">
                <a:latin typeface="UDDigiKyokasho ProN R" panose="02020400000000000000" pitchFamily="18" charset="-128"/>
                <a:ea typeface="UDDigiKyokasho ProN R" panose="02020400000000000000" pitchFamily="18" charset="-128"/>
              </a:rPr>
              <a:t>年間の読書量の月平均の交互作用項目がそれぞれ有意な負の主効果が認められた</a:t>
            </a:r>
            <a:endParaRPr kumimoji="1" lang="en-US" altLang="ja-JP" sz="2800" dirty="0">
              <a:latin typeface="UDDigiKyokasho ProN R" panose="02020400000000000000" pitchFamily="18" charset="-128"/>
              <a:ea typeface="UDDigiKyokasho ProN R" panose="02020400000000000000" pitchFamily="18" charset="-128"/>
            </a:endParaRPr>
          </a:p>
          <a:p>
            <a:r>
              <a:rPr kumimoji="1" lang="ja-JP" altLang="en-US" sz="2800">
                <a:latin typeface="UDDigiKyokasho ProN R" panose="02020400000000000000" pitchFamily="18" charset="-128"/>
                <a:ea typeface="UDDigiKyokasho ProN R" panose="02020400000000000000" pitchFamily="18" charset="-128"/>
              </a:rPr>
              <a:t>→単純傾斜の検定</a:t>
            </a:r>
          </a:p>
        </p:txBody>
      </p:sp>
      <p:sp>
        <p:nvSpPr>
          <p:cNvPr id="2" name="タイトル 1">
            <a:extLst>
              <a:ext uri="{FF2B5EF4-FFF2-40B4-BE49-F238E27FC236}">
                <a16:creationId xmlns:a16="http://schemas.microsoft.com/office/drawing/2014/main" id="{645193A8-85BC-B896-CE48-32A8D09607A5}"/>
              </a:ext>
            </a:extLst>
          </p:cNvPr>
          <p:cNvSpPr txBox="1">
            <a:spLocks/>
          </p:cNvSpPr>
          <p:nvPr/>
        </p:nvSpPr>
        <p:spPr>
          <a:xfrm>
            <a:off x="1178174" y="427585"/>
            <a:ext cx="3069771" cy="12587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悲しみ</a:t>
            </a:r>
          </a:p>
        </p:txBody>
      </p:sp>
      <p:sp>
        <p:nvSpPr>
          <p:cNvPr id="4" name="スライド番号プレースホルダー 3">
            <a:extLst>
              <a:ext uri="{FF2B5EF4-FFF2-40B4-BE49-F238E27FC236}">
                <a16:creationId xmlns:a16="http://schemas.microsoft.com/office/drawing/2014/main" id="{D060963B-5712-6C8E-616A-8B2A1AA8C1A2}"/>
              </a:ext>
            </a:extLst>
          </p:cNvPr>
          <p:cNvSpPr>
            <a:spLocks noGrp="1"/>
          </p:cNvSpPr>
          <p:nvPr>
            <p:ph type="sldNum" sz="quarter" idx="12"/>
          </p:nvPr>
        </p:nvSpPr>
        <p:spPr/>
        <p:txBody>
          <a:bodyPr/>
          <a:lstStyle/>
          <a:p>
            <a:fld id="{2EC8AD93-AF02-5041-8E58-A9BB2AEEDA08}" type="slidenum">
              <a:rPr kumimoji="1" lang="ja-JP" altLang="en-US" smtClean="0"/>
              <a:t>32</a:t>
            </a:fld>
            <a:endParaRPr kumimoji="1" lang="ja-JP" altLang="en-US"/>
          </a:p>
        </p:txBody>
      </p:sp>
    </p:spTree>
    <p:extLst>
      <p:ext uri="{BB962C8B-B14F-4D97-AF65-F5344CB8AC3E}">
        <p14:creationId xmlns:p14="http://schemas.microsoft.com/office/powerpoint/2010/main" val="1963136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89809-7D3D-C3EE-EA44-D6FE5C844730}"/>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4489797-3D34-81A5-1A8D-C6D71EE5F899}"/>
              </a:ext>
            </a:extLst>
          </p:cNvPr>
          <p:cNvSpPr txBox="1">
            <a:spLocks/>
          </p:cNvSpPr>
          <p:nvPr/>
        </p:nvSpPr>
        <p:spPr>
          <a:xfrm>
            <a:off x="990600" y="517526"/>
            <a:ext cx="3266607" cy="9964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p>
        </p:txBody>
      </p:sp>
      <p:pic>
        <p:nvPicPr>
          <p:cNvPr id="8" name="コンテンツ プレースホルダー 7">
            <a:extLst>
              <a:ext uri="{FF2B5EF4-FFF2-40B4-BE49-F238E27FC236}">
                <a16:creationId xmlns:a16="http://schemas.microsoft.com/office/drawing/2014/main" id="{D2D196F6-FD9E-9CDB-1841-34D45BC615AC}"/>
              </a:ext>
            </a:extLst>
          </p:cNvPr>
          <p:cNvPicPr>
            <a:picLocks noGrp="1" noChangeAspect="1"/>
          </p:cNvPicPr>
          <p:nvPr>
            <p:ph idx="1"/>
          </p:nvPr>
        </p:nvPicPr>
        <p:blipFill>
          <a:blip r:embed="rId3"/>
          <a:stretch>
            <a:fillRect/>
          </a:stretch>
        </p:blipFill>
        <p:spPr>
          <a:xfrm>
            <a:off x="8578224" y="1388535"/>
            <a:ext cx="3338818" cy="1888519"/>
          </a:xfrm>
        </p:spPr>
      </p:pic>
      <p:pic>
        <p:nvPicPr>
          <p:cNvPr id="10" name="図 9">
            <a:extLst>
              <a:ext uri="{FF2B5EF4-FFF2-40B4-BE49-F238E27FC236}">
                <a16:creationId xmlns:a16="http://schemas.microsoft.com/office/drawing/2014/main" id="{D670F0CC-E60F-B700-9226-3838673731AB}"/>
              </a:ext>
            </a:extLst>
          </p:cNvPr>
          <p:cNvPicPr>
            <a:picLocks noChangeAspect="1"/>
          </p:cNvPicPr>
          <p:nvPr/>
        </p:nvPicPr>
        <p:blipFill>
          <a:blip r:embed="rId4"/>
          <a:stretch>
            <a:fillRect/>
          </a:stretch>
        </p:blipFill>
        <p:spPr>
          <a:xfrm>
            <a:off x="8746057" y="392053"/>
            <a:ext cx="2472285" cy="996482"/>
          </a:xfrm>
          <a:prstGeom prst="rect">
            <a:avLst/>
          </a:prstGeom>
        </p:spPr>
      </p:pic>
      <p:sp>
        <p:nvSpPr>
          <p:cNvPr id="5" name="テキスト ボックス 4">
            <a:extLst>
              <a:ext uri="{FF2B5EF4-FFF2-40B4-BE49-F238E27FC236}">
                <a16:creationId xmlns:a16="http://schemas.microsoft.com/office/drawing/2014/main" id="{1BA6723A-CF5A-A715-A1F8-5213BF6538A5}"/>
              </a:ext>
            </a:extLst>
          </p:cNvPr>
          <p:cNvSpPr txBox="1"/>
          <p:nvPr/>
        </p:nvSpPr>
        <p:spPr>
          <a:xfrm>
            <a:off x="940080" y="1864114"/>
            <a:ext cx="8074827" cy="4154984"/>
          </a:xfrm>
          <a:prstGeom prst="rect">
            <a:avLst/>
          </a:prstGeom>
          <a:noFill/>
        </p:spPr>
        <p:txBody>
          <a:bodyPr wrap="square" rtlCol="0">
            <a:spAutoFit/>
          </a:bodyPr>
          <a:lstStyle/>
          <a:p>
            <a:r>
              <a:rPr kumimoji="1" lang="ja-JP" altLang="en-US" sz="2400">
                <a:latin typeface="UDDigiKyokasho ProN R" panose="02020400000000000000" pitchFamily="18" charset="-128"/>
                <a:ea typeface="UDDigiKyokasho ProN R" panose="02020400000000000000" pitchFamily="18" charset="-128"/>
              </a:rPr>
              <a:t>・</a:t>
            </a:r>
            <a:r>
              <a:rPr kumimoji="1" lang="en-US" altLang="ja-JP" sz="2400" dirty="0">
                <a:latin typeface="UDDigiKyokasho ProN R" panose="02020400000000000000" pitchFamily="18" charset="-128"/>
                <a:ea typeface="UDDigiKyokasho ProN R" panose="02020400000000000000" pitchFamily="18" charset="-128"/>
              </a:rPr>
              <a:t>ART</a:t>
            </a:r>
            <a:r>
              <a:rPr lang="ja-JP" altLang="en-US" sz="2400">
                <a:latin typeface="UDDigiKyokasho ProN R" panose="02020400000000000000" pitchFamily="18" charset="-128"/>
                <a:ea typeface="UDDigiKyokasho ProN R" panose="02020400000000000000" pitchFamily="18" charset="-128"/>
              </a:rPr>
              <a:t>、</a:t>
            </a:r>
            <a:r>
              <a:rPr kumimoji="1" lang="ja-JP" altLang="en-US" sz="2400">
                <a:latin typeface="UDDigiKyokasho ProN R" panose="02020400000000000000" pitchFamily="18" charset="-128"/>
                <a:ea typeface="UDDigiKyokasho ProN R" panose="02020400000000000000" pitchFamily="18" charset="-128"/>
              </a:rPr>
              <a:t>読書ポジティブ</a:t>
            </a:r>
            <a:r>
              <a:rPr lang="ja-JP" altLang="en-US" sz="2400">
                <a:latin typeface="UDDigiKyokasho ProN R" panose="02020400000000000000" pitchFamily="18" charset="-128"/>
                <a:ea typeface="UDDigiKyokasho ProN R" panose="02020400000000000000" pitchFamily="18" charset="-128"/>
              </a:rPr>
              <a:t>高低の両方で</a:t>
            </a:r>
            <a:r>
              <a:rPr kumimoji="1" lang="ja-JP" altLang="en-US" sz="2400">
                <a:latin typeface="UDDigiKyokasho ProN R" panose="02020400000000000000" pitchFamily="18" charset="-128"/>
                <a:ea typeface="UDDigiKyokasho ProN R" panose="02020400000000000000" pitchFamily="18" charset="-128"/>
              </a:rPr>
              <a:t>読書ポジティブの交互作用効果が認められた</a:t>
            </a:r>
            <a:endParaRPr kumimoji="1" lang="en-US" altLang="ja-JP" sz="2400" dirty="0">
              <a:latin typeface="UDDigiKyokasho ProN R" panose="02020400000000000000" pitchFamily="18" charset="-128"/>
              <a:ea typeface="UDDigiKyokasho ProN R" panose="02020400000000000000" pitchFamily="18" charset="-128"/>
            </a:endParaRPr>
          </a:p>
          <a:p>
            <a:r>
              <a:rPr lang="ja-JP" altLang="en-US" sz="2400">
                <a:latin typeface="UDDigiKyokasho ProN R" panose="02020400000000000000" pitchFamily="18" charset="-128"/>
                <a:ea typeface="UDDigiKyokasho ProN R" panose="02020400000000000000" pitchFamily="18" charset="-128"/>
              </a:rPr>
              <a:t>→</a:t>
            </a:r>
            <a:r>
              <a:rPr kumimoji="1" lang="ja-JP" altLang="en-US" sz="2400">
                <a:latin typeface="UDDigiKyokasho ProN R" panose="02020400000000000000" pitchFamily="18" charset="-128"/>
                <a:ea typeface="UDDigiKyokasho ProN R" panose="02020400000000000000" pitchFamily="18" charset="-128"/>
              </a:rPr>
              <a:t>最近のフィクション作品の筆者をよく知っている人は、読書を娯楽として楽しんでいると恐れ表情に気が付きにくくなり、反対にフィクション作品の筆者をよく知らない人で、読書を娯楽として楽しんでいると恐れ表情の読み取りが上昇した</a:t>
            </a:r>
            <a:endParaRPr kumimoji="1" lang="en-US" altLang="ja-JP" sz="2400" dirty="0">
              <a:latin typeface="UDDigiKyokasho ProN R" panose="02020400000000000000" pitchFamily="18" charset="-128"/>
              <a:ea typeface="UDDigiKyokasho ProN R" panose="02020400000000000000" pitchFamily="18" charset="-128"/>
            </a:endParaRPr>
          </a:p>
          <a:p>
            <a:r>
              <a:rPr kumimoji="1" lang="ja-JP" altLang="en-US" sz="2400">
                <a:latin typeface="UDDigiKyokasho ProN R" panose="02020400000000000000" pitchFamily="18" charset="-128"/>
                <a:ea typeface="UDDigiKyokasho ProN R" panose="02020400000000000000" pitchFamily="18" charset="-128"/>
              </a:rPr>
              <a:t>⇨読書をポジティブに捉え、娯楽として楽しんでいることと、最近のフィクション作品の作家をよく知っていることは、相補的に恐れ表情の読み取りに寄与していると考えられる</a:t>
            </a:r>
          </a:p>
        </p:txBody>
      </p:sp>
      <p:pic>
        <p:nvPicPr>
          <p:cNvPr id="6" name="図 5">
            <a:extLst>
              <a:ext uri="{FF2B5EF4-FFF2-40B4-BE49-F238E27FC236}">
                <a16:creationId xmlns:a16="http://schemas.microsoft.com/office/drawing/2014/main" id="{978C37FB-E6E2-F4AA-445A-C6E6B442620A}"/>
              </a:ext>
            </a:extLst>
          </p:cNvPr>
          <p:cNvPicPr>
            <a:picLocks noChangeAspect="1"/>
          </p:cNvPicPr>
          <p:nvPr/>
        </p:nvPicPr>
        <p:blipFill>
          <a:blip r:embed="rId5"/>
          <a:stretch>
            <a:fillRect/>
          </a:stretch>
        </p:blipFill>
        <p:spPr>
          <a:xfrm>
            <a:off x="8746058" y="4071257"/>
            <a:ext cx="3446270" cy="1758302"/>
          </a:xfrm>
          <a:prstGeom prst="rect">
            <a:avLst/>
          </a:prstGeom>
        </p:spPr>
      </p:pic>
      <p:pic>
        <p:nvPicPr>
          <p:cNvPr id="9" name="図 8">
            <a:extLst>
              <a:ext uri="{FF2B5EF4-FFF2-40B4-BE49-F238E27FC236}">
                <a16:creationId xmlns:a16="http://schemas.microsoft.com/office/drawing/2014/main" id="{BD0884B7-CF7A-5E29-6277-85225BD39B15}"/>
              </a:ext>
            </a:extLst>
          </p:cNvPr>
          <p:cNvPicPr>
            <a:picLocks noChangeAspect="1"/>
          </p:cNvPicPr>
          <p:nvPr/>
        </p:nvPicPr>
        <p:blipFill>
          <a:blip r:embed="rId6"/>
          <a:stretch>
            <a:fillRect/>
          </a:stretch>
        </p:blipFill>
        <p:spPr>
          <a:xfrm>
            <a:off x="8746057" y="3088394"/>
            <a:ext cx="2934314" cy="730768"/>
          </a:xfrm>
          <a:prstGeom prst="rect">
            <a:avLst/>
          </a:prstGeom>
        </p:spPr>
      </p:pic>
      <p:sp>
        <p:nvSpPr>
          <p:cNvPr id="2" name="テキスト ボックス 1">
            <a:extLst>
              <a:ext uri="{FF2B5EF4-FFF2-40B4-BE49-F238E27FC236}">
                <a16:creationId xmlns:a16="http://schemas.microsoft.com/office/drawing/2014/main" id="{A95F6743-0973-ACEB-07B0-A1BAE194C0DE}"/>
              </a:ext>
            </a:extLst>
          </p:cNvPr>
          <p:cNvSpPr txBox="1"/>
          <p:nvPr/>
        </p:nvSpPr>
        <p:spPr>
          <a:xfrm>
            <a:off x="990600" y="1309239"/>
            <a:ext cx="902811" cy="523220"/>
          </a:xfrm>
          <a:prstGeom prst="rect">
            <a:avLst/>
          </a:prstGeom>
          <a:noFill/>
        </p:spPr>
        <p:txBody>
          <a:bodyPr wrap="none" rtlCol="0">
            <a:spAutoFit/>
          </a:bodyPr>
          <a:lstStyle/>
          <a:p>
            <a:r>
              <a:rPr kumimoji="1" lang="ja-JP" altLang="en-US" sz="2800">
                <a:latin typeface="UDDigiKyokasho ProN R" panose="02020400000000000000" pitchFamily="18" charset="-128"/>
                <a:ea typeface="UDDigiKyokasho ProN R" panose="02020400000000000000" pitchFamily="18" charset="-128"/>
              </a:rPr>
              <a:t>恐れ</a:t>
            </a:r>
          </a:p>
        </p:txBody>
      </p:sp>
      <p:sp>
        <p:nvSpPr>
          <p:cNvPr id="4" name="スライド番号プレースホルダー 3">
            <a:extLst>
              <a:ext uri="{FF2B5EF4-FFF2-40B4-BE49-F238E27FC236}">
                <a16:creationId xmlns:a16="http://schemas.microsoft.com/office/drawing/2014/main" id="{C6F8FEFE-139F-A942-3195-3C748AB78EB9}"/>
              </a:ext>
            </a:extLst>
          </p:cNvPr>
          <p:cNvSpPr>
            <a:spLocks noGrp="1"/>
          </p:cNvSpPr>
          <p:nvPr>
            <p:ph type="sldNum" sz="quarter" idx="12"/>
          </p:nvPr>
        </p:nvSpPr>
        <p:spPr/>
        <p:txBody>
          <a:bodyPr/>
          <a:lstStyle/>
          <a:p>
            <a:fld id="{2EC8AD93-AF02-5041-8E58-A9BB2AEEDA08}" type="slidenum">
              <a:rPr kumimoji="1" lang="ja-JP" altLang="en-US" smtClean="0"/>
              <a:t>33</a:t>
            </a:fld>
            <a:endParaRPr kumimoji="1" lang="ja-JP" altLang="en-US"/>
          </a:p>
        </p:txBody>
      </p:sp>
    </p:spTree>
    <p:extLst>
      <p:ext uri="{BB962C8B-B14F-4D97-AF65-F5344CB8AC3E}">
        <p14:creationId xmlns:p14="http://schemas.microsoft.com/office/powerpoint/2010/main" val="3018377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BB204-12E1-F0F5-4A8B-5AECCB033D72}"/>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3F299292-42B2-637F-DFFD-9A516FDFB7ED}"/>
              </a:ext>
            </a:extLst>
          </p:cNvPr>
          <p:cNvSpPr txBox="1">
            <a:spLocks/>
          </p:cNvSpPr>
          <p:nvPr/>
        </p:nvSpPr>
        <p:spPr>
          <a:xfrm>
            <a:off x="990601" y="564483"/>
            <a:ext cx="4656564" cy="10559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r>
              <a:rPr lang="ja-JP" altLang="en-US" sz="3200">
                <a:latin typeface="UDDigiKyokasho ProN R" panose="02020400000000000000" pitchFamily="18" charset="-128"/>
                <a:ea typeface="UDDigiKyokasho ProN R" panose="02020400000000000000" pitchFamily="18" charset="-128"/>
              </a:rPr>
              <a:t>恐れ</a:t>
            </a:r>
          </a:p>
        </p:txBody>
      </p:sp>
      <p:pic>
        <p:nvPicPr>
          <p:cNvPr id="5" name="コンテンツ プレースホルダー 4">
            <a:extLst>
              <a:ext uri="{FF2B5EF4-FFF2-40B4-BE49-F238E27FC236}">
                <a16:creationId xmlns:a16="http://schemas.microsoft.com/office/drawing/2014/main" id="{BA86FCAE-1804-5B80-19E5-68839E9FEB3B}"/>
              </a:ext>
            </a:extLst>
          </p:cNvPr>
          <p:cNvPicPr>
            <a:picLocks noGrp="1" noChangeAspect="1"/>
          </p:cNvPicPr>
          <p:nvPr>
            <p:ph idx="1"/>
          </p:nvPr>
        </p:nvPicPr>
        <p:blipFill>
          <a:blip r:embed="rId3"/>
          <a:stretch>
            <a:fillRect/>
          </a:stretch>
        </p:blipFill>
        <p:spPr>
          <a:xfrm>
            <a:off x="7155234" y="2670328"/>
            <a:ext cx="4726344" cy="2288786"/>
          </a:xfrm>
          <a:ln>
            <a:noFill/>
          </a:ln>
          <a:effectLst/>
        </p:spPr>
      </p:pic>
      <p:pic>
        <p:nvPicPr>
          <p:cNvPr id="8" name="図 7">
            <a:extLst>
              <a:ext uri="{FF2B5EF4-FFF2-40B4-BE49-F238E27FC236}">
                <a16:creationId xmlns:a16="http://schemas.microsoft.com/office/drawing/2014/main" id="{ABFCE374-93CD-DD74-EAEF-D71173D8AFA4}"/>
              </a:ext>
            </a:extLst>
          </p:cNvPr>
          <p:cNvPicPr>
            <a:picLocks noChangeAspect="1"/>
          </p:cNvPicPr>
          <p:nvPr/>
        </p:nvPicPr>
        <p:blipFill>
          <a:blip r:embed="rId4"/>
          <a:stretch>
            <a:fillRect/>
          </a:stretch>
        </p:blipFill>
        <p:spPr>
          <a:xfrm>
            <a:off x="7083498" y="1447801"/>
            <a:ext cx="4656564" cy="903512"/>
          </a:xfrm>
          <a:prstGeom prst="rect">
            <a:avLst/>
          </a:prstGeom>
        </p:spPr>
      </p:pic>
      <p:sp>
        <p:nvSpPr>
          <p:cNvPr id="6" name="テキスト ボックス 5">
            <a:extLst>
              <a:ext uri="{FF2B5EF4-FFF2-40B4-BE49-F238E27FC236}">
                <a16:creationId xmlns:a16="http://schemas.microsoft.com/office/drawing/2014/main" id="{A3038AB4-C3C1-E8D1-7BCE-494B921C12D6}"/>
              </a:ext>
            </a:extLst>
          </p:cNvPr>
          <p:cNvSpPr txBox="1"/>
          <p:nvPr/>
        </p:nvSpPr>
        <p:spPr>
          <a:xfrm>
            <a:off x="990601" y="1698171"/>
            <a:ext cx="6008913" cy="3539430"/>
          </a:xfrm>
          <a:prstGeom prst="rect">
            <a:avLst/>
          </a:prstGeom>
          <a:noFill/>
        </p:spPr>
        <p:txBody>
          <a:bodyPr wrap="square" rtlCol="0">
            <a:spAutoFit/>
          </a:bodyPr>
          <a:lstStyle/>
          <a:p>
            <a:r>
              <a:rPr kumimoji="1" lang="ja-JP" altLang="en-US" sz="3200">
                <a:latin typeface="UDDigiKyokasho ProN R" panose="02020400000000000000" pitchFamily="18" charset="-128"/>
                <a:ea typeface="UDDigiKyokasho ProN R" panose="02020400000000000000" pitchFamily="18" charset="-128"/>
              </a:rPr>
              <a:t>・過去</a:t>
            </a:r>
            <a:r>
              <a:rPr kumimoji="1" lang="en-US" altLang="ja-JP" sz="3200" dirty="0">
                <a:latin typeface="UDDigiKyokasho ProN R" panose="02020400000000000000" pitchFamily="18" charset="-128"/>
                <a:ea typeface="UDDigiKyokasho ProN R" panose="02020400000000000000" pitchFamily="18" charset="-128"/>
              </a:rPr>
              <a:t>1</a:t>
            </a:r>
            <a:r>
              <a:rPr kumimoji="1" lang="ja-JP" altLang="en-US" sz="3200">
                <a:latin typeface="UDDigiKyokasho ProN R" panose="02020400000000000000" pitchFamily="18" charset="-128"/>
                <a:ea typeface="UDDigiKyokasho ProN R" panose="02020400000000000000" pitchFamily="18" charset="-128"/>
              </a:rPr>
              <a:t>年間の月平均の</a:t>
            </a:r>
            <a:r>
              <a:rPr lang="ja-JP" altLang="en-US" sz="3200">
                <a:latin typeface="UDDigiKyokasho ProN R" panose="02020400000000000000" pitchFamily="18" charset="-128"/>
                <a:ea typeface="UDDigiKyokasho ProN R" panose="02020400000000000000" pitchFamily="18" charset="-128"/>
              </a:rPr>
              <a:t>読書量が多い人で直近</a:t>
            </a:r>
            <a:r>
              <a:rPr lang="en-US" altLang="ja-JP" sz="3200" dirty="0">
                <a:latin typeface="UDDigiKyokasho ProN R" panose="02020400000000000000" pitchFamily="18" charset="-128"/>
                <a:ea typeface="UDDigiKyokasho ProN R" panose="02020400000000000000" pitchFamily="18" charset="-128"/>
              </a:rPr>
              <a:t>1</a:t>
            </a:r>
            <a:r>
              <a:rPr lang="ja-JP" altLang="en-US" sz="3200">
                <a:latin typeface="UDDigiKyokasho ProN R" panose="02020400000000000000" pitchFamily="18" charset="-128"/>
                <a:ea typeface="UDDigiKyokasho ProN R" panose="02020400000000000000" pitchFamily="18" charset="-128"/>
              </a:rPr>
              <a:t>ヶ月間の読書量が多い人は、恐れ表情の読み取りが有意に低かった</a:t>
            </a:r>
            <a:endParaRPr lang="en-US" altLang="ja-JP" sz="3200" dirty="0">
              <a:latin typeface="UDDigiKyokasho ProN R" panose="02020400000000000000" pitchFamily="18" charset="-128"/>
              <a:ea typeface="UDDigiKyokasho ProN R" panose="02020400000000000000" pitchFamily="18" charset="-128"/>
            </a:endParaRPr>
          </a:p>
          <a:p>
            <a:r>
              <a:rPr kumimoji="1" lang="ja-JP" altLang="en-US" sz="3200">
                <a:latin typeface="UDDigiKyokasho ProN R" panose="02020400000000000000" pitchFamily="18" charset="-128"/>
                <a:ea typeface="UDDigiKyokasho ProN R" panose="02020400000000000000" pitchFamily="18" charset="-128"/>
              </a:rPr>
              <a:t>→普段から読書習慣があり、最近も読書をしていることで、恐れ表情の読み取りが低くなった</a:t>
            </a:r>
          </a:p>
        </p:txBody>
      </p:sp>
      <p:sp>
        <p:nvSpPr>
          <p:cNvPr id="4" name="スライド番号プレースホルダー 3">
            <a:extLst>
              <a:ext uri="{FF2B5EF4-FFF2-40B4-BE49-F238E27FC236}">
                <a16:creationId xmlns:a16="http://schemas.microsoft.com/office/drawing/2014/main" id="{3C43BDE5-D075-3B38-0BF9-0AE6B20503B9}"/>
              </a:ext>
            </a:extLst>
          </p:cNvPr>
          <p:cNvSpPr>
            <a:spLocks noGrp="1"/>
          </p:cNvSpPr>
          <p:nvPr>
            <p:ph type="sldNum" sz="quarter" idx="12"/>
          </p:nvPr>
        </p:nvSpPr>
        <p:spPr/>
        <p:txBody>
          <a:bodyPr/>
          <a:lstStyle/>
          <a:p>
            <a:fld id="{2EC8AD93-AF02-5041-8E58-A9BB2AEEDA08}" type="slidenum">
              <a:rPr kumimoji="1" lang="ja-JP" altLang="en-US" smtClean="0"/>
              <a:t>34</a:t>
            </a:fld>
            <a:endParaRPr kumimoji="1" lang="ja-JP" altLang="en-US"/>
          </a:p>
        </p:txBody>
      </p:sp>
    </p:spTree>
    <p:extLst>
      <p:ext uri="{BB962C8B-B14F-4D97-AF65-F5344CB8AC3E}">
        <p14:creationId xmlns:p14="http://schemas.microsoft.com/office/powerpoint/2010/main" val="479266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B86A7B-38C4-4D5D-1E4D-C931F3FF122D}"/>
              </a:ext>
            </a:extLst>
          </p:cNvPr>
          <p:cNvSpPr txBox="1">
            <a:spLocks/>
          </p:cNvSpPr>
          <p:nvPr/>
        </p:nvSpPr>
        <p:spPr>
          <a:xfrm>
            <a:off x="370112" y="386893"/>
            <a:ext cx="3124200" cy="102824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結果と考察</a:t>
            </a:r>
            <a:endParaRPr lang="en-US" altLang="ja-JP" b="1" dirty="0">
              <a:latin typeface="UDDigiKyokasho ProN R" panose="02020400000000000000" pitchFamily="18" charset="-128"/>
              <a:ea typeface="UDDigiKyokasho ProN R" panose="02020400000000000000" pitchFamily="18" charset="-128"/>
            </a:endParaRPr>
          </a:p>
          <a:p>
            <a:r>
              <a:rPr lang="ja-JP" altLang="en-US" sz="2800" b="1">
                <a:latin typeface="UDDigiKyokasho ProN R" panose="02020400000000000000" pitchFamily="18" charset="-128"/>
                <a:ea typeface="UDDigiKyokasho ProN R" panose="02020400000000000000" pitchFamily="18" charset="-128"/>
              </a:rPr>
              <a:t>表情のまとめ</a:t>
            </a:r>
          </a:p>
        </p:txBody>
      </p:sp>
      <p:sp>
        <p:nvSpPr>
          <p:cNvPr id="3" name="テキスト ボックス 2">
            <a:extLst>
              <a:ext uri="{FF2B5EF4-FFF2-40B4-BE49-F238E27FC236}">
                <a16:creationId xmlns:a16="http://schemas.microsoft.com/office/drawing/2014/main" id="{DD85412B-4A92-0E7B-D2B5-046511E78688}"/>
              </a:ext>
            </a:extLst>
          </p:cNvPr>
          <p:cNvSpPr txBox="1"/>
          <p:nvPr/>
        </p:nvSpPr>
        <p:spPr>
          <a:xfrm>
            <a:off x="466930" y="1320880"/>
            <a:ext cx="11517087" cy="5262979"/>
          </a:xfrm>
          <a:prstGeom prst="rect">
            <a:avLst/>
          </a:prstGeom>
          <a:noFill/>
        </p:spPr>
        <p:txBody>
          <a:bodyPr wrap="square" rtlCol="0">
            <a:spAutoFit/>
          </a:bodyPr>
          <a:lstStyle/>
          <a:p>
            <a:r>
              <a:rPr lang="ja-JP" altLang="en-US" sz="2800">
                <a:latin typeface="UDDigiKyokasho ProN R" panose="02020400000000000000" pitchFamily="18" charset="-128"/>
                <a:ea typeface="UDDigiKyokasho ProN R" panose="02020400000000000000" pitchFamily="18" charset="-128"/>
              </a:rPr>
              <a:t>・表情の読み取りに与える影響としては、嫌悪・恐れ・悲しみに何らかの読書指標の効果がある</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→同じネガティブ感情である怒りの読み取りに関しては、読書指標は影響が見られなかった</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⇨怒りや幸せ、驚き表情は、他の表情とは異なる性質を持った感情であり、読み取りやすかったため、読書の影響が認められなかった可能性</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・嫌悪に関しては、普段から読書をする習慣のない人で、直近に多くの本を読んだ場合に限られていた</a:t>
            </a:r>
            <a:endParaRPr lang="en-US" altLang="ja-JP" sz="2800" dirty="0">
              <a:latin typeface="UDDigiKyokasho ProN R" panose="02020400000000000000" pitchFamily="18" charset="-128"/>
              <a:ea typeface="UDDigiKyokasho ProN R" panose="02020400000000000000" pitchFamily="18" charset="-128"/>
            </a:endParaRPr>
          </a:p>
          <a:p>
            <a:r>
              <a:rPr lang="ja-JP" altLang="en-US" sz="2800">
                <a:latin typeface="UDDigiKyokasho ProN R" panose="02020400000000000000" pitchFamily="18" charset="-128"/>
                <a:ea typeface="UDDigiKyokasho ProN R" panose="02020400000000000000" pitchFamily="18" charset="-128"/>
              </a:rPr>
              <a:t>→嫌悪が他の感情とも共通点を持ち、怒りとも関連するという指摘から援助行動や共感を誘発する感情とは必ずしもいえず、そのために限定的な影響に留まった可能性</a:t>
            </a:r>
            <a:endParaRPr lang="en-US" altLang="ja-JP" sz="2800" dirty="0">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4054BD21-1C87-423D-6785-66BDB528B290}"/>
              </a:ext>
            </a:extLst>
          </p:cNvPr>
          <p:cNvSpPr>
            <a:spLocks noGrp="1"/>
          </p:cNvSpPr>
          <p:nvPr>
            <p:ph type="sldNum" sz="quarter" idx="12"/>
          </p:nvPr>
        </p:nvSpPr>
        <p:spPr/>
        <p:txBody>
          <a:bodyPr/>
          <a:lstStyle/>
          <a:p>
            <a:fld id="{2EC8AD93-AF02-5041-8E58-A9BB2AEEDA08}" type="slidenum">
              <a:rPr kumimoji="1" lang="ja-JP" altLang="en-US" smtClean="0"/>
              <a:t>35</a:t>
            </a:fld>
            <a:endParaRPr kumimoji="1" lang="ja-JP" altLang="en-US"/>
          </a:p>
        </p:txBody>
      </p:sp>
    </p:spTree>
    <p:extLst>
      <p:ext uri="{BB962C8B-B14F-4D97-AF65-F5344CB8AC3E}">
        <p14:creationId xmlns:p14="http://schemas.microsoft.com/office/powerpoint/2010/main" val="3407777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37F347-B8AC-321E-9164-9372DCD20A69}"/>
              </a:ext>
            </a:extLst>
          </p:cNvPr>
          <p:cNvSpPr txBox="1">
            <a:spLocks/>
          </p:cNvSpPr>
          <p:nvPr/>
        </p:nvSpPr>
        <p:spPr>
          <a:xfrm>
            <a:off x="370112" y="386893"/>
            <a:ext cx="3124200" cy="102824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UDDigiKyokasho ProN R" panose="02020400000000000000" pitchFamily="18" charset="-128"/>
                <a:ea typeface="UDDigiKyokasho ProN R" panose="02020400000000000000" pitchFamily="18" charset="-128"/>
              </a:rPr>
              <a:t>課題と展望</a:t>
            </a:r>
          </a:p>
        </p:txBody>
      </p:sp>
      <p:sp>
        <p:nvSpPr>
          <p:cNvPr id="3" name="テキスト ボックス 2">
            <a:extLst>
              <a:ext uri="{FF2B5EF4-FFF2-40B4-BE49-F238E27FC236}">
                <a16:creationId xmlns:a16="http://schemas.microsoft.com/office/drawing/2014/main" id="{DE953566-BD3A-D13B-3215-F5907EDBCFA7}"/>
              </a:ext>
            </a:extLst>
          </p:cNvPr>
          <p:cNvSpPr txBox="1"/>
          <p:nvPr/>
        </p:nvSpPr>
        <p:spPr>
          <a:xfrm>
            <a:off x="1049324" y="1212275"/>
            <a:ext cx="10093351" cy="6001643"/>
          </a:xfrm>
          <a:prstGeom prst="rect">
            <a:avLst/>
          </a:prstGeom>
          <a:noFill/>
        </p:spPr>
        <p:txBody>
          <a:bodyPr wrap="square" rtlCol="0">
            <a:spAutoFit/>
          </a:bodyPr>
          <a:lstStyle/>
          <a:p>
            <a:r>
              <a:rPr kumimoji="1" lang="ja-JP" altLang="en-US" sz="3200">
                <a:latin typeface="UDDigiKyokasho ProN R" panose="02020400000000000000" pitchFamily="18" charset="-128"/>
                <a:ea typeface="UDDigiKyokasho ProN R" panose="02020400000000000000" pitchFamily="18" charset="-128"/>
              </a:rPr>
              <a:t>・</a:t>
            </a:r>
            <a:r>
              <a:rPr kumimoji="1" lang="en-US" altLang="ja-JP" sz="3200" dirty="0">
                <a:latin typeface="UDDigiKyokasho ProN R" panose="02020400000000000000" pitchFamily="18" charset="-128"/>
                <a:ea typeface="UDDigiKyokasho ProN R" panose="02020400000000000000" pitchFamily="18" charset="-128"/>
              </a:rPr>
              <a:t>Mar et al.,(2006)</a:t>
            </a:r>
            <a:r>
              <a:rPr kumimoji="1" lang="ja-JP" altLang="en-US" sz="3200">
                <a:latin typeface="UDDigiKyokasho ProN R" panose="02020400000000000000" pitchFamily="18" charset="-128"/>
                <a:ea typeface="UDDigiKyokasho ProN R" panose="02020400000000000000" pitchFamily="18" charset="-128"/>
              </a:rPr>
              <a:t>と異なったファンタジーと</a:t>
            </a:r>
            <a:r>
              <a:rPr kumimoji="1" lang="en-US" altLang="ja-JP" sz="3200" dirty="0">
                <a:latin typeface="UDDigiKyokasho ProN R" panose="02020400000000000000" pitchFamily="18" charset="-128"/>
                <a:ea typeface="UDDigiKyokasho ProN R" panose="02020400000000000000" pitchFamily="18" charset="-128"/>
              </a:rPr>
              <a:t>ART</a:t>
            </a:r>
            <a:r>
              <a:rPr kumimoji="1" lang="ja-JP" altLang="en-US" sz="3200">
                <a:latin typeface="UDDigiKyokasho ProN R" panose="02020400000000000000" pitchFamily="18" charset="-128"/>
                <a:ea typeface="UDDigiKyokasho ProN R" panose="02020400000000000000" pitchFamily="18" charset="-128"/>
              </a:rPr>
              <a:t>との相関が認められず、個人的苦痛が</a:t>
            </a:r>
            <a:r>
              <a:rPr kumimoji="1" lang="en-US" altLang="ja-JP" sz="3200" dirty="0">
                <a:latin typeface="UDDigiKyokasho ProN R" panose="02020400000000000000" pitchFamily="18" charset="-128"/>
                <a:ea typeface="UDDigiKyokasho ProN R" panose="02020400000000000000" pitchFamily="18" charset="-128"/>
              </a:rPr>
              <a:t>ART</a:t>
            </a:r>
            <a:r>
              <a:rPr kumimoji="1" lang="ja-JP" altLang="en-US" sz="3200">
                <a:latin typeface="UDDigiKyokasho ProN R" panose="02020400000000000000" pitchFamily="18" charset="-128"/>
                <a:ea typeface="UDDigiKyokasho ProN R" panose="02020400000000000000" pitchFamily="18" charset="-128"/>
              </a:rPr>
              <a:t>と相関していた理由</a:t>
            </a:r>
            <a:endParaRPr kumimoji="1"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・感情の評価をグリッド式で行なっていなかったため、怒り・幸せ・驚きの関連が認められなかった理由がわかっていない</a:t>
            </a:r>
            <a:endParaRPr lang="en-US" altLang="ja-JP" sz="3200" dirty="0">
              <a:latin typeface="UDDigiKyokasho ProN R" panose="02020400000000000000" pitchFamily="18" charset="-128"/>
              <a:ea typeface="UDDigiKyokasho ProN R" panose="02020400000000000000" pitchFamily="18" charset="-128"/>
            </a:endParaRPr>
          </a:p>
          <a:p>
            <a:r>
              <a:rPr lang="en-US" altLang="ja-JP" sz="3200" dirty="0">
                <a:latin typeface="UDDigiKyokasho ProN R" panose="02020400000000000000" pitchFamily="18" charset="-128"/>
                <a:ea typeface="UDDigiKyokasho ProN R" panose="02020400000000000000" pitchFamily="18" charset="-128"/>
              </a:rPr>
              <a:t>※</a:t>
            </a:r>
            <a:r>
              <a:rPr lang="ja-JP" altLang="en-US" sz="3200">
                <a:latin typeface="UDDigiKyokasho ProN R" panose="02020400000000000000" pitchFamily="18" charset="-128"/>
                <a:ea typeface="UDDigiKyokasho ProN R" panose="02020400000000000000" pitchFamily="18" charset="-128"/>
              </a:rPr>
              <a:t>感情の評価で正解率が高く、データのばらつきがなかっため</a:t>
            </a:r>
            <a:endParaRPr lang="en-US" altLang="ja-JP" sz="3200" dirty="0">
              <a:latin typeface="UDDigiKyokasho ProN R" panose="02020400000000000000" pitchFamily="18" charset="-128"/>
              <a:ea typeface="UDDigiKyokasho ProN R" panose="02020400000000000000" pitchFamily="18" charset="-128"/>
            </a:endParaRPr>
          </a:p>
          <a:p>
            <a:r>
              <a:rPr lang="ja-JP" altLang="en-US" sz="3200">
                <a:latin typeface="UDDigiKyokasho ProN R" panose="02020400000000000000" pitchFamily="18" charset="-128"/>
                <a:ea typeface="UDDigiKyokasho ProN R" panose="02020400000000000000" pitchFamily="18" charset="-128"/>
              </a:rPr>
              <a:t>→本研究で使用していなかった、普段読んでいる作品のジャンルや読書スタイルなどの指標とともに調査することで、詳細な理由がわかるのではないか</a:t>
            </a:r>
            <a:endParaRPr lang="en-US" altLang="ja-JP" sz="3200" dirty="0">
              <a:latin typeface="UDDigiKyokasho ProN R" panose="02020400000000000000" pitchFamily="18" charset="-128"/>
              <a:ea typeface="UDDigiKyokasho ProN R" panose="02020400000000000000" pitchFamily="18" charset="-128"/>
            </a:endParaRPr>
          </a:p>
          <a:p>
            <a:endParaRPr kumimoji="1" lang="ja-JP" altLang="en-US" sz="3200">
              <a:latin typeface="UDDigiKyokasho ProN R" panose="02020400000000000000" pitchFamily="18" charset="-128"/>
              <a:ea typeface="UDDigiKyokasho ProN R" panose="02020400000000000000" pitchFamily="18" charset="-128"/>
            </a:endParaRPr>
          </a:p>
        </p:txBody>
      </p:sp>
      <p:sp>
        <p:nvSpPr>
          <p:cNvPr id="5" name="スライド番号プレースホルダー 4">
            <a:extLst>
              <a:ext uri="{FF2B5EF4-FFF2-40B4-BE49-F238E27FC236}">
                <a16:creationId xmlns:a16="http://schemas.microsoft.com/office/drawing/2014/main" id="{B0C82633-D213-025A-24BD-7558C5A50CB7}"/>
              </a:ext>
            </a:extLst>
          </p:cNvPr>
          <p:cNvSpPr>
            <a:spLocks noGrp="1"/>
          </p:cNvSpPr>
          <p:nvPr>
            <p:ph type="sldNum" sz="quarter" idx="12"/>
          </p:nvPr>
        </p:nvSpPr>
        <p:spPr/>
        <p:txBody>
          <a:bodyPr/>
          <a:lstStyle/>
          <a:p>
            <a:fld id="{2EC8AD93-AF02-5041-8E58-A9BB2AEEDA08}" type="slidenum">
              <a:rPr kumimoji="1" lang="ja-JP" altLang="en-US" smtClean="0"/>
              <a:t>36</a:t>
            </a:fld>
            <a:endParaRPr kumimoji="1" lang="ja-JP" altLang="en-US"/>
          </a:p>
        </p:txBody>
      </p:sp>
    </p:spTree>
    <p:extLst>
      <p:ext uri="{BB962C8B-B14F-4D97-AF65-F5344CB8AC3E}">
        <p14:creationId xmlns:p14="http://schemas.microsoft.com/office/powerpoint/2010/main" val="365683968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2666</TotalTime>
  <Words>5437</Words>
  <Application>Microsoft Macintosh PowerPoint</Application>
  <PresentationFormat>ワイド画面</PresentationFormat>
  <Paragraphs>312</Paragraphs>
  <Slides>36</Slides>
  <Notes>35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36</vt:i4>
      </vt:variant>
    </vt:vector>
  </HeadingPairs>
  <TitlesOfParts>
    <vt:vector size="41" baseType="lpstr">
      <vt:lpstr>UDDigiKyokasho ProN R</vt:lpstr>
      <vt:lpstr>游ゴシック</vt:lpstr>
      <vt:lpstr>游ゴシック Light</vt:lpstr>
      <vt:lpstr>Arial</vt:lpstr>
      <vt:lpstr>Office テーマ</vt:lpstr>
      <vt:lpstr>PowerPoint プレゼンテーション</vt:lpstr>
      <vt:lpstr>問題</vt:lpstr>
      <vt:lpstr>問題：読書による影響</vt:lpstr>
      <vt:lpstr>問題：読書による影響</vt:lpstr>
      <vt:lpstr>問題：共感・マインドリーディング</vt:lpstr>
      <vt:lpstr>問題：共感・マインドリーディング</vt:lpstr>
      <vt:lpstr>問題：共感・マインドリーディング</vt:lpstr>
      <vt:lpstr>PowerPoint プレゼンテーション</vt:lpstr>
      <vt:lpstr>問題：読書と共感・マインドリーディングの関連</vt:lpstr>
      <vt:lpstr>目的</vt:lpstr>
      <vt:lpstr>目的</vt:lpstr>
      <vt:lpstr>方法</vt:lpstr>
      <vt:lpstr>方法：質問紙の構成・使用した尺度</vt:lpstr>
      <vt:lpstr>PowerPoint プレゼンテーション</vt:lpstr>
      <vt:lpstr>方法</vt:lpstr>
      <vt:lpstr>結果と考察</vt:lpstr>
      <vt:lpstr>PowerPoint プレゼンテーション</vt:lpstr>
      <vt:lpstr> </vt:lpstr>
      <vt:lpstr> </vt:lpstr>
      <vt:lpstr>PowerPoint プレゼンテーション</vt:lpstr>
      <vt:lpstr> </vt:lpstr>
      <vt:lpstr>PowerPoint プレゼンテーション</vt:lpstr>
      <vt:lpstr> </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咲良 高山</dc:creator>
  <cp:lastModifiedBy>咲良 高山</cp:lastModifiedBy>
  <cp:revision>45</cp:revision>
  <cp:lastPrinted>2026-01-23T10:49:01Z</cp:lastPrinted>
  <dcterms:created xsi:type="dcterms:W3CDTF">2026-01-20T05:47:13Z</dcterms:created>
  <dcterms:modified xsi:type="dcterms:W3CDTF">2026-01-24T07:30:21Z</dcterms:modified>
</cp:coreProperties>
</file>